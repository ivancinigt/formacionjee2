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32" r:id="rId87"/>
    <p:sldId id="333" r:id="rId88"/>
    <p:sldId id="334" r:id="rId89"/>
    <p:sldId id="335" r:id="rId90"/>
    <p:sldId id="336" r:id="rId91"/>
    <p:sldId id="337" r:id="rId92"/>
    <p:sldId id="338" r:id="rId93"/>
    <p:sldId id="339" r:id="rId94"/>
    <p:sldId id="340" r:id="rId95"/>
    <p:sldId id="341" r:id="rId96"/>
    <p:sldId id="342" r:id="rId97"/>
    <p:sldId id="343" r:id="rId98"/>
    <p:sldId id="344" r:id="rId99"/>
    <p:sldId id="345" r:id="rId100"/>
    <p:sldId id="346" r:id="rId101"/>
    <p:sldId id="347" r:id="rId102"/>
    <p:sldId id="348" r:id="rId103"/>
    <p:sldId id="349" r:id="rId104"/>
    <p:sldId id="350" r:id="rId105"/>
    <p:sldId id="351" r:id="rId106"/>
    <p:sldId id="352" r:id="rId107"/>
    <p:sldId id="353" r:id="rId108"/>
    <p:sldId id="354" r:id="rId109"/>
    <p:sldId id="355" r:id="rId110"/>
    <p:sldId id="356" r:id="rId111"/>
    <p:sldId id="357" r:id="rId112"/>
    <p:sldId id="358" r:id="rId113"/>
    <p:sldId id="359" r:id="rId114"/>
    <p:sldId id="360" r:id="rId115"/>
    <p:sldId id="361" r:id="rId116"/>
    <p:sldId id="362" r:id="rId117"/>
    <p:sldId id="363" r:id="rId118"/>
    <p:sldId id="364" r:id="rId119"/>
    <p:sldId id="365" r:id="rId120"/>
    <p:sldId id="366" r:id="rId121"/>
    <p:sldId id="367" r:id="rId122"/>
    <p:sldId id="368" r:id="rId123"/>
    <p:sldId id="369" r:id="rId124"/>
    <p:sldId id="370" r:id="rId125"/>
    <p:sldId id="371" r:id="rId126"/>
    <p:sldId id="372" r:id="rId127"/>
    <p:sldId id="373" r:id="rId128"/>
    <p:sldId id="374" r:id="rId129"/>
    <p:sldId id="375" r:id="rId130"/>
    <p:sldId id="376" r:id="rId131"/>
    <p:sldId id="377" r:id="rId132"/>
    <p:sldId id="378" r:id="rId133"/>
    <p:sldId id="379" r:id="rId134"/>
    <p:sldId id="380" r:id="rId135"/>
    <p:sldId id="381" r:id="rId136"/>
    <p:sldId id="382" r:id="rId137"/>
    <p:sldId id="383" r:id="rId138"/>
    <p:sldId id="384" r:id="rId139"/>
    <p:sldId id="385" r:id="rId140"/>
    <p:sldId id="386" r:id="rId141"/>
    <p:sldId id="387" r:id="rId142"/>
    <p:sldId id="388" r:id="rId143"/>
    <p:sldId id="389" r:id="rId144"/>
    <p:sldId id="390" r:id="rId145"/>
    <p:sldId id="391" r:id="rId146"/>
    <p:sldId id="392" r:id="rId147"/>
    <p:sldId id="393" r:id="rId148"/>
    <p:sldId id="394" r:id="rId149"/>
    <p:sldId id="395" r:id="rId150"/>
    <p:sldId id="396" r:id="rId151"/>
    <p:sldId id="397" r:id="rId152"/>
    <p:sldId id="398" r:id="rId153"/>
    <p:sldId id="399" r:id="rId154"/>
    <p:sldId id="400" r:id="rId155"/>
    <p:sldId id="401" r:id="rId156"/>
    <p:sldId id="402" r:id="rId157"/>
    <p:sldId id="403" r:id="rId158"/>
    <p:sldId id="404" r:id="rId159"/>
    <p:sldId id="405" r:id="rId160"/>
    <p:sldId id="406" r:id="rId161"/>
    <p:sldId id="407" r:id="rId162"/>
    <p:sldId id="408" r:id="rId163"/>
    <p:sldId id="409" r:id="rId164"/>
    <p:sldId id="410" r:id="rId165"/>
    <p:sldId id="411" r:id="rId166"/>
    <p:sldId id="412" r:id="rId167"/>
    <p:sldId id="413" r:id="rId168"/>
    <p:sldId id="414" r:id="rId169"/>
    <p:sldId id="415" r:id="rId170"/>
    <p:sldId id="416" r:id="rId171"/>
    <p:sldId id="417" r:id="rId172"/>
    <p:sldId id="418" r:id="rId173"/>
    <p:sldId id="419" r:id="rId174"/>
    <p:sldId id="420" r:id="rId175"/>
    <p:sldId id="421" r:id="rId176"/>
    <p:sldId id="422" r:id="rId177"/>
    <p:sldId id="423" r:id="rId178"/>
    <p:sldId id="424" r:id="rId179"/>
    <p:sldId id="425" r:id="rId180"/>
    <p:sldId id="426" r:id="rId181"/>
    <p:sldId id="427" r:id="rId182"/>
    <p:sldId id="428" r:id="rId183"/>
    <p:sldId id="429" r:id="rId184"/>
    <p:sldId id="430" r:id="rId185"/>
    <p:sldId id="431" r:id="rId186"/>
    <p:sldId id="432" r:id="rId187"/>
    <p:sldId id="433" r:id="rId188"/>
    <p:sldId id="434" r:id="rId189"/>
    <p:sldId id="435" r:id="rId190"/>
    <p:sldId id="436" r:id="rId191"/>
    <p:sldId id="437" r:id="rId192"/>
    <p:sldId id="438" r:id="rId193"/>
    <p:sldId id="439" r:id="rId194"/>
    <p:sldId id="440" r:id="rId195"/>
    <p:sldId id="441" r:id="rId196"/>
    <p:sldId id="442" r:id="rId197"/>
    <p:sldId id="443" r:id="rId198"/>
    <p:sldId id="444" r:id="rId199"/>
    <p:sldId id="445" r:id="rId200"/>
    <p:sldId id="446" r:id="rId201"/>
    <p:sldId id="447" r:id="rId202"/>
    <p:sldId id="448" r:id="rId203"/>
    <p:sldId id="449" r:id="rId204"/>
    <p:sldId id="450" r:id="rId205"/>
    <p:sldId id="451" r:id="rId206"/>
    <p:sldId id="452" r:id="rId207"/>
    <p:sldId id="453" r:id="rId208"/>
    <p:sldId id="454" r:id="rId209"/>
    <p:sldId id="455" r:id="rId210"/>
    <p:sldId id="456" r:id="rId211"/>
    <p:sldId id="457" r:id="rId212"/>
    <p:sldId id="458" r:id="rId213"/>
    <p:sldId id="459" r:id="rId214"/>
    <p:sldId id="460" r:id="rId215"/>
    <p:sldId id="461" r:id="rId216"/>
    <p:sldId id="462" r:id="rId217"/>
    <p:sldId id="463" r:id="rId218"/>
    <p:sldId id="464" r:id="rId219"/>
    <p:sldId id="465" r:id="rId220"/>
    <p:sldId id="466" r:id="rId221"/>
    <p:sldId id="467" r:id="rId222"/>
    <p:sldId id="468" r:id="rId223"/>
    <p:sldId id="469" r:id="rId224"/>
    <p:sldId id="470" r:id="rId225"/>
    <p:sldId id="471" r:id="rId226"/>
    <p:sldId id="472" r:id="rId227"/>
    <p:sldId id="473" r:id="rId228"/>
    <p:sldId id="474" r:id="rId229"/>
    <p:sldId id="475" r:id="rId230"/>
    <p:sldId id="476" r:id="rId231"/>
    <p:sldId id="477" r:id="rId232"/>
    <p:sldId id="478" r:id="rId233"/>
    <p:sldId id="479" r:id="rId234"/>
    <p:sldId id="480" r:id="rId235"/>
    <p:sldId id="481" r:id="rId236"/>
    <p:sldId id="482" r:id="rId237"/>
    <p:sldId id="483" r:id="rId238"/>
    <p:sldId id="484" r:id="rId239"/>
    <p:sldId id="485" r:id="rId240"/>
    <p:sldId id="486" r:id="rId241"/>
    <p:sldId id="487" r:id="rId242"/>
    <p:sldId id="488" r:id="rId243"/>
    <p:sldId id="489" r:id="rId244"/>
    <p:sldId id="490" r:id="rId245"/>
    <p:sldId id="491" r:id="rId246"/>
    <p:sldId id="492" r:id="rId247"/>
    <p:sldId id="493" r:id="rId248"/>
    <p:sldId id="494" r:id="rId249"/>
    <p:sldId id="495" r:id="rId250"/>
    <p:sldId id="496" r:id="rId251"/>
    <p:sldId id="497" r:id="rId252"/>
    <p:sldId id="498" r:id="rId253"/>
    <p:sldId id="499" r:id="rId254"/>
    <p:sldId id="500" r:id="rId255"/>
    <p:sldId id="501" r:id="rId256"/>
    <p:sldId id="502" r:id="rId257"/>
    <p:sldId id="503" r:id="rId258"/>
    <p:sldId id="504" r:id="rId259"/>
    <p:sldId id="505" r:id="rId260"/>
    <p:sldId id="506" r:id="rId261"/>
    <p:sldId id="507" r:id="rId262"/>
    <p:sldId id="508" r:id="rId263"/>
    <p:sldId id="509" r:id="rId264"/>
    <p:sldId id="510" r:id="rId265"/>
    <p:sldId id="511" r:id="rId266"/>
    <p:sldId id="512" r:id="rId267"/>
    <p:sldId id="513" r:id="rId268"/>
    <p:sldId id="514" r:id="rId269"/>
    <p:sldId id="515" r:id="rId270"/>
    <p:sldId id="516" r:id="rId271"/>
    <p:sldId id="517" r:id="rId272"/>
    <p:sldId id="518" r:id="rId273"/>
    <p:sldId id="519" r:id="rId274"/>
    <p:sldId id="520" r:id="rId275"/>
    <p:sldId id="521" r:id="rId276"/>
    <p:sldId id="522" r:id="rId277"/>
    <p:sldId id="523" r:id="rId278"/>
    <p:sldId id="524" r:id="rId279"/>
    <p:sldId id="525" r:id="rId280"/>
    <p:sldId id="526" r:id="rId281"/>
    <p:sldId id="527" r:id="rId282"/>
    <p:sldId id="528" r:id="rId283"/>
    <p:sldId id="529" r:id="rId284"/>
    <p:sldId id="530" r:id="rId285"/>
    <p:sldId id="531" r:id="rId286"/>
    <p:sldId id="532" r:id="rId287"/>
    <p:sldId id="533" r:id="rId288"/>
    <p:sldId id="534" r:id="rId289"/>
    <p:sldId id="535" r:id="rId290"/>
    <p:sldId id="536" r:id="rId291"/>
    <p:sldId id="537" r:id="rId292"/>
    <p:sldId id="538" r:id="rId293"/>
    <p:sldId id="539" r:id="rId294"/>
    <p:sldId id="540" r:id="rId295"/>
    <p:sldId id="541" r:id="rId296"/>
    <p:sldId id="542" r:id="rId297"/>
    <p:sldId id="543" r:id="rId298"/>
    <p:sldId id="544" r:id="rId299"/>
    <p:sldId id="545" r:id="rId300"/>
    <p:sldId id="546" r:id="rId301"/>
    <p:sldId id="547" r:id="rId302"/>
    <p:sldId id="548" r:id="rId303"/>
    <p:sldId id="549" r:id="rId304"/>
    <p:sldId id="550" r:id="rId305"/>
    <p:sldId id="551" r:id="rId306"/>
    <p:sldId id="552" r:id="rId307"/>
    <p:sldId id="553" r:id="rId308"/>
    <p:sldId id="554" r:id="rId309"/>
    <p:sldId id="555" r:id="rId310"/>
    <p:sldId id="556" r:id="rId311"/>
    <p:sldId id="557" r:id="rId312"/>
    <p:sldId id="558" r:id="rId313"/>
    <p:sldId id="559" r:id="rId314"/>
    <p:sldId id="560" r:id="rId315"/>
    <p:sldId id="561" r:id="rId316"/>
    <p:sldId id="562" r:id="rId317"/>
    <p:sldId id="563" r:id="rId318"/>
    <p:sldId id="564" r:id="rId319"/>
    <p:sldId id="565" r:id="rId320"/>
    <p:sldId id="566" r:id="rId321"/>
    <p:sldId id="567" r:id="rId322"/>
    <p:sldId id="568" r:id="rId323"/>
    <p:sldId id="569" r:id="rId324"/>
    <p:sldId id="570" r:id="rId325"/>
    <p:sldId id="571" r:id="rId326"/>
    <p:sldId id="572" r:id="rId327"/>
    <p:sldId id="573" r:id="rId328"/>
    <p:sldId id="574" r:id="rId329"/>
    <p:sldId id="575" r:id="rId330"/>
    <p:sldId id="576" r:id="rId331"/>
    <p:sldId id="577" r:id="rId332"/>
    <p:sldId id="578" r:id="rId333"/>
    <p:sldId id="579" r:id="rId334"/>
    <p:sldId id="580" r:id="rId335"/>
    <p:sldId id="581" r:id="rId336"/>
    <p:sldId id="582" r:id="rId337"/>
    <p:sldId id="583" r:id="rId338"/>
    <p:sldId id="584" r:id="rId339"/>
    <p:sldId id="585" r:id="rId340"/>
    <p:sldId id="586" r:id="rId341"/>
    <p:sldId id="587" r:id="rId342"/>
    <p:sldId id="588" r:id="rId343"/>
    <p:sldId id="589" r:id="rId344"/>
    <p:sldId id="590" r:id="rId345"/>
    <p:sldId id="591" r:id="rId346"/>
    <p:sldId id="592" r:id="rId347"/>
    <p:sldId id="593" r:id="rId348"/>
    <p:sldId id="594" r:id="rId349"/>
    <p:sldId id="595" r:id="rId350"/>
    <p:sldId id="596" r:id="rId351"/>
    <p:sldId id="597" r:id="rId352"/>
    <p:sldId id="598" r:id="rId353"/>
    <p:sldId id="599" r:id="rId354"/>
    <p:sldId id="600" r:id="rId355"/>
    <p:sldId id="601" r:id="rId356"/>
    <p:sldId id="602" r:id="rId357"/>
    <p:sldId id="603" r:id="rId358"/>
    <p:sldId id="604" r:id="rId359"/>
    <p:sldId id="605" r:id="rId360"/>
    <p:sldId id="606" r:id="rId361"/>
    <p:sldId id="607" r:id="rId362"/>
    <p:sldId id="608" r:id="rId363"/>
    <p:sldId id="609" r:id="rId364"/>
    <p:sldId id="610" r:id="rId365"/>
    <p:sldId id="611" r:id="rId366"/>
    <p:sldId id="612" r:id="rId367"/>
    <p:sldId id="613" r:id="rId368"/>
    <p:sldId id="614" r:id="rId369"/>
    <p:sldId id="615" r:id="rId370"/>
    <p:sldId id="616" r:id="rId371"/>
    <p:sldId id="617" r:id="rId372"/>
    <p:sldId id="618" r:id="rId373"/>
    <p:sldId id="619" r:id="rId374"/>
    <p:sldId id="620" r:id="rId375"/>
    <p:sldId id="621" r:id="rId376"/>
    <p:sldId id="622" r:id="rId377"/>
    <p:sldId id="623" r:id="rId378"/>
    <p:sldId id="624" r:id="rId379"/>
    <p:sldId id="625" r:id="rId380"/>
    <p:sldId id="626" r:id="rId381"/>
    <p:sldId id="627" r:id="rId382"/>
    <p:sldId id="628" r:id="rId383"/>
    <p:sldId id="629" r:id="rId384"/>
    <p:sldId id="630" r:id="rId385"/>
    <p:sldId id="631" r:id="rId386"/>
    <p:sldId id="632" r:id="rId387"/>
    <p:sldId id="633" r:id="rId388"/>
    <p:sldId id="634" r:id="rId389"/>
    <p:sldId id="635" r:id="rId390"/>
    <p:sldId id="636" r:id="rId391"/>
    <p:sldId id="637" r:id="rId392"/>
    <p:sldId id="638" r:id="rId393"/>
    <p:sldId id="639" r:id="rId394"/>
    <p:sldId id="640" r:id="rId395"/>
    <p:sldId id="641" r:id="rId396"/>
    <p:sldId id="642" r:id="rId397"/>
    <p:sldId id="643" r:id="rId398"/>
    <p:sldId id="644" r:id="rId399"/>
    <p:sldId id="645" r:id="rId400"/>
    <p:sldId id="646" r:id="rId401"/>
    <p:sldId id="647" r:id="rId402"/>
    <p:sldId id="648" r:id="rId403"/>
    <p:sldId id="649" r:id="rId404"/>
    <p:sldId id="650" r:id="rId405"/>
    <p:sldId id="651" r:id="rId406"/>
    <p:sldId id="652" r:id="rId407"/>
    <p:sldId id="653" r:id="rId408"/>
    <p:sldId id="654" r:id="rId409"/>
    <p:sldId id="655" r:id="rId410"/>
    <p:sldId id="656" r:id="rId411"/>
    <p:sldId id="657" r:id="rId412"/>
    <p:sldId id="658" r:id="rId413"/>
    <p:sldId id="659" r:id="rId414"/>
    <p:sldId id="660" r:id="rId415"/>
    <p:sldId id="661" r:id="rId416"/>
    <p:sldId id="662" r:id="rId417"/>
    <p:sldId id="663" r:id="rId418"/>
    <p:sldId id="664" r:id="rId419"/>
    <p:sldId id="665" r:id="rId420"/>
    <p:sldId id="666" r:id="rId421"/>
    <p:sldId id="667" r:id="rId422"/>
    <p:sldId id="668" r:id="rId423"/>
    <p:sldId id="669" r:id="rId424"/>
    <p:sldId id="670" r:id="rId425"/>
    <p:sldId id="671" r:id="rId426"/>
    <p:sldId id="672" r:id="rId427"/>
    <p:sldId id="673" r:id="rId428"/>
    <p:sldId id="674" r:id="rId429"/>
    <p:sldId id="675" r:id="rId430"/>
    <p:sldId id="676" r:id="rId431"/>
    <p:sldId id="677" r:id="rId432"/>
    <p:sldId id="678" r:id="rId433"/>
    <p:sldId id="679" r:id="rId434"/>
    <p:sldId id="680" r:id="rId435"/>
    <p:sldId id="681" r:id="rId436"/>
    <p:sldId id="682" r:id="rId437"/>
    <p:sldId id="683" r:id="rId438"/>
    <p:sldId id="684" r:id="rId439"/>
    <p:sldId id="685" r:id="rId440"/>
    <p:sldId id="261" r:id="rId11"/>
  </p:sldIdLst>
  <p:sldSz cy="5143500" cx="9144000"/>
  <p:notesSz cx="6858000" cy="9144000"/>
  <p:embeddedFontLst>
    <p:embeddedFont>
      <p:font typeface="Lexend Light"/>
      <p:regular r:id="rId28"/>
      <p:bold r:id="rId29"/>
    </p:embeddedFont>
    <p:embeddedFont>
      <p:font typeface="Lexen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j5SXEsMchSKYKeQnDXNYUhlMoO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8" Type="http://schemas.openxmlformats.org/officeDocument/2006/relationships/font" Target="fonts/LexendLight-regular.fntdata"/><Relationship Id="rId29" Type="http://schemas.openxmlformats.org/officeDocument/2006/relationships/font" Target="fonts/LexendLight-bold.fntdata"/><Relationship Id="rId30" Type="http://schemas.openxmlformats.org/officeDocument/2006/relationships/font" Target="fonts/Lexend-regular.fntdata"/><Relationship Id="rId31" Type="http://schemas.openxmlformats.org/officeDocument/2006/relationships/font" Target="fonts/Lexend-bold.fntdata"/><Relationship Id="rId32" Type="http://customschemas.google.com/relationships/presentationmetadata" Target="metadata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slide" Target="slides/slide101.xml"/><Relationship Id="rId112" Type="http://schemas.openxmlformats.org/officeDocument/2006/relationships/slide" Target="slides/slide102.xml"/><Relationship Id="rId113" Type="http://schemas.openxmlformats.org/officeDocument/2006/relationships/slide" Target="slides/slide103.xml"/><Relationship Id="rId114" Type="http://schemas.openxmlformats.org/officeDocument/2006/relationships/slide" Target="slides/slide104.xml"/><Relationship Id="rId115" Type="http://schemas.openxmlformats.org/officeDocument/2006/relationships/slide" Target="slides/slide105.xml"/><Relationship Id="rId116" Type="http://schemas.openxmlformats.org/officeDocument/2006/relationships/slide" Target="slides/slide106.xml"/><Relationship Id="rId117" Type="http://schemas.openxmlformats.org/officeDocument/2006/relationships/slide" Target="slides/slide107.xml"/><Relationship Id="rId118" Type="http://schemas.openxmlformats.org/officeDocument/2006/relationships/slide" Target="slides/slide108.xml"/><Relationship Id="rId119" Type="http://schemas.openxmlformats.org/officeDocument/2006/relationships/slide" Target="slides/slide109.xml"/><Relationship Id="rId120" Type="http://schemas.openxmlformats.org/officeDocument/2006/relationships/slide" Target="slides/slide110.xml"/><Relationship Id="rId121" Type="http://schemas.openxmlformats.org/officeDocument/2006/relationships/slide" Target="slides/slide111.xml"/><Relationship Id="rId122" Type="http://schemas.openxmlformats.org/officeDocument/2006/relationships/slide" Target="slides/slide112.xml"/><Relationship Id="rId123" Type="http://schemas.openxmlformats.org/officeDocument/2006/relationships/slide" Target="slides/slide113.xml"/><Relationship Id="rId124" Type="http://schemas.openxmlformats.org/officeDocument/2006/relationships/slide" Target="slides/slide114.xml"/><Relationship Id="rId125" Type="http://schemas.openxmlformats.org/officeDocument/2006/relationships/slide" Target="slides/slide115.xml"/><Relationship Id="rId126" Type="http://schemas.openxmlformats.org/officeDocument/2006/relationships/slide" Target="slides/slide116.xml"/><Relationship Id="rId127" Type="http://schemas.openxmlformats.org/officeDocument/2006/relationships/slide" Target="slides/slide117.xml"/><Relationship Id="rId128" Type="http://schemas.openxmlformats.org/officeDocument/2006/relationships/slide" Target="slides/slide118.xml"/><Relationship Id="rId129" Type="http://schemas.openxmlformats.org/officeDocument/2006/relationships/slide" Target="slides/slide119.xml"/><Relationship Id="rId130" Type="http://schemas.openxmlformats.org/officeDocument/2006/relationships/slide" Target="slides/slide120.xml"/><Relationship Id="rId131" Type="http://schemas.openxmlformats.org/officeDocument/2006/relationships/slide" Target="slides/slide121.xml"/><Relationship Id="rId132" Type="http://schemas.openxmlformats.org/officeDocument/2006/relationships/slide" Target="slides/slide122.xml"/><Relationship Id="rId133" Type="http://schemas.openxmlformats.org/officeDocument/2006/relationships/slide" Target="slides/slide123.xml"/><Relationship Id="rId134" Type="http://schemas.openxmlformats.org/officeDocument/2006/relationships/slide" Target="slides/slide124.xml"/><Relationship Id="rId135" Type="http://schemas.openxmlformats.org/officeDocument/2006/relationships/slide" Target="slides/slide125.xml"/><Relationship Id="rId136" Type="http://schemas.openxmlformats.org/officeDocument/2006/relationships/slide" Target="slides/slide126.xml"/><Relationship Id="rId137" Type="http://schemas.openxmlformats.org/officeDocument/2006/relationships/slide" Target="slides/slide127.xml"/><Relationship Id="rId138" Type="http://schemas.openxmlformats.org/officeDocument/2006/relationships/slide" Target="slides/slide128.xml"/><Relationship Id="rId139" Type="http://schemas.openxmlformats.org/officeDocument/2006/relationships/slide" Target="slides/slide129.xml"/><Relationship Id="rId140" Type="http://schemas.openxmlformats.org/officeDocument/2006/relationships/slide" Target="slides/slide130.xml"/><Relationship Id="rId141" Type="http://schemas.openxmlformats.org/officeDocument/2006/relationships/slide" Target="slides/slide131.xml"/><Relationship Id="rId142" Type="http://schemas.openxmlformats.org/officeDocument/2006/relationships/slide" Target="slides/slide132.xml"/><Relationship Id="rId143" Type="http://schemas.openxmlformats.org/officeDocument/2006/relationships/slide" Target="slides/slide133.xml"/><Relationship Id="rId144" Type="http://schemas.openxmlformats.org/officeDocument/2006/relationships/slide" Target="slides/slide134.xml"/><Relationship Id="rId145" Type="http://schemas.openxmlformats.org/officeDocument/2006/relationships/slide" Target="slides/slide135.xml"/><Relationship Id="rId146" Type="http://schemas.openxmlformats.org/officeDocument/2006/relationships/slide" Target="slides/slide136.xml"/><Relationship Id="rId147" Type="http://schemas.openxmlformats.org/officeDocument/2006/relationships/slide" Target="slides/slide137.xml"/><Relationship Id="rId148" Type="http://schemas.openxmlformats.org/officeDocument/2006/relationships/slide" Target="slides/slide138.xml"/><Relationship Id="rId149" Type="http://schemas.openxmlformats.org/officeDocument/2006/relationships/slide" Target="slides/slide139.xml"/><Relationship Id="rId150" Type="http://schemas.openxmlformats.org/officeDocument/2006/relationships/slide" Target="slides/slide140.xml"/><Relationship Id="rId151" Type="http://schemas.openxmlformats.org/officeDocument/2006/relationships/slide" Target="slides/slide141.xml"/><Relationship Id="rId152" Type="http://schemas.openxmlformats.org/officeDocument/2006/relationships/slide" Target="slides/slide142.xml"/><Relationship Id="rId153" Type="http://schemas.openxmlformats.org/officeDocument/2006/relationships/slide" Target="slides/slide143.xml"/><Relationship Id="rId154" Type="http://schemas.openxmlformats.org/officeDocument/2006/relationships/slide" Target="slides/slide144.xml"/><Relationship Id="rId155" Type="http://schemas.openxmlformats.org/officeDocument/2006/relationships/slide" Target="slides/slide145.xml"/><Relationship Id="rId156" Type="http://schemas.openxmlformats.org/officeDocument/2006/relationships/slide" Target="slides/slide146.xml"/><Relationship Id="rId157" Type="http://schemas.openxmlformats.org/officeDocument/2006/relationships/slide" Target="slides/slide147.xml"/><Relationship Id="rId158" Type="http://schemas.openxmlformats.org/officeDocument/2006/relationships/slide" Target="slides/slide148.xml"/><Relationship Id="rId159" Type="http://schemas.openxmlformats.org/officeDocument/2006/relationships/slide" Target="slides/slide149.xml"/><Relationship Id="rId160" Type="http://schemas.openxmlformats.org/officeDocument/2006/relationships/slide" Target="slides/slide150.xml"/><Relationship Id="rId161" Type="http://schemas.openxmlformats.org/officeDocument/2006/relationships/slide" Target="slides/slide151.xml"/><Relationship Id="rId162" Type="http://schemas.openxmlformats.org/officeDocument/2006/relationships/slide" Target="slides/slide152.xml"/><Relationship Id="rId163" Type="http://schemas.openxmlformats.org/officeDocument/2006/relationships/slide" Target="slides/slide153.xml"/><Relationship Id="rId164" Type="http://schemas.openxmlformats.org/officeDocument/2006/relationships/slide" Target="slides/slide154.xml"/><Relationship Id="rId165" Type="http://schemas.openxmlformats.org/officeDocument/2006/relationships/slide" Target="slides/slide155.xml"/><Relationship Id="rId166" Type="http://schemas.openxmlformats.org/officeDocument/2006/relationships/slide" Target="slides/slide156.xml"/><Relationship Id="rId167" Type="http://schemas.openxmlformats.org/officeDocument/2006/relationships/slide" Target="slides/slide157.xml"/><Relationship Id="rId168" Type="http://schemas.openxmlformats.org/officeDocument/2006/relationships/slide" Target="slides/slide158.xml"/><Relationship Id="rId169" Type="http://schemas.openxmlformats.org/officeDocument/2006/relationships/slide" Target="slides/slide159.xml"/><Relationship Id="rId170" Type="http://schemas.openxmlformats.org/officeDocument/2006/relationships/slide" Target="slides/slide160.xml"/><Relationship Id="rId171" Type="http://schemas.openxmlformats.org/officeDocument/2006/relationships/slide" Target="slides/slide161.xml"/><Relationship Id="rId172" Type="http://schemas.openxmlformats.org/officeDocument/2006/relationships/slide" Target="slides/slide162.xml"/><Relationship Id="rId173" Type="http://schemas.openxmlformats.org/officeDocument/2006/relationships/slide" Target="slides/slide163.xml"/><Relationship Id="rId174" Type="http://schemas.openxmlformats.org/officeDocument/2006/relationships/slide" Target="slides/slide164.xml"/><Relationship Id="rId175" Type="http://schemas.openxmlformats.org/officeDocument/2006/relationships/slide" Target="slides/slide165.xml"/><Relationship Id="rId176" Type="http://schemas.openxmlformats.org/officeDocument/2006/relationships/slide" Target="slides/slide166.xml"/><Relationship Id="rId177" Type="http://schemas.openxmlformats.org/officeDocument/2006/relationships/slide" Target="slides/slide167.xml"/><Relationship Id="rId178" Type="http://schemas.openxmlformats.org/officeDocument/2006/relationships/slide" Target="slides/slide168.xml"/><Relationship Id="rId179" Type="http://schemas.openxmlformats.org/officeDocument/2006/relationships/slide" Target="slides/slide169.xml"/><Relationship Id="rId180" Type="http://schemas.openxmlformats.org/officeDocument/2006/relationships/slide" Target="slides/slide170.xml"/><Relationship Id="rId181" Type="http://schemas.openxmlformats.org/officeDocument/2006/relationships/slide" Target="slides/slide171.xml"/><Relationship Id="rId182" Type="http://schemas.openxmlformats.org/officeDocument/2006/relationships/slide" Target="slides/slide172.xml"/><Relationship Id="rId183" Type="http://schemas.openxmlformats.org/officeDocument/2006/relationships/slide" Target="slides/slide173.xml"/><Relationship Id="rId184" Type="http://schemas.openxmlformats.org/officeDocument/2006/relationships/slide" Target="slides/slide174.xml"/><Relationship Id="rId185" Type="http://schemas.openxmlformats.org/officeDocument/2006/relationships/slide" Target="slides/slide175.xml"/><Relationship Id="rId186" Type="http://schemas.openxmlformats.org/officeDocument/2006/relationships/slide" Target="slides/slide176.xml"/><Relationship Id="rId187" Type="http://schemas.openxmlformats.org/officeDocument/2006/relationships/slide" Target="slides/slide177.xml"/><Relationship Id="rId188" Type="http://schemas.openxmlformats.org/officeDocument/2006/relationships/slide" Target="slides/slide178.xml"/><Relationship Id="rId189" Type="http://schemas.openxmlformats.org/officeDocument/2006/relationships/slide" Target="slides/slide179.xml"/><Relationship Id="rId190" Type="http://schemas.openxmlformats.org/officeDocument/2006/relationships/slide" Target="slides/slide180.xml"/><Relationship Id="rId191" Type="http://schemas.openxmlformats.org/officeDocument/2006/relationships/slide" Target="slides/slide181.xml"/><Relationship Id="rId192" Type="http://schemas.openxmlformats.org/officeDocument/2006/relationships/slide" Target="slides/slide182.xml"/><Relationship Id="rId193" Type="http://schemas.openxmlformats.org/officeDocument/2006/relationships/slide" Target="slides/slide183.xml"/><Relationship Id="rId194" Type="http://schemas.openxmlformats.org/officeDocument/2006/relationships/slide" Target="slides/slide184.xml"/><Relationship Id="rId195" Type="http://schemas.openxmlformats.org/officeDocument/2006/relationships/slide" Target="slides/slide185.xml"/><Relationship Id="rId196" Type="http://schemas.openxmlformats.org/officeDocument/2006/relationships/slide" Target="slides/slide186.xml"/><Relationship Id="rId197" Type="http://schemas.openxmlformats.org/officeDocument/2006/relationships/slide" Target="slides/slide187.xml"/><Relationship Id="rId198" Type="http://schemas.openxmlformats.org/officeDocument/2006/relationships/slide" Target="slides/slide188.xml"/><Relationship Id="rId199" Type="http://schemas.openxmlformats.org/officeDocument/2006/relationships/slide" Target="slides/slide189.xml"/><Relationship Id="rId200" Type="http://schemas.openxmlformats.org/officeDocument/2006/relationships/slide" Target="slides/slide190.xml"/><Relationship Id="rId201" Type="http://schemas.openxmlformats.org/officeDocument/2006/relationships/slide" Target="slides/slide191.xml"/><Relationship Id="rId202" Type="http://schemas.openxmlformats.org/officeDocument/2006/relationships/slide" Target="slides/slide192.xml"/><Relationship Id="rId203" Type="http://schemas.openxmlformats.org/officeDocument/2006/relationships/slide" Target="slides/slide193.xml"/><Relationship Id="rId204" Type="http://schemas.openxmlformats.org/officeDocument/2006/relationships/slide" Target="slides/slide194.xml"/><Relationship Id="rId205" Type="http://schemas.openxmlformats.org/officeDocument/2006/relationships/slide" Target="slides/slide195.xml"/><Relationship Id="rId206" Type="http://schemas.openxmlformats.org/officeDocument/2006/relationships/slide" Target="slides/slide196.xml"/><Relationship Id="rId207" Type="http://schemas.openxmlformats.org/officeDocument/2006/relationships/slide" Target="slides/slide197.xml"/><Relationship Id="rId208" Type="http://schemas.openxmlformats.org/officeDocument/2006/relationships/slide" Target="slides/slide198.xml"/><Relationship Id="rId209" Type="http://schemas.openxmlformats.org/officeDocument/2006/relationships/slide" Target="slides/slide199.xml"/><Relationship Id="rId210" Type="http://schemas.openxmlformats.org/officeDocument/2006/relationships/slide" Target="slides/slide200.xml"/><Relationship Id="rId211" Type="http://schemas.openxmlformats.org/officeDocument/2006/relationships/slide" Target="slides/slide201.xml"/><Relationship Id="rId212" Type="http://schemas.openxmlformats.org/officeDocument/2006/relationships/slide" Target="slides/slide202.xml"/><Relationship Id="rId213" Type="http://schemas.openxmlformats.org/officeDocument/2006/relationships/slide" Target="slides/slide203.xml"/><Relationship Id="rId214" Type="http://schemas.openxmlformats.org/officeDocument/2006/relationships/slide" Target="slides/slide204.xml"/><Relationship Id="rId215" Type="http://schemas.openxmlformats.org/officeDocument/2006/relationships/slide" Target="slides/slide205.xml"/><Relationship Id="rId216" Type="http://schemas.openxmlformats.org/officeDocument/2006/relationships/slide" Target="slides/slide206.xml"/><Relationship Id="rId217" Type="http://schemas.openxmlformats.org/officeDocument/2006/relationships/slide" Target="slides/slide207.xml"/><Relationship Id="rId218" Type="http://schemas.openxmlformats.org/officeDocument/2006/relationships/slide" Target="slides/slide208.xml"/><Relationship Id="rId219" Type="http://schemas.openxmlformats.org/officeDocument/2006/relationships/slide" Target="slides/slide209.xml"/><Relationship Id="rId220" Type="http://schemas.openxmlformats.org/officeDocument/2006/relationships/slide" Target="slides/slide210.xml"/><Relationship Id="rId221" Type="http://schemas.openxmlformats.org/officeDocument/2006/relationships/slide" Target="slides/slide211.xml"/><Relationship Id="rId222" Type="http://schemas.openxmlformats.org/officeDocument/2006/relationships/slide" Target="slides/slide212.xml"/><Relationship Id="rId223" Type="http://schemas.openxmlformats.org/officeDocument/2006/relationships/slide" Target="slides/slide213.xml"/><Relationship Id="rId224" Type="http://schemas.openxmlformats.org/officeDocument/2006/relationships/slide" Target="slides/slide214.xml"/><Relationship Id="rId225" Type="http://schemas.openxmlformats.org/officeDocument/2006/relationships/slide" Target="slides/slide215.xml"/><Relationship Id="rId226" Type="http://schemas.openxmlformats.org/officeDocument/2006/relationships/slide" Target="slides/slide216.xml"/><Relationship Id="rId227" Type="http://schemas.openxmlformats.org/officeDocument/2006/relationships/slide" Target="slides/slide217.xml"/><Relationship Id="rId228" Type="http://schemas.openxmlformats.org/officeDocument/2006/relationships/slide" Target="slides/slide218.xml"/><Relationship Id="rId229" Type="http://schemas.openxmlformats.org/officeDocument/2006/relationships/slide" Target="slides/slide219.xml"/><Relationship Id="rId230" Type="http://schemas.openxmlformats.org/officeDocument/2006/relationships/slide" Target="slides/slide220.xml"/><Relationship Id="rId231" Type="http://schemas.openxmlformats.org/officeDocument/2006/relationships/slide" Target="slides/slide221.xml"/><Relationship Id="rId232" Type="http://schemas.openxmlformats.org/officeDocument/2006/relationships/slide" Target="slides/slide222.xml"/><Relationship Id="rId233" Type="http://schemas.openxmlformats.org/officeDocument/2006/relationships/slide" Target="slides/slide223.xml"/><Relationship Id="rId234" Type="http://schemas.openxmlformats.org/officeDocument/2006/relationships/slide" Target="slides/slide224.xml"/><Relationship Id="rId235" Type="http://schemas.openxmlformats.org/officeDocument/2006/relationships/slide" Target="slides/slide225.xml"/><Relationship Id="rId236" Type="http://schemas.openxmlformats.org/officeDocument/2006/relationships/slide" Target="slides/slide226.xml"/><Relationship Id="rId237" Type="http://schemas.openxmlformats.org/officeDocument/2006/relationships/slide" Target="slides/slide227.xml"/><Relationship Id="rId238" Type="http://schemas.openxmlformats.org/officeDocument/2006/relationships/slide" Target="slides/slide228.xml"/><Relationship Id="rId239" Type="http://schemas.openxmlformats.org/officeDocument/2006/relationships/slide" Target="slides/slide229.xml"/><Relationship Id="rId240" Type="http://schemas.openxmlformats.org/officeDocument/2006/relationships/slide" Target="slides/slide230.xml"/><Relationship Id="rId241" Type="http://schemas.openxmlformats.org/officeDocument/2006/relationships/slide" Target="slides/slide231.xml"/><Relationship Id="rId242" Type="http://schemas.openxmlformats.org/officeDocument/2006/relationships/slide" Target="slides/slide232.xml"/><Relationship Id="rId243" Type="http://schemas.openxmlformats.org/officeDocument/2006/relationships/slide" Target="slides/slide233.xml"/><Relationship Id="rId244" Type="http://schemas.openxmlformats.org/officeDocument/2006/relationships/slide" Target="slides/slide234.xml"/><Relationship Id="rId245" Type="http://schemas.openxmlformats.org/officeDocument/2006/relationships/slide" Target="slides/slide235.xml"/><Relationship Id="rId246" Type="http://schemas.openxmlformats.org/officeDocument/2006/relationships/slide" Target="slides/slide236.xml"/><Relationship Id="rId247" Type="http://schemas.openxmlformats.org/officeDocument/2006/relationships/slide" Target="slides/slide237.xml"/><Relationship Id="rId248" Type="http://schemas.openxmlformats.org/officeDocument/2006/relationships/slide" Target="slides/slide238.xml"/><Relationship Id="rId249" Type="http://schemas.openxmlformats.org/officeDocument/2006/relationships/slide" Target="slides/slide239.xml"/><Relationship Id="rId250" Type="http://schemas.openxmlformats.org/officeDocument/2006/relationships/slide" Target="slides/slide240.xml"/><Relationship Id="rId251" Type="http://schemas.openxmlformats.org/officeDocument/2006/relationships/slide" Target="slides/slide241.xml"/><Relationship Id="rId252" Type="http://schemas.openxmlformats.org/officeDocument/2006/relationships/slide" Target="slides/slide242.xml"/><Relationship Id="rId253" Type="http://schemas.openxmlformats.org/officeDocument/2006/relationships/slide" Target="slides/slide243.xml"/><Relationship Id="rId254" Type="http://schemas.openxmlformats.org/officeDocument/2006/relationships/slide" Target="slides/slide244.xml"/><Relationship Id="rId255" Type="http://schemas.openxmlformats.org/officeDocument/2006/relationships/slide" Target="slides/slide245.xml"/><Relationship Id="rId256" Type="http://schemas.openxmlformats.org/officeDocument/2006/relationships/slide" Target="slides/slide246.xml"/><Relationship Id="rId257" Type="http://schemas.openxmlformats.org/officeDocument/2006/relationships/slide" Target="slides/slide247.xml"/><Relationship Id="rId258" Type="http://schemas.openxmlformats.org/officeDocument/2006/relationships/slide" Target="slides/slide248.xml"/><Relationship Id="rId259" Type="http://schemas.openxmlformats.org/officeDocument/2006/relationships/slide" Target="slides/slide249.xml"/><Relationship Id="rId260" Type="http://schemas.openxmlformats.org/officeDocument/2006/relationships/slide" Target="slides/slide250.xml"/><Relationship Id="rId261" Type="http://schemas.openxmlformats.org/officeDocument/2006/relationships/slide" Target="slides/slide251.xml"/><Relationship Id="rId262" Type="http://schemas.openxmlformats.org/officeDocument/2006/relationships/slide" Target="slides/slide252.xml"/><Relationship Id="rId263" Type="http://schemas.openxmlformats.org/officeDocument/2006/relationships/slide" Target="slides/slide253.xml"/><Relationship Id="rId264" Type="http://schemas.openxmlformats.org/officeDocument/2006/relationships/slide" Target="slides/slide254.xml"/><Relationship Id="rId265" Type="http://schemas.openxmlformats.org/officeDocument/2006/relationships/slide" Target="slides/slide255.xml"/><Relationship Id="rId266" Type="http://schemas.openxmlformats.org/officeDocument/2006/relationships/slide" Target="slides/slide256.xml"/><Relationship Id="rId267" Type="http://schemas.openxmlformats.org/officeDocument/2006/relationships/slide" Target="slides/slide257.xml"/><Relationship Id="rId268" Type="http://schemas.openxmlformats.org/officeDocument/2006/relationships/slide" Target="slides/slide258.xml"/><Relationship Id="rId269" Type="http://schemas.openxmlformats.org/officeDocument/2006/relationships/slide" Target="slides/slide259.xml"/><Relationship Id="rId270" Type="http://schemas.openxmlformats.org/officeDocument/2006/relationships/slide" Target="slides/slide260.xml"/><Relationship Id="rId271" Type="http://schemas.openxmlformats.org/officeDocument/2006/relationships/slide" Target="slides/slide261.xml"/><Relationship Id="rId272" Type="http://schemas.openxmlformats.org/officeDocument/2006/relationships/slide" Target="slides/slide262.xml"/><Relationship Id="rId273" Type="http://schemas.openxmlformats.org/officeDocument/2006/relationships/slide" Target="slides/slide263.xml"/><Relationship Id="rId274" Type="http://schemas.openxmlformats.org/officeDocument/2006/relationships/slide" Target="slides/slide264.xml"/><Relationship Id="rId275" Type="http://schemas.openxmlformats.org/officeDocument/2006/relationships/slide" Target="slides/slide265.xml"/><Relationship Id="rId276" Type="http://schemas.openxmlformats.org/officeDocument/2006/relationships/slide" Target="slides/slide266.xml"/><Relationship Id="rId277" Type="http://schemas.openxmlformats.org/officeDocument/2006/relationships/slide" Target="slides/slide267.xml"/><Relationship Id="rId278" Type="http://schemas.openxmlformats.org/officeDocument/2006/relationships/slide" Target="slides/slide268.xml"/><Relationship Id="rId279" Type="http://schemas.openxmlformats.org/officeDocument/2006/relationships/slide" Target="slides/slide269.xml"/><Relationship Id="rId280" Type="http://schemas.openxmlformats.org/officeDocument/2006/relationships/slide" Target="slides/slide270.xml"/><Relationship Id="rId281" Type="http://schemas.openxmlformats.org/officeDocument/2006/relationships/slide" Target="slides/slide271.xml"/><Relationship Id="rId282" Type="http://schemas.openxmlformats.org/officeDocument/2006/relationships/slide" Target="slides/slide272.xml"/><Relationship Id="rId283" Type="http://schemas.openxmlformats.org/officeDocument/2006/relationships/slide" Target="slides/slide273.xml"/><Relationship Id="rId284" Type="http://schemas.openxmlformats.org/officeDocument/2006/relationships/slide" Target="slides/slide274.xml"/><Relationship Id="rId285" Type="http://schemas.openxmlformats.org/officeDocument/2006/relationships/slide" Target="slides/slide275.xml"/><Relationship Id="rId286" Type="http://schemas.openxmlformats.org/officeDocument/2006/relationships/slide" Target="slides/slide276.xml"/><Relationship Id="rId287" Type="http://schemas.openxmlformats.org/officeDocument/2006/relationships/slide" Target="slides/slide277.xml"/><Relationship Id="rId288" Type="http://schemas.openxmlformats.org/officeDocument/2006/relationships/slide" Target="slides/slide278.xml"/><Relationship Id="rId289" Type="http://schemas.openxmlformats.org/officeDocument/2006/relationships/slide" Target="slides/slide279.xml"/><Relationship Id="rId290" Type="http://schemas.openxmlformats.org/officeDocument/2006/relationships/slide" Target="slides/slide280.xml"/><Relationship Id="rId291" Type="http://schemas.openxmlformats.org/officeDocument/2006/relationships/slide" Target="slides/slide281.xml"/><Relationship Id="rId292" Type="http://schemas.openxmlformats.org/officeDocument/2006/relationships/slide" Target="slides/slide282.xml"/><Relationship Id="rId293" Type="http://schemas.openxmlformats.org/officeDocument/2006/relationships/slide" Target="slides/slide283.xml"/><Relationship Id="rId294" Type="http://schemas.openxmlformats.org/officeDocument/2006/relationships/slide" Target="slides/slide284.xml"/><Relationship Id="rId295" Type="http://schemas.openxmlformats.org/officeDocument/2006/relationships/slide" Target="slides/slide285.xml"/><Relationship Id="rId296" Type="http://schemas.openxmlformats.org/officeDocument/2006/relationships/slide" Target="slides/slide286.xml"/><Relationship Id="rId297" Type="http://schemas.openxmlformats.org/officeDocument/2006/relationships/slide" Target="slides/slide287.xml"/><Relationship Id="rId298" Type="http://schemas.openxmlformats.org/officeDocument/2006/relationships/slide" Target="slides/slide288.xml"/><Relationship Id="rId299" Type="http://schemas.openxmlformats.org/officeDocument/2006/relationships/slide" Target="slides/slide289.xml"/><Relationship Id="rId300" Type="http://schemas.openxmlformats.org/officeDocument/2006/relationships/slide" Target="slides/slide290.xml"/><Relationship Id="rId301" Type="http://schemas.openxmlformats.org/officeDocument/2006/relationships/slide" Target="slides/slide291.xml"/><Relationship Id="rId302" Type="http://schemas.openxmlformats.org/officeDocument/2006/relationships/slide" Target="slides/slide292.xml"/><Relationship Id="rId303" Type="http://schemas.openxmlformats.org/officeDocument/2006/relationships/slide" Target="slides/slide293.xml"/><Relationship Id="rId304" Type="http://schemas.openxmlformats.org/officeDocument/2006/relationships/slide" Target="slides/slide294.xml"/><Relationship Id="rId305" Type="http://schemas.openxmlformats.org/officeDocument/2006/relationships/slide" Target="slides/slide295.xml"/><Relationship Id="rId306" Type="http://schemas.openxmlformats.org/officeDocument/2006/relationships/slide" Target="slides/slide296.xml"/><Relationship Id="rId307" Type="http://schemas.openxmlformats.org/officeDocument/2006/relationships/slide" Target="slides/slide297.xml"/><Relationship Id="rId308" Type="http://schemas.openxmlformats.org/officeDocument/2006/relationships/slide" Target="slides/slide298.xml"/><Relationship Id="rId309" Type="http://schemas.openxmlformats.org/officeDocument/2006/relationships/slide" Target="slides/slide299.xml"/><Relationship Id="rId310" Type="http://schemas.openxmlformats.org/officeDocument/2006/relationships/slide" Target="slides/slide300.xml"/><Relationship Id="rId311" Type="http://schemas.openxmlformats.org/officeDocument/2006/relationships/slide" Target="slides/slide301.xml"/><Relationship Id="rId312" Type="http://schemas.openxmlformats.org/officeDocument/2006/relationships/slide" Target="slides/slide302.xml"/><Relationship Id="rId313" Type="http://schemas.openxmlformats.org/officeDocument/2006/relationships/slide" Target="slides/slide303.xml"/><Relationship Id="rId314" Type="http://schemas.openxmlformats.org/officeDocument/2006/relationships/slide" Target="slides/slide304.xml"/><Relationship Id="rId315" Type="http://schemas.openxmlformats.org/officeDocument/2006/relationships/slide" Target="slides/slide305.xml"/><Relationship Id="rId316" Type="http://schemas.openxmlformats.org/officeDocument/2006/relationships/slide" Target="slides/slide306.xml"/><Relationship Id="rId317" Type="http://schemas.openxmlformats.org/officeDocument/2006/relationships/slide" Target="slides/slide307.xml"/><Relationship Id="rId318" Type="http://schemas.openxmlformats.org/officeDocument/2006/relationships/slide" Target="slides/slide308.xml"/><Relationship Id="rId319" Type="http://schemas.openxmlformats.org/officeDocument/2006/relationships/slide" Target="slides/slide309.xml"/><Relationship Id="rId320" Type="http://schemas.openxmlformats.org/officeDocument/2006/relationships/slide" Target="slides/slide310.xml"/><Relationship Id="rId321" Type="http://schemas.openxmlformats.org/officeDocument/2006/relationships/slide" Target="slides/slide311.xml"/><Relationship Id="rId322" Type="http://schemas.openxmlformats.org/officeDocument/2006/relationships/slide" Target="slides/slide312.xml"/><Relationship Id="rId323" Type="http://schemas.openxmlformats.org/officeDocument/2006/relationships/slide" Target="slides/slide313.xml"/><Relationship Id="rId324" Type="http://schemas.openxmlformats.org/officeDocument/2006/relationships/slide" Target="slides/slide314.xml"/><Relationship Id="rId325" Type="http://schemas.openxmlformats.org/officeDocument/2006/relationships/slide" Target="slides/slide315.xml"/><Relationship Id="rId326" Type="http://schemas.openxmlformats.org/officeDocument/2006/relationships/slide" Target="slides/slide316.xml"/><Relationship Id="rId327" Type="http://schemas.openxmlformats.org/officeDocument/2006/relationships/slide" Target="slides/slide317.xml"/><Relationship Id="rId328" Type="http://schemas.openxmlformats.org/officeDocument/2006/relationships/slide" Target="slides/slide318.xml"/><Relationship Id="rId329" Type="http://schemas.openxmlformats.org/officeDocument/2006/relationships/slide" Target="slides/slide319.xml"/><Relationship Id="rId330" Type="http://schemas.openxmlformats.org/officeDocument/2006/relationships/slide" Target="slides/slide320.xml"/><Relationship Id="rId331" Type="http://schemas.openxmlformats.org/officeDocument/2006/relationships/slide" Target="slides/slide321.xml"/><Relationship Id="rId332" Type="http://schemas.openxmlformats.org/officeDocument/2006/relationships/slide" Target="slides/slide322.xml"/><Relationship Id="rId333" Type="http://schemas.openxmlformats.org/officeDocument/2006/relationships/slide" Target="slides/slide323.xml"/><Relationship Id="rId334" Type="http://schemas.openxmlformats.org/officeDocument/2006/relationships/slide" Target="slides/slide324.xml"/><Relationship Id="rId335" Type="http://schemas.openxmlformats.org/officeDocument/2006/relationships/slide" Target="slides/slide325.xml"/><Relationship Id="rId336" Type="http://schemas.openxmlformats.org/officeDocument/2006/relationships/slide" Target="slides/slide326.xml"/><Relationship Id="rId337" Type="http://schemas.openxmlformats.org/officeDocument/2006/relationships/slide" Target="slides/slide327.xml"/><Relationship Id="rId338" Type="http://schemas.openxmlformats.org/officeDocument/2006/relationships/slide" Target="slides/slide328.xml"/><Relationship Id="rId339" Type="http://schemas.openxmlformats.org/officeDocument/2006/relationships/slide" Target="slides/slide329.xml"/><Relationship Id="rId340" Type="http://schemas.openxmlformats.org/officeDocument/2006/relationships/slide" Target="slides/slide330.xml"/><Relationship Id="rId341" Type="http://schemas.openxmlformats.org/officeDocument/2006/relationships/slide" Target="slides/slide331.xml"/><Relationship Id="rId342" Type="http://schemas.openxmlformats.org/officeDocument/2006/relationships/slide" Target="slides/slide332.xml"/><Relationship Id="rId343" Type="http://schemas.openxmlformats.org/officeDocument/2006/relationships/slide" Target="slides/slide333.xml"/><Relationship Id="rId344" Type="http://schemas.openxmlformats.org/officeDocument/2006/relationships/slide" Target="slides/slide334.xml"/><Relationship Id="rId345" Type="http://schemas.openxmlformats.org/officeDocument/2006/relationships/slide" Target="slides/slide335.xml"/><Relationship Id="rId346" Type="http://schemas.openxmlformats.org/officeDocument/2006/relationships/slide" Target="slides/slide336.xml"/><Relationship Id="rId347" Type="http://schemas.openxmlformats.org/officeDocument/2006/relationships/slide" Target="slides/slide337.xml"/><Relationship Id="rId348" Type="http://schemas.openxmlformats.org/officeDocument/2006/relationships/slide" Target="slides/slide338.xml"/><Relationship Id="rId349" Type="http://schemas.openxmlformats.org/officeDocument/2006/relationships/slide" Target="slides/slide339.xml"/><Relationship Id="rId350" Type="http://schemas.openxmlformats.org/officeDocument/2006/relationships/slide" Target="slides/slide340.xml"/><Relationship Id="rId351" Type="http://schemas.openxmlformats.org/officeDocument/2006/relationships/slide" Target="slides/slide341.xml"/><Relationship Id="rId352" Type="http://schemas.openxmlformats.org/officeDocument/2006/relationships/slide" Target="slides/slide342.xml"/><Relationship Id="rId353" Type="http://schemas.openxmlformats.org/officeDocument/2006/relationships/slide" Target="slides/slide343.xml"/><Relationship Id="rId354" Type="http://schemas.openxmlformats.org/officeDocument/2006/relationships/slide" Target="slides/slide344.xml"/><Relationship Id="rId355" Type="http://schemas.openxmlformats.org/officeDocument/2006/relationships/slide" Target="slides/slide345.xml"/><Relationship Id="rId356" Type="http://schemas.openxmlformats.org/officeDocument/2006/relationships/slide" Target="slides/slide346.xml"/><Relationship Id="rId357" Type="http://schemas.openxmlformats.org/officeDocument/2006/relationships/slide" Target="slides/slide347.xml"/><Relationship Id="rId358" Type="http://schemas.openxmlformats.org/officeDocument/2006/relationships/slide" Target="slides/slide348.xml"/><Relationship Id="rId359" Type="http://schemas.openxmlformats.org/officeDocument/2006/relationships/slide" Target="slides/slide349.xml"/><Relationship Id="rId360" Type="http://schemas.openxmlformats.org/officeDocument/2006/relationships/slide" Target="slides/slide350.xml"/><Relationship Id="rId361" Type="http://schemas.openxmlformats.org/officeDocument/2006/relationships/slide" Target="slides/slide351.xml"/><Relationship Id="rId362" Type="http://schemas.openxmlformats.org/officeDocument/2006/relationships/slide" Target="slides/slide352.xml"/><Relationship Id="rId363" Type="http://schemas.openxmlformats.org/officeDocument/2006/relationships/slide" Target="slides/slide353.xml"/><Relationship Id="rId364" Type="http://schemas.openxmlformats.org/officeDocument/2006/relationships/slide" Target="slides/slide354.xml"/><Relationship Id="rId365" Type="http://schemas.openxmlformats.org/officeDocument/2006/relationships/slide" Target="slides/slide355.xml"/><Relationship Id="rId366" Type="http://schemas.openxmlformats.org/officeDocument/2006/relationships/slide" Target="slides/slide356.xml"/><Relationship Id="rId367" Type="http://schemas.openxmlformats.org/officeDocument/2006/relationships/slide" Target="slides/slide357.xml"/><Relationship Id="rId368" Type="http://schemas.openxmlformats.org/officeDocument/2006/relationships/slide" Target="slides/slide358.xml"/><Relationship Id="rId369" Type="http://schemas.openxmlformats.org/officeDocument/2006/relationships/slide" Target="slides/slide359.xml"/><Relationship Id="rId370" Type="http://schemas.openxmlformats.org/officeDocument/2006/relationships/slide" Target="slides/slide360.xml"/><Relationship Id="rId371" Type="http://schemas.openxmlformats.org/officeDocument/2006/relationships/slide" Target="slides/slide361.xml"/><Relationship Id="rId372" Type="http://schemas.openxmlformats.org/officeDocument/2006/relationships/slide" Target="slides/slide362.xml"/><Relationship Id="rId373" Type="http://schemas.openxmlformats.org/officeDocument/2006/relationships/slide" Target="slides/slide363.xml"/><Relationship Id="rId374" Type="http://schemas.openxmlformats.org/officeDocument/2006/relationships/slide" Target="slides/slide364.xml"/><Relationship Id="rId375" Type="http://schemas.openxmlformats.org/officeDocument/2006/relationships/slide" Target="slides/slide365.xml"/><Relationship Id="rId376" Type="http://schemas.openxmlformats.org/officeDocument/2006/relationships/slide" Target="slides/slide366.xml"/><Relationship Id="rId377" Type="http://schemas.openxmlformats.org/officeDocument/2006/relationships/slide" Target="slides/slide367.xml"/><Relationship Id="rId378" Type="http://schemas.openxmlformats.org/officeDocument/2006/relationships/slide" Target="slides/slide368.xml"/><Relationship Id="rId379" Type="http://schemas.openxmlformats.org/officeDocument/2006/relationships/slide" Target="slides/slide369.xml"/><Relationship Id="rId380" Type="http://schemas.openxmlformats.org/officeDocument/2006/relationships/slide" Target="slides/slide370.xml"/><Relationship Id="rId381" Type="http://schemas.openxmlformats.org/officeDocument/2006/relationships/slide" Target="slides/slide371.xml"/><Relationship Id="rId382" Type="http://schemas.openxmlformats.org/officeDocument/2006/relationships/slide" Target="slides/slide372.xml"/><Relationship Id="rId383" Type="http://schemas.openxmlformats.org/officeDocument/2006/relationships/slide" Target="slides/slide373.xml"/><Relationship Id="rId384" Type="http://schemas.openxmlformats.org/officeDocument/2006/relationships/slide" Target="slides/slide374.xml"/><Relationship Id="rId385" Type="http://schemas.openxmlformats.org/officeDocument/2006/relationships/slide" Target="slides/slide375.xml"/><Relationship Id="rId386" Type="http://schemas.openxmlformats.org/officeDocument/2006/relationships/slide" Target="slides/slide376.xml"/><Relationship Id="rId387" Type="http://schemas.openxmlformats.org/officeDocument/2006/relationships/slide" Target="slides/slide377.xml"/><Relationship Id="rId388" Type="http://schemas.openxmlformats.org/officeDocument/2006/relationships/slide" Target="slides/slide378.xml"/><Relationship Id="rId389" Type="http://schemas.openxmlformats.org/officeDocument/2006/relationships/slide" Target="slides/slide379.xml"/><Relationship Id="rId390" Type="http://schemas.openxmlformats.org/officeDocument/2006/relationships/slide" Target="slides/slide380.xml"/><Relationship Id="rId391" Type="http://schemas.openxmlformats.org/officeDocument/2006/relationships/slide" Target="slides/slide381.xml"/><Relationship Id="rId392" Type="http://schemas.openxmlformats.org/officeDocument/2006/relationships/slide" Target="slides/slide382.xml"/><Relationship Id="rId393" Type="http://schemas.openxmlformats.org/officeDocument/2006/relationships/slide" Target="slides/slide383.xml"/><Relationship Id="rId394" Type="http://schemas.openxmlformats.org/officeDocument/2006/relationships/slide" Target="slides/slide384.xml"/><Relationship Id="rId395" Type="http://schemas.openxmlformats.org/officeDocument/2006/relationships/slide" Target="slides/slide385.xml"/><Relationship Id="rId396" Type="http://schemas.openxmlformats.org/officeDocument/2006/relationships/slide" Target="slides/slide386.xml"/><Relationship Id="rId397" Type="http://schemas.openxmlformats.org/officeDocument/2006/relationships/slide" Target="slides/slide387.xml"/><Relationship Id="rId398" Type="http://schemas.openxmlformats.org/officeDocument/2006/relationships/slide" Target="slides/slide388.xml"/><Relationship Id="rId399" Type="http://schemas.openxmlformats.org/officeDocument/2006/relationships/slide" Target="slides/slide389.xml"/><Relationship Id="rId400" Type="http://schemas.openxmlformats.org/officeDocument/2006/relationships/slide" Target="slides/slide390.xml"/><Relationship Id="rId401" Type="http://schemas.openxmlformats.org/officeDocument/2006/relationships/slide" Target="slides/slide391.xml"/><Relationship Id="rId402" Type="http://schemas.openxmlformats.org/officeDocument/2006/relationships/slide" Target="slides/slide392.xml"/><Relationship Id="rId403" Type="http://schemas.openxmlformats.org/officeDocument/2006/relationships/slide" Target="slides/slide393.xml"/><Relationship Id="rId404" Type="http://schemas.openxmlformats.org/officeDocument/2006/relationships/slide" Target="slides/slide394.xml"/><Relationship Id="rId405" Type="http://schemas.openxmlformats.org/officeDocument/2006/relationships/slide" Target="slides/slide395.xml"/><Relationship Id="rId406" Type="http://schemas.openxmlformats.org/officeDocument/2006/relationships/slide" Target="slides/slide396.xml"/><Relationship Id="rId407" Type="http://schemas.openxmlformats.org/officeDocument/2006/relationships/slide" Target="slides/slide397.xml"/><Relationship Id="rId408" Type="http://schemas.openxmlformats.org/officeDocument/2006/relationships/slide" Target="slides/slide398.xml"/><Relationship Id="rId409" Type="http://schemas.openxmlformats.org/officeDocument/2006/relationships/slide" Target="slides/slide399.xml"/><Relationship Id="rId410" Type="http://schemas.openxmlformats.org/officeDocument/2006/relationships/slide" Target="slides/slide400.xml"/><Relationship Id="rId411" Type="http://schemas.openxmlformats.org/officeDocument/2006/relationships/slide" Target="slides/slide401.xml"/><Relationship Id="rId412" Type="http://schemas.openxmlformats.org/officeDocument/2006/relationships/slide" Target="slides/slide402.xml"/><Relationship Id="rId413" Type="http://schemas.openxmlformats.org/officeDocument/2006/relationships/slide" Target="slides/slide403.xml"/><Relationship Id="rId414" Type="http://schemas.openxmlformats.org/officeDocument/2006/relationships/slide" Target="slides/slide404.xml"/><Relationship Id="rId415" Type="http://schemas.openxmlformats.org/officeDocument/2006/relationships/slide" Target="slides/slide405.xml"/><Relationship Id="rId416" Type="http://schemas.openxmlformats.org/officeDocument/2006/relationships/slide" Target="slides/slide406.xml"/><Relationship Id="rId417" Type="http://schemas.openxmlformats.org/officeDocument/2006/relationships/slide" Target="slides/slide407.xml"/><Relationship Id="rId418" Type="http://schemas.openxmlformats.org/officeDocument/2006/relationships/slide" Target="slides/slide408.xml"/><Relationship Id="rId419" Type="http://schemas.openxmlformats.org/officeDocument/2006/relationships/slide" Target="slides/slide409.xml"/><Relationship Id="rId420" Type="http://schemas.openxmlformats.org/officeDocument/2006/relationships/slide" Target="slides/slide410.xml"/><Relationship Id="rId421" Type="http://schemas.openxmlformats.org/officeDocument/2006/relationships/slide" Target="slides/slide411.xml"/><Relationship Id="rId422" Type="http://schemas.openxmlformats.org/officeDocument/2006/relationships/slide" Target="slides/slide412.xml"/><Relationship Id="rId423" Type="http://schemas.openxmlformats.org/officeDocument/2006/relationships/slide" Target="slides/slide413.xml"/><Relationship Id="rId424" Type="http://schemas.openxmlformats.org/officeDocument/2006/relationships/slide" Target="slides/slide414.xml"/><Relationship Id="rId425" Type="http://schemas.openxmlformats.org/officeDocument/2006/relationships/slide" Target="slides/slide415.xml"/><Relationship Id="rId426" Type="http://schemas.openxmlformats.org/officeDocument/2006/relationships/slide" Target="slides/slide416.xml"/><Relationship Id="rId427" Type="http://schemas.openxmlformats.org/officeDocument/2006/relationships/slide" Target="slides/slide417.xml"/><Relationship Id="rId428" Type="http://schemas.openxmlformats.org/officeDocument/2006/relationships/slide" Target="slides/slide418.xml"/><Relationship Id="rId429" Type="http://schemas.openxmlformats.org/officeDocument/2006/relationships/slide" Target="slides/slide419.xml"/><Relationship Id="rId430" Type="http://schemas.openxmlformats.org/officeDocument/2006/relationships/slide" Target="slides/slide420.xml"/><Relationship Id="rId431" Type="http://schemas.openxmlformats.org/officeDocument/2006/relationships/slide" Target="slides/slide421.xml"/><Relationship Id="rId432" Type="http://schemas.openxmlformats.org/officeDocument/2006/relationships/slide" Target="slides/slide422.xml"/><Relationship Id="rId433" Type="http://schemas.openxmlformats.org/officeDocument/2006/relationships/slide" Target="slides/slide423.xml"/><Relationship Id="rId434" Type="http://schemas.openxmlformats.org/officeDocument/2006/relationships/slide" Target="slides/slide424.xml"/><Relationship Id="rId435" Type="http://schemas.openxmlformats.org/officeDocument/2006/relationships/slide" Target="slides/slide425.xml"/><Relationship Id="rId436" Type="http://schemas.openxmlformats.org/officeDocument/2006/relationships/slide" Target="slides/slide426.xml"/><Relationship Id="rId437" Type="http://schemas.openxmlformats.org/officeDocument/2006/relationships/slide" Target="slides/slide427.xml"/><Relationship Id="rId438" Type="http://schemas.openxmlformats.org/officeDocument/2006/relationships/slide" Target="slides/slide428.xml"/><Relationship Id="rId439" Type="http://schemas.openxmlformats.org/officeDocument/2006/relationships/slide" Target="slides/slide429.xml"/><Relationship Id="rId440" Type="http://schemas.openxmlformats.org/officeDocument/2006/relationships/slide" Target="slides/slide4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4" showMasterSp="0">
  <p:cSld name="Portada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/>
          <p:nvPr/>
        </p:nvSpPr>
        <p:spPr>
          <a:xfrm>
            <a:off x="4298700" y="0"/>
            <a:ext cx="48453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" name="Google Shape;15;p23"/>
          <p:cNvSpPr txBox="1"/>
          <p:nvPr>
            <p:ph type="title"/>
          </p:nvPr>
        </p:nvSpPr>
        <p:spPr>
          <a:xfrm>
            <a:off x="4886999" y="1327325"/>
            <a:ext cx="3735300" cy="24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  <a:defRPr sz="2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 b="0" l="18" r="9" t="0"/>
          <a:stretch/>
        </p:blipFill>
        <p:spPr>
          <a:xfrm>
            <a:off x="7295501" y="344100"/>
            <a:ext cx="132700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099963">
            <a:off x="2770195" y="1826996"/>
            <a:ext cx="1687459" cy="1687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3" title="logos-fundae-fondo-navy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1013" y="4253200"/>
            <a:ext cx="4607273" cy="68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0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 1" showMasterSp="0">
  <p:cSld name="Separador">
    <p:bg>
      <p:bgPr>
        <a:solidFill>
          <a:srgbClr val="1C1E3B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title"/>
          </p:nvPr>
        </p:nvSpPr>
        <p:spPr>
          <a:xfrm>
            <a:off x="518400" y="1207890"/>
            <a:ext cx="39672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xend"/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21" name="Google Shape;21;p24"/>
          <p:cNvSpPr txBox="1"/>
          <p:nvPr>
            <p:ph idx="1" type="body"/>
          </p:nvPr>
        </p:nvSpPr>
        <p:spPr>
          <a:xfrm>
            <a:off x="518400" y="1775916"/>
            <a:ext cx="3976200" cy="25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exend Light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Lexend Light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Lexend Light"/>
              <a:buChar char="•"/>
              <a:defRPr>
                <a:solidFill>
                  <a:schemeClr val="lt1"/>
                </a:solidFill>
              </a:defRPr>
            </a:lvl5pPr>
            <a:lvl6pPr indent="-2413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"/>
              <a:buFont typeface="Lexend Light"/>
              <a:buChar char="•"/>
              <a:defRPr sz="9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413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"/>
              <a:buFont typeface="Lexend Light"/>
              <a:buChar char="•"/>
              <a:defRPr sz="9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413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"/>
              <a:buFont typeface="Lexend Light"/>
              <a:buChar char="•"/>
              <a:defRPr sz="9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413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"/>
              <a:buFont typeface="Lexend Light"/>
              <a:buChar char="•"/>
              <a:defRPr sz="9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22" name="Google Shape;22;p24"/>
          <p:cNvPicPr preferRelativeResize="0"/>
          <p:nvPr/>
        </p:nvPicPr>
        <p:blipFill rotWithShape="1">
          <a:blip r:embed="rId2">
            <a:alphaModFix/>
          </a:blip>
          <a:srcRect b="0" l="18" r="9" t="0"/>
          <a:stretch/>
        </p:blipFill>
        <p:spPr>
          <a:xfrm>
            <a:off x="7295501" y="344100"/>
            <a:ext cx="132700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215350" y="4393425"/>
            <a:ext cx="40715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4" title="logos-fundae-fondo-nav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400" y="4326600"/>
            <a:ext cx="3690527" cy="5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a">
  <p:cSld name="1 columna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25"/>
          <p:cNvSpPr txBox="1"/>
          <p:nvPr>
            <p:ph type="title"/>
          </p:nvPr>
        </p:nvSpPr>
        <p:spPr>
          <a:xfrm>
            <a:off x="628775" y="347125"/>
            <a:ext cx="79935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28" name="Google Shape;28;p25"/>
          <p:cNvSpPr txBox="1"/>
          <p:nvPr>
            <p:ph idx="2"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29" name="Google Shape;29;p25"/>
          <p:cNvSpPr txBox="1"/>
          <p:nvPr>
            <p:ph idx="3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518517" y="1207889"/>
            <a:ext cx="81069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>
                <a:solidFill>
                  <a:srgbClr val="1C1E3B"/>
                </a:solidFill>
              </a:defRPr>
            </a:lvl1pPr>
            <a:lvl2pPr indent="-2730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31" name="Google Shape;31;p25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mpleta" showMasterSp="0">
  <p:cSld name="Imagen gran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518400" y="344091"/>
            <a:ext cx="8107200" cy="44958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34" name="Google Shape;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7988" y="4839891"/>
            <a:ext cx="604520" cy="185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6" title="logos-fundae-fondo-nav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400" y="4646963"/>
            <a:ext cx="2587873" cy="3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 nominal" showMasterSp="0">
  <p:cSld name="Portada_1_1_2">
    <p:bg>
      <p:bgPr>
        <a:solidFill>
          <a:srgbClr val="1C1E3B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/>
        </p:nvSpPr>
        <p:spPr>
          <a:xfrm>
            <a:off x="6475050" y="4524700"/>
            <a:ext cx="174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C/ Manuel Tovar, 31 28034-Madrid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27"/>
          <p:cNvPicPr preferRelativeResize="0"/>
          <p:nvPr/>
        </p:nvPicPr>
        <p:blipFill rotWithShape="1">
          <a:blip r:embed="rId2">
            <a:alphaModFix/>
          </a:blip>
          <a:srcRect b="0" l="18" r="9" t="0"/>
          <a:stretch/>
        </p:blipFill>
        <p:spPr>
          <a:xfrm>
            <a:off x="7295501" y="344100"/>
            <a:ext cx="132700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215350" y="4393425"/>
            <a:ext cx="40715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7" title="logos-fundae-fondo-nav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400" y="4326600"/>
            <a:ext cx="3690527" cy="5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 - Gracias" showMasterSp="0">
  <p:cSld name="Portada_1_1">
    <p:bg>
      <p:bgPr>
        <a:solidFill>
          <a:srgbClr val="1C1E3B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/>
        </p:nvSpPr>
        <p:spPr>
          <a:xfrm>
            <a:off x="6475050" y="4484975"/>
            <a:ext cx="1740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C/ Manuel Tovar, 31 28034-Madrid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8"/>
          <p:cNvSpPr txBox="1"/>
          <p:nvPr>
            <p:ph type="title"/>
          </p:nvPr>
        </p:nvSpPr>
        <p:spPr>
          <a:xfrm>
            <a:off x="1842216" y="1714453"/>
            <a:ext cx="4381200" cy="16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  <a:defRPr sz="2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44" name="Google Shape;44;p28"/>
          <p:cNvPicPr preferRelativeResize="0"/>
          <p:nvPr/>
        </p:nvPicPr>
        <p:blipFill rotWithShape="1">
          <a:blip r:embed="rId2">
            <a:alphaModFix/>
          </a:blip>
          <a:srcRect b="0" l="18" r="9" t="0"/>
          <a:stretch/>
        </p:blipFill>
        <p:spPr>
          <a:xfrm>
            <a:off x="7295501" y="344100"/>
            <a:ext cx="132700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215350" y="4393425"/>
            <a:ext cx="40715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8" title="logos-fundae-fondo-nav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400" y="4326600"/>
            <a:ext cx="3690527" cy="5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as">
  <p:cSld name="2 columna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29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50" name="Google Shape;50;p29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51" name="Google Shape;51;p29"/>
          <p:cNvSpPr txBox="1"/>
          <p:nvPr>
            <p:ph idx="1" type="body"/>
          </p:nvPr>
        </p:nvSpPr>
        <p:spPr>
          <a:xfrm>
            <a:off x="521494" y="1207889"/>
            <a:ext cx="39834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>
                <a:solidFill>
                  <a:srgbClr val="1C1E3B"/>
                </a:solidFill>
              </a:defRPr>
            </a:lvl1pPr>
            <a:lvl2pPr indent="-2730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3" type="body"/>
          </p:nvPr>
        </p:nvSpPr>
        <p:spPr>
          <a:xfrm>
            <a:off x="4639270" y="1207889"/>
            <a:ext cx="39864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>
                <a:solidFill>
                  <a:srgbClr val="1C1E3B"/>
                </a:solidFill>
              </a:defRPr>
            </a:lvl1pPr>
            <a:lvl2pPr indent="-2730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4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54" name="Google Shape;54;p29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8">
          <p15:clr>
            <a:srgbClr val="FBAE40"/>
          </p15:clr>
        </p15:guide>
        <p15:guide id="2" pos="292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" showMasterSp="0">
  <p:cSld name="Portada_1_2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521500" y="1207899"/>
            <a:ext cx="40536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  <a:defRPr sz="2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descr="Interfaz de usuario gráfica, Texto&#10;&#10;Descripción generada automáticamente" id="57" name="Google Shape;5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406" y="4172113"/>
            <a:ext cx="1890783" cy="6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tlassian Cloud | TSOFT - Make IT Real" id="58" name="Google Shape;5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509" y="4240108"/>
            <a:ext cx="771498" cy="492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tlassian Platinum Partner Singapore Malaysia Thailand Indonesia" id="59" name="Google Shape;5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8603" y="4240108"/>
            <a:ext cx="769488" cy="492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30"/>
          <p:cNvPicPr preferRelativeResize="0"/>
          <p:nvPr/>
        </p:nvPicPr>
        <p:blipFill rotWithShape="1">
          <a:blip r:embed="rId5">
            <a:alphaModFix/>
          </a:blip>
          <a:srcRect b="0" l="18" r="9" t="0"/>
          <a:stretch/>
        </p:blipFill>
        <p:spPr>
          <a:xfrm>
            <a:off x="7295501" y="344100"/>
            <a:ext cx="132700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8215350" y="4393425"/>
            <a:ext cx="40715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30" title="logos-fundae-fondo-navy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24548" y="4373963"/>
            <a:ext cx="2990802" cy="44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 2">
  <p:cSld name="TITLE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65" name="Google Shape;65;p31"/>
          <p:cNvGrpSpPr/>
          <p:nvPr/>
        </p:nvGrpSpPr>
        <p:grpSpPr>
          <a:xfrm>
            <a:off x="-810550" y="-196"/>
            <a:ext cx="10765100" cy="5143292"/>
            <a:chOff x="-789350" y="-94175"/>
            <a:chExt cx="10765100" cy="5377200"/>
          </a:xfrm>
        </p:grpSpPr>
        <p:sp>
          <p:nvSpPr>
            <p:cNvPr id="66" name="Google Shape;66;p31"/>
            <p:cNvSpPr/>
            <p:nvPr/>
          </p:nvSpPr>
          <p:spPr>
            <a:xfrm>
              <a:off x="6865050" y="-94175"/>
              <a:ext cx="3110700" cy="5377200"/>
            </a:xfrm>
            <a:prstGeom prst="parallelogram">
              <a:avLst>
                <a:gd fmla="val 25000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7" name="Google Shape;67;p31"/>
            <p:cNvSpPr/>
            <p:nvPr/>
          </p:nvSpPr>
          <p:spPr>
            <a:xfrm>
              <a:off x="-789350" y="-94175"/>
              <a:ext cx="3110700" cy="5377200"/>
            </a:xfrm>
            <a:prstGeom prst="parallelogram">
              <a:avLst>
                <a:gd fmla="val 25000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8" name="Google Shape;6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91501" y="556648"/>
            <a:ext cx="807775" cy="8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6444726" y="3776848"/>
            <a:ext cx="807775" cy="8077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1"/>
          <p:cNvSpPr txBox="1"/>
          <p:nvPr>
            <p:ph idx="1" type="subTitle"/>
          </p:nvPr>
        </p:nvSpPr>
        <p:spPr>
          <a:xfrm>
            <a:off x="2610900" y="1952850"/>
            <a:ext cx="3922200" cy="1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pic>
        <p:nvPicPr>
          <p:cNvPr id="71" name="Google Shape;71;p31" title="logos-fundae-fondo-bl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9775" y="4660016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3" showMasterSp="0">
  <p:cSld name="Portada">
    <p:bg>
      <p:bgPr>
        <a:solidFill>
          <a:srgbClr val="1C1E3B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568841" y="1327315"/>
            <a:ext cx="4053600" cy="24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  <a:defRPr sz="2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74" name="Google Shape;74;p32"/>
          <p:cNvSpPr/>
          <p:nvPr>
            <p:ph idx="2" type="pic"/>
          </p:nvPr>
        </p:nvSpPr>
        <p:spPr>
          <a:xfrm>
            <a:off x="0" y="0"/>
            <a:ext cx="42864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75" name="Google Shape;75;p32"/>
          <p:cNvPicPr preferRelativeResize="0"/>
          <p:nvPr/>
        </p:nvPicPr>
        <p:blipFill rotWithShape="1">
          <a:blip r:embed="rId2">
            <a:alphaModFix/>
          </a:blip>
          <a:srcRect b="0" l="18" r="9" t="0"/>
          <a:stretch/>
        </p:blipFill>
        <p:spPr>
          <a:xfrm>
            <a:off x="7295501" y="344100"/>
            <a:ext cx="132700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215350" y="4393425"/>
            <a:ext cx="407150" cy="4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2" title="logos-fundae-fondo-nav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5300" y="4345649"/>
            <a:ext cx="3364326" cy="5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0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as - Imagen dcha">
  <p:cSld name="2 columnas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" name="Google Shape;80;p33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81" name="Google Shape;81;p33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82" name="Google Shape;82;p33"/>
          <p:cNvSpPr txBox="1"/>
          <p:nvPr>
            <p:ph idx="1" type="body"/>
          </p:nvPr>
        </p:nvSpPr>
        <p:spPr>
          <a:xfrm>
            <a:off x="521494" y="1207889"/>
            <a:ext cx="39834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>
                <a:solidFill>
                  <a:srgbClr val="1C1E3B"/>
                </a:solidFill>
              </a:defRPr>
            </a:lvl1pPr>
            <a:lvl2pPr indent="-2730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3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84" name="Google Shape;84;p33"/>
          <p:cNvSpPr/>
          <p:nvPr>
            <p:ph idx="4" type="pic"/>
          </p:nvPr>
        </p:nvSpPr>
        <p:spPr>
          <a:xfrm>
            <a:off x="4639275" y="1212506"/>
            <a:ext cx="4001100" cy="3389100"/>
          </a:xfrm>
          <a:prstGeom prst="rect">
            <a:avLst/>
          </a:prstGeom>
          <a:noFill/>
          <a:ln>
            <a:noFill/>
          </a:ln>
        </p:spPr>
      </p:sp>
      <p:pic>
        <p:nvPicPr>
          <p:cNvPr id="85" name="Google Shape;85;p33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8">
          <p15:clr>
            <a:srgbClr val="FBAE40"/>
          </p15:clr>
        </p15:guide>
        <p15:guide id="2" pos="292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as - Imagen Izda">
  <p:cSld name="2 columnas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4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34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89" name="Google Shape;89;p34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90" name="Google Shape;90;p34"/>
          <p:cNvSpPr txBox="1"/>
          <p:nvPr>
            <p:ph idx="1" type="body"/>
          </p:nvPr>
        </p:nvSpPr>
        <p:spPr>
          <a:xfrm>
            <a:off x="4639275" y="1207889"/>
            <a:ext cx="39834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Char char="•"/>
              <a:defRPr>
                <a:solidFill>
                  <a:srgbClr val="1C1E3B"/>
                </a:solidFill>
              </a:defRPr>
            </a:lvl1pPr>
            <a:lvl2pPr indent="-2730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91" name="Google Shape;91;p34"/>
          <p:cNvSpPr txBox="1"/>
          <p:nvPr>
            <p:ph idx="3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92" name="Google Shape;92;p34"/>
          <p:cNvSpPr/>
          <p:nvPr>
            <p:ph idx="4" type="pic"/>
          </p:nvPr>
        </p:nvSpPr>
        <p:spPr>
          <a:xfrm>
            <a:off x="518400" y="1207894"/>
            <a:ext cx="4001100" cy="3389100"/>
          </a:xfrm>
          <a:prstGeom prst="rect">
            <a:avLst/>
          </a:prstGeom>
          <a:noFill/>
          <a:ln>
            <a:noFill/>
          </a:ln>
        </p:spPr>
      </p:sp>
      <p:pic>
        <p:nvPicPr>
          <p:cNvPr id="93" name="Google Shape;93;p34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8">
          <p15:clr>
            <a:srgbClr val="FBAE40"/>
          </p15:clr>
        </p15:guide>
        <p15:guide id="2" pos="292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x2 columnas">
  <p:cSld name="2x2 columna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35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97" name="Google Shape;97;p35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98" name="Google Shape;98;p35"/>
          <p:cNvSpPr txBox="1"/>
          <p:nvPr>
            <p:ph idx="1" type="body"/>
          </p:nvPr>
        </p:nvSpPr>
        <p:spPr>
          <a:xfrm>
            <a:off x="521494" y="1207889"/>
            <a:ext cx="3983400" cy="16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99" name="Google Shape;99;p35"/>
          <p:cNvSpPr txBox="1"/>
          <p:nvPr>
            <p:ph idx="3" type="body"/>
          </p:nvPr>
        </p:nvSpPr>
        <p:spPr>
          <a:xfrm>
            <a:off x="4639270" y="1207889"/>
            <a:ext cx="3986400" cy="16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4" type="body"/>
          </p:nvPr>
        </p:nvSpPr>
        <p:spPr>
          <a:xfrm>
            <a:off x="518400" y="2976563"/>
            <a:ext cx="39834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5" type="body"/>
          </p:nvPr>
        </p:nvSpPr>
        <p:spPr>
          <a:xfrm>
            <a:off x="4636176" y="2976563"/>
            <a:ext cx="3986400" cy="1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02" name="Google Shape;102;p35"/>
          <p:cNvSpPr txBox="1"/>
          <p:nvPr>
            <p:ph idx="6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103" name="Google Shape;103;p35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922">
          <p15:clr>
            <a:srgbClr val="FBAE40"/>
          </p15:clr>
        </p15:guide>
        <p15:guide id="2" pos="2838">
          <p15:clr>
            <a:srgbClr val="FBAE40"/>
          </p15:clr>
        </p15:guide>
        <p15:guide id="3" orient="horz" pos="1790">
          <p15:clr>
            <a:srgbClr val="FBAE40"/>
          </p15:clr>
        </p15:guide>
        <p15:guide id="4" orient="horz" pos="187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x2 columnas con imagen">
  <p:cSld name="2x2 columnas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36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07" name="Google Shape;107;p36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08" name="Google Shape;108;p36"/>
          <p:cNvSpPr txBox="1"/>
          <p:nvPr>
            <p:ph idx="1" type="body"/>
          </p:nvPr>
        </p:nvSpPr>
        <p:spPr>
          <a:xfrm>
            <a:off x="518400" y="2976563"/>
            <a:ext cx="39834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09" name="Google Shape;109;p36"/>
          <p:cNvSpPr txBox="1"/>
          <p:nvPr>
            <p:ph idx="3" type="body"/>
          </p:nvPr>
        </p:nvSpPr>
        <p:spPr>
          <a:xfrm>
            <a:off x="4636176" y="2976563"/>
            <a:ext cx="3986400" cy="1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10" name="Google Shape;110;p36"/>
          <p:cNvSpPr txBox="1"/>
          <p:nvPr>
            <p:ph idx="4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11" name="Google Shape;111;p36"/>
          <p:cNvSpPr/>
          <p:nvPr>
            <p:ph idx="5" type="pic"/>
          </p:nvPr>
        </p:nvSpPr>
        <p:spPr>
          <a:xfrm>
            <a:off x="525159" y="1215056"/>
            <a:ext cx="3976500" cy="16203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36"/>
          <p:cNvSpPr/>
          <p:nvPr>
            <p:ph idx="6" type="pic"/>
          </p:nvPr>
        </p:nvSpPr>
        <p:spPr>
          <a:xfrm>
            <a:off x="4641066" y="1215056"/>
            <a:ext cx="3976500" cy="1620300"/>
          </a:xfrm>
          <a:prstGeom prst="rect">
            <a:avLst/>
          </a:prstGeom>
          <a:noFill/>
          <a:ln>
            <a:noFill/>
          </a:ln>
        </p:spPr>
      </p:sp>
      <p:pic>
        <p:nvPicPr>
          <p:cNvPr id="113" name="Google Shape;113;p36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922">
          <p15:clr>
            <a:srgbClr val="FBAE40"/>
          </p15:clr>
        </p15:guide>
        <p15:guide id="2" pos="2838">
          <p15:clr>
            <a:srgbClr val="FBAE40"/>
          </p15:clr>
        </p15:guide>
        <p15:guide id="3" orient="horz" pos="1790">
          <p15:clr>
            <a:srgbClr val="FBAE40"/>
          </p15:clr>
        </p15:guide>
        <p15:guide id="4" orient="horz" pos="187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as">
  <p:cSld name="3 columna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7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37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17" name="Google Shape;117;p37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18" name="Google Shape;118;p37"/>
          <p:cNvSpPr txBox="1"/>
          <p:nvPr>
            <p:ph idx="1" type="body"/>
          </p:nvPr>
        </p:nvSpPr>
        <p:spPr>
          <a:xfrm>
            <a:off x="518400" y="1207894"/>
            <a:ext cx="25683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19" name="Google Shape;119;p37"/>
          <p:cNvSpPr txBox="1"/>
          <p:nvPr>
            <p:ph idx="3" type="body"/>
          </p:nvPr>
        </p:nvSpPr>
        <p:spPr>
          <a:xfrm>
            <a:off x="6060394" y="1207828"/>
            <a:ext cx="25653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20" name="Google Shape;120;p37"/>
          <p:cNvSpPr txBox="1"/>
          <p:nvPr>
            <p:ph idx="4" type="body"/>
          </p:nvPr>
        </p:nvSpPr>
        <p:spPr>
          <a:xfrm>
            <a:off x="3290906" y="1207828"/>
            <a:ext cx="25653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21" name="Google Shape;121;p37"/>
          <p:cNvSpPr txBox="1"/>
          <p:nvPr>
            <p:ph idx="5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122" name="Google Shape;122;p37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816">
          <p15:clr>
            <a:srgbClr val="FBAE40"/>
          </p15:clr>
        </p15:guide>
        <p15:guide id="2" pos="1944">
          <p15:clr>
            <a:srgbClr val="FBAE40"/>
          </p15:clr>
        </p15:guide>
        <p15:guide id="3" pos="2067">
          <p15:clr>
            <a:srgbClr val="FBAE40"/>
          </p15:clr>
        </p15:guide>
        <p15:guide id="4" pos="368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as con imagen">
  <p:cSld name="3 columnas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8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38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26" name="Google Shape;126;p38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27" name="Google Shape;127;p38"/>
          <p:cNvSpPr txBox="1"/>
          <p:nvPr>
            <p:ph idx="1" type="body"/>
          </p:nvPr>
        </p:nvSpPr>
        <p:spPr>
          <a:xfrm>
            <a:off x="518400" y="2981072"/>
            <a:ext cx="2568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28" name="Google Shape;128;p38"/>
          <p:cNvSpPr txBox="1"/>
          <p:nvPr>
            <p:ph idx="3" type="body"/>
          </p:nvPr>
        </p:nvSpPr>
        <p:spPr>
          <a:xfrm>
            <a:off x="6060394" y="2981053"/>
            <a:ext cx="2565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29" name="Google Shape;129;p38"/>
          <p:cNvSpPr txBox="1"/>
          <p:nvPr>
            <p:ph idx="4" type="body"/>
          </p:nvPr>
        </p:nvSpPr>
        <p:spPr>
          <a:xfrm>
            <a:off x="3290906" y="2981053"/>
            <a:ext cx="2565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1C1E3B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30" name="Google Shape;130;p38"/>
          <p:cNvSpPr txBox="1"/>
          <p:nvPr>
            <p:ph idx="5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31" name="Google Shape;131;p38"/>
          <p:cNvSpPr/>
          <p:nvPr>
            <p:ph idx="6" type="pic"/>
          </p:nvPr>
        </p:nvSpPr>
        <p:spPr>
          <a:xfrm>
            <a:off x="525159" y="1204781"/>
            <a:ext cx="2568300" cy="158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38"/>
          <p:cNvSpPr/>
          <p:nvPr>
            <p:ph idx="7" type="pic"/>
          </p:nvPr>
        </p:nvSpPr>
        <p:spPr>
          <a:xfrm>
            <a:off x="3287869" y="1210655"/>
            <a:ext cx="2568300" cy="158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38"/>
          <p:cNvSpPr/>
          <p:nvPr>
            <p:ph idx="8" type="pic"/>
          </p:nvPr>
        </p:nvSpPr>
        <p:spPr>
          <a:xfrm>
            <a:off x="6058875" y="1210650"/>
            <a:ext cx="2568300" cy="1587300"/>
          </a:xfrm>
          <a:prstGeom prst="rect">
            <a:avLst/>
          </a:prstGeom>
          <a:noFill/>
          <a:ln>
            <a:noFill/>
          </a:ln>
        </p:spPr>
      </p:sp>
      <p:pic>
        <p:nvPicPr>
          <p:cNvPr id="134" name="Google Shape;134;p38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816">
          <p15:clr>
            <a:srgbClr val="FBAE40"/>
          </p15:clr>
        </p15:guide>
        <p15:guide id="2" pos="1944">
          <p15:clr>
            <a:srgbClr val="FBAE40"/>
          </p15:clr>
        </p15:guide>
        <p15:guide id="3" pos="2067">
          <p15:clr>
            <a:srgbClr val="FBAE40"/>
          </p15:clr>
        </p15:guide>
        <p15:guide id="4" pos="368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as">
  <p:cSld name="4 columna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9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39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38" name="Google Shape;138;p39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39" name="Google Shape;139;p39"/>
          <p:cNvSpPr txBox="1"/>
          <p:nvPr>
            <p:ph idx="1" type="body"/>
          </p:nvPr>
        </p:nvSpPr>
        <p:spPr>
          <a:xfrm>
            <a:off x="521494" y="1207889"/>
            <a:ext cx="19176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40" name="Google Shape;140;p39"/>
          <p:cNvSpPr txBox="1"/>
          <p:nvPr>
            <p:ph idx="3" type="body"/>
          </p:nvPr>
        </p:nvSpPr>
        <p:spPr>
          <a:xfrm>
            <a:off x="2573536" y="1207889"/>
            <a:ext cx="19311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41" name="Google Shape;141;p39"/>
          <p:cNvSpPr txBox="1"/>
          <p:nvPr>
            <p:ph idx="4" type="body"/>
          </p:nvPr>
        </p:nvSpPr>
        <p:spPr>
          <a:xfrm>
            <a:off x="4626173" y="1207889"/>
            <a:ext cx="19443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42" name="Google Shape;142;p39"/>
          <p:cNvSpPr txBox="1"/>
          <p:nvPr>
            <p:ph idx="5" type="body"/>
          </p:nvPr>
        </p:nvSpPr>
        <p:spPr>
          <a:xfrm>
            <a:off x="6708098" y="1207889"/>
            <a:ext cx="19176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43" name="Google Shape;143;p39"/>
          <p:cNvSpPr txBox="1"/>
          <p:nvPr>
            <p:ph idx="6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144" name="Google Shape;144;p39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914">
          <p15:clr>
            <a:srgbClr val="FBAE40"/>
          </p15:clr>
        </p15:guide>
        <p15:guide id="2" pos="2838">
          <p15:clr>
            <a:srgbClr val="FBAE40"/>
          </p15:clr>
        </p15:guide>
        <p15:guide id="3" pos="4224">
          <p15:clr>
            <a:srgbClr val="FBAE40"/>
          </p15:clr>
        </p15:guide>
        <p15:guide id="4" pos="1536">
          <p15:clr>
            <a:srgbClr val="FBAE40"/>
          </p15:clr>
        </p15:guide>
        <p15:guide id="5" pos="1621">
          <p15:clr>
            <a:srgbClr val="FBAE40"/>
          </p15:clr>
        </p15:guide>
        <p15:guide id="6" pos="413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as con imagen">
  <p:cSld name="4 columnas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0"/>
          <p:cNvSpPr txBox="1"/>
          <p:nvPr/>
        </p:nvSpPr>
        <p:spPr>
          <a:xfrm>
            <a:off x="8653475" y="4871793"/>
            <a:ext cx="24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800"/>
              <a:buFont typeface="Lexend"/>
              <a:buNone/>
            </a:pPr>
            <a:fld id="{00000000-1234-1234-1234-123412341234}" type="slidenum">
              <a:rPr b="0" i="0" lang="es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40"/>
          <p:cNvSpPr txBox="1"/>
          <p:nvPr>
            <p:ph type="title"/>
          </p:nvPr>
        </p:nvSpPr>
        <p:spPr>
          <a:xfrm>
            <a:off x="518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48" name="Google Shape;148;p40"/>
          <p:cNvSpPr txBox="1"/>
          <p:nvPr>
            <p:ph idx="2" type="title"/>
          </p:nvPr>
        </p:nvSpPr>
        <p:spPr>
          <a:xfrm>
            <a:off x="3281400" y="4845000"/>
            <a:ext cx="189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0" sz="800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49" name="Google Shape;149;p40"/>
          <p:cNvSpPr txBox="1"/>
          <p:nvPr>
            <p:ph idx="1" type="body"/>
          </p:nvPr>
        </p:nvSpPr>
        <p:spPr>
          <a:xfrm>
            <a:off x="521494" y="3035128"/>
            <a:ext cx="19176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50" name="Google Shape;150;p40"/>
          <p:cNvSpPr txBox="1"/>
          <p:nvPr>
            <p:ph idx="3" type="body"/>
          </p:nvPr>
        </p:nvSpPr>
        <p:spPr>
          <a:xfrm>
            <a:off x="2573541" y="3035118"/>
            <a:ext cx="19311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51" name="Google Shape;151;p40"/>
          <p:cNvSpPr txBox="1"/>
          <p:nvPr>
            <p:ph idx="4" type="body"/>
          </p:nvPr>
        </p:nvSpPr>
        <p:spPr>
          <a:xfrm>
            <a:off x="4626169" y="3035119"/>
            <a:ext cx="19443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52" name="Google Shape;152;p40"/>
          <p:cNvSpPr txBox="1"/>
          <p:nvPr>
            <p:ph idx="5" type="body"/>
          </p:nvPr>
        </p:nvSpPr>
        <p:spPr>
          <a:xfrm>
            <a:off x="6708094" y="3035110"/>
            <a:ext cx="19176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rgbClr val="1C1E3B"/>
                </a:solidFill>
              </a:defRPr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Char char="•"/>
              <a:defRPr sz="700"/>
            </a:lvl5pPr>
            <a:lvl6pPr indent="-2730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53" name="Google Shape;153;p40"/>
          <p:cNvSpPr txBox="1"/>
          <p:nvPr>
            <p:ph idx="6"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sp>
        <p:nvSpPr>
          <p:cNvPr id="154" name="Google Shape;154;p40"/>
          <p:cNvSpPr/>
          <p:nvPr>
            <p:ph idx="7" type="pic"/>
          </p:nvPr>
        </p:nvSpPr>
        <p:spPr>
          <a:xfrm>
            <a:off x="532884" y="1220231"/>
            <a:ext cx="1895400" cy="15618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40"/>
          <p:cNvSpPr/>
          <p:nvPr>
            <p:ph idx="8" type="pic"/>
          </p:nvPr>
        </p:nvSpPr>
        <p:spPr>
          <a:xfrm>
            <a:off x="2591428" y="1225238"/>
            <a:ext cx="1895400" cy="15618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40"/>
          <p:cNvSpPr/>
          <p:nvPr>
            <p:ph idx="9" type="pic"/>
          </p:nvPr>
        </p:nvSpPr>
        <p:spPr>
          <a:xfrm>
            <a:off x="4649972" y="1225238"/>
            <a:ext cx="1895400" cy="15618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40"/>
          <p:cNvSpPr/>
          <p:nvPr>
            <p:ph idx="13" type="pic"/>
          </p:nvPr>
        </p:nvSpPr>
        <p:spPr>
          <a:xfrm>
            <a:off x="6719119" y="1220231"/>
            <a:ext cx="1895400" cy="1561800"/>
          </a:xfrm>
          <a:prstGeom prst="rect">
            <a:avLst/>
          </a:prstGeom>
          <a:noFill/>
          <a:ln>
            <a:noFill/>
          </a:ln>
        </p:spPr>
      </p:sp>
      <p:pic>
        <p:nvPicPr>
          <p:cNvPr id="158" name="Google Shape;158;p40" title="logos-fundae-fondo-bl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914">
          <p15:clr>
            <a:srgbClr val="FBAE40"/>
          </p15:clr>
        </p15:guide>
        <p15:guide id="2" pos="2838">
          <p15:clr>
            <a:srgbClr val="FBAE40"/>
          </p15:clr>
        </p15:guide>
        <p15:guide id="3" pos="4224">
          <p15:clr>
            <a:srgbClr val="FBAE40"/>
          </p15:clr>
        </p15:guide>
        <p15:guide id="4" pos="1536">
          <p15:clr>
            <a:srgbClr val="FBAE40"/>
          </p15:clr>
        </p15:guide>
        <p15:guide id="5" pos="1621">
          <p15:clr>
            <a:srgbClr val="FBAE40"/>
          </p15:clr>
        </p15:guide>
        <p15:guide id="6" pos="4139">
          <p15:clr>
            <a:srgbClr val="FBAE40"/>
          </p15:clr>
        </p15:guide>
        <p15:guide id="7" orient="horz" pos="1829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ítulo" showMasterSp="0">
  <p:cSld name="Sólo título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chie.png" id="160" name="Google Shape;16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8225725">
            <a:off x="108825" y="319487"/>
            <a:ext cx="328510" cy="32851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1"/>
          <p:cNvSpPr txBox="1"/>
          <p:nvPr>
            <p:ph type="title"/>
          </p:nvPr>
        </p:nvSpPr>
        <p:spPr>
          <a:xfrm>
            <a:off x="529031" y="347119"/>
            <a:ext cx="8100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sz="2300">
                <a:solidFill>
                  <a:srgbClr val="1C1E3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  <p:pic>
        <p:nvPicPr>
          <p:cNvPr id="162" name="Google Shape;162;p41" title="logos-fundae-fondo-bl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/>
          <p:nvPr>
            <p:ph type="title"/>
          </p:nvPr>
        </p:nvSpPr>
        <p:spPr>
          <a:xfrm>
            <a:off x="1664963" y="344091"/>
            <a:ext cx="6957600" cy="42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165" name="Google Shape;16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8100000">
            <a:off x="472277" y="2091661"/>
            <a:ext cx="807775" cy="80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2"/>
          <p:cNvSpPr/>
          <p:nvPr/>
        </p:nvSpPr>
        <p:spPr>
          <a:xfrm>
            <a:off x="128588" y="214313"/>
            <a:ext cx="821700" cy="55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42"/>
          <p:cNvSpPr txBox="1"/>
          <p:nvPr>
            <p:ph idx="12" type="sldNum"/>
          </p:nvPr>
        </p:nvSpPr>
        <p:spPr>
          <a:xfrm>
            <a:off x="8730304" y="4848301"/>
            <a:ext cx="270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68" name="Google Shape;168;p42" title="logos-fundae-fondo-bl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9975" y="4696403"/>
            <a:ext cx="2681000" cy="4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" showMasterSp="0">
  <p:cSld name="Vacía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idx="1" type="body"/>
          </p:nvPr>
        </p:nvSpPr>
        <p:spPr>
          <a:xfrm>
            <a:off x="521494" y="1207889"/>
            <a:ext cx="81009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5C2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5C20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1C1E3B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5C20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1C1E3B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5C200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rgbClr val="1C1E3B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5C200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rgbClr val="1C1E3B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857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•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857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•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857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•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857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•"/>
              <a:defRPr b="0" i="0" sz="9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descr="techie.png" id="7" name="Google Shape;7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8225725">
            <a:off x="108825" y="319487"/>
            <a:ext cx="328510" cy="32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09530" y="4856439"/>
            <a:ext cx="608604" cy="18673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2"/>
          <p:cNvSpPr txBox="1"/>
          <p:nvPr/>
        </p:nvSpPr>
        <p:spPr>
          <a:xfrm>
            <a:off x="3627739" y="4839891"/>
            <a:ext cx="1890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" name="Google Shape;10;p22"/>
          <p:cNvSpPr txBox="1"/>
          <p:nvPr/>
        </p:nvSpPr>
        <p:spPr>
          <a:xfrm>
            <a:off x="3627253" y="4846203"/>
            <a:ext cx="1890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" name="Google Shape;11;p22"/>
          <p:cNvSpPr txBox="1"/>
          <p:nvPr>
            <p:ph idx="12" type="sldNum"/>
          </p:nvPr>
        </p:nvSpPr>
        <p:spPr>
          <a:xfrm>
            <a:off x="8730304" y="4848301"/>
            <a:ext cx="270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" name="Google Shape;12;p22"/>
          <p:cNvSpPr txBox="1"/>
          <p:nvPr>
            <p:ph type="title"/>
          </p:nvPr>
        </p:nvSpPr>
        <p:spPr>
          <a:xfrm>
            <a:off x="629400" y="347125"/>
            <a:ext cx="7992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61B2B"/>
              </a:buClr>
              <a:buSzPts val="1400"/>
              <a:buFont typeface="Lexend"/>
              <a:buNone/>
              <a:defRPr b="1" i="0" sz="2300" u="none" cap="none" strike="noStrike">
                <a:solidFill>
                  <a:srgbClr val="1C1E3B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7">
          <p15:clr>
            <a:srgbClr val="F26B43"/>
          </p15:clr>
        </p15:guide>
        <p15:guide id="2" pos="329">
          <p15:clr>
            <a:srgbClr val="F26B43"/>
          </p15:clr>
        </p15:guide>
        <p15:guide id="3" pos="5431">
          <p15:clr>
            <a:srgbClr val="F26B43"/>
          </p15:clr>
        </p15:guide>
        <p15:guide id="4" orient="horz" pos="761">
          <p15:clr>
            <a:srgbClr val="F26B43"/>
          </p15:clr>
        </p15:guide>
        <p15:guide id="5" orient="horz" pos="3134">
          <p15:clr>
            <a:srgbClr val="F26B43"/>
          </p15:clr>
        </p15:guide>
        <p15:guide id="6" orient="horz" pos="2896">
          <p15:clr>
            <a:srgbClr val="F26B43"/>
          </p15:clr>
        </p15:guide>
        <p15:guide id="7" orient="horz" pos="651">
          <p15:clr>
            <a:srgbClr val="F26B43"/>
          </p15:clr>
        </p15:guide>
        <p15:guide id="8" orient="horz" pos="304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"/>
          <p:cNvSpPr txBox="1"/>
          <p:nvPr/>
        </p:nvSpPr>
        <p:spPr>
          <a:xfrm>
            <a:off x="5098050" y="1049350"/>
            <a:ext cx="3457800" cy="250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2000" b="1"/>
              <a:t>Desarrollo de aplicaciones empresariales con Java</a:t>
            </a:r>
            <a:endParaRPr b="0" i="0" sz="1400" u="none" cap="none" strike="noStrike">
              <a:solidFill>
                <a:srgbClr val="1C1E3B"/>
              </a:solidFill>
              <a:latin typeface="Lexend"/>
              <a:ea typeface="Lexend"/>
              <a:cs typeface="Lexend"/>
              <a:sym typeface="Lexend"/>
            </a:endParaRPr>
          </a:p>
          <a:p>
            <a:r>
              <a:rPr sz="1200"/>
              <a:t>Java Enterprise Edition</a:t>
            </a:r>
          </a:p>
          <a:p>
            <a:r>
              <a:rPr sz="800"/>
              <a:t/>
            </a:r>
          </a:p>
          <a:p>
            <a:r>
              <a:rPr sz="900"/>
              <a:t>Presentación del curso · el detalle está en el manual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/>
          <p:nvPr>
            <p:ph type="title"/>
          </p:nvPr>
        </p:nvSpPr>
        <p:spPr>
          <a:xfrm>
            <a:off x="1842216" y="1714453"/>
            <a:ext cx="4381200" cy="16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3000"/>
              <a:t>Que un programa funcione
se da por descontado.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idea que sostiene todo el curso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Presentación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introducción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Si no funciona, no es un programa: es una colección de ficheros de texto con pretensiones.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 que marca la diferencia entre un buen sistema y uno malo es que ENVEJEZCA BIEN: que sea fácil de entender, de modificar y de evolucionar.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Si de todo el curso sólo se retiene una idea, que sea ésta:</a:t>
            </a:r>
          </a:p>
          <a:p>
            <a:pPr/>
            <a:r>
              <a:rPr sz="1300" b="1"/>
              <a:t>El coste de un producto de software no está en escribirlo. Está en mantenerlo.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Presentación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introducción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Esta presentación</a:t>
            </a:r>
          </a:p>
          <a:p>
            <a:pPr lvl="1"/>
            <a:r>
              <a:rPr sz="1100"/>
              <a:t>Es el hilo de las sesiones.</a:t>
            </a:r>
          </a:p>
          <a:p>
            <a:pPr lvl="1"/>
            <a:r>
              <a:rPr sz="1100"/>
              <a:t>Los conceptos, los ejemplos de código y las decisiones, en el orden en que se explican.</a:t>
            </a:r>
          </a:p>
          <a:p>
            <a:pPr lvl="1"/>
            <a:r>
              <a:rPr sz="1100"/>
              <a:t>Cada diapositiva indica en el pie el capítulo del manual donde está desarrollado el tema.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El manual del curso</a:t>
            </a:r>
          </a:p>
          <a:p>
            <a:pPr lvl="1"/>
            <a:r>
              <a:rPr sz="1100"/>
              <a:t>113 páginas con todo el detalle.</a:t>
            </a:r>
          </a:p>
          <a:p>
            <a:pPr lvl="1"/>
            <a:r>
              <a:rPr sz="1100"/>
              <a:t>El razonamiento completo de cada decisión.</a:t>
            </a:r>
          </a:p>
          <a:p>
            <a:pPr lvl="1"/>
            <a:r>
              <a:rPr sz="1100"/>
              <a:t>Glosario, referencia de comandos y 65 ejercicios con solución.</a:t>
            </a:r>
          </a:p>
          <a:p>
            <a:pPr lvl="1"/>
            <a:r>
              <a:rPr sz="1100"/>
              <a:t>Es el documento al que volver meses después.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Cómo usar este material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Cómo está organizado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Presentación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introducción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PARTE I · FUNDAMENTOS</a:t>
            </a:r>
          </a:p>
          <a:p>
            <a:pPr lvl="1"/>
            <a:r>
              <a:rPr sz="1150"/>
              <a:t>Doce capítulos organizados por materia. Cada uno se puede consultar por separado: qué es el classpath, cómo funcionan los códigos de estado HTTP, qué hace @Entity.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PARTE II · EL PROYECTO, PASO A PASO</a:t>
            </a:r>
          </a:p>
          <a:p>
            <a:pPr lvl="1"/>
            <a:r>
              <a:rPr sz="1150"/>
              <a:t>Seis capítulos que reconstruyen el sistema desde la primera versión hasta la última. No hay conceptos nuevos: se muestra cómo se aplicaron y cuánto costó cada cambio.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APÉNDICES</a:t>
            </a:r>
          </a:p>
          <a:p>
            <a:pPr lvl="1"/>
            <a:r>
              <a:rPr sz="1150"/>
              <a:t>El mapa del temario oficial, un glosario y una referencia rápida de comandos.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Los seis bloques del curso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1351787"/>
                <a:gridCol w="4055363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Bloque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Capítulos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Contenido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Diseñar para el cambio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3 y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Componentes, SOLID, patrones de diseño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El entorno y la calidad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2 y 5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Maven, módulos, pruebas automatizadas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Sistemas distribuidos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6, 7 y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Arquitecturas, HTTP, REST, tecnologías heredadas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El stack de hoy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9, 10 y 11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Spring, JPA e Hibernate, programación funcional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El lenguaje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Java: qué es y en qué estado está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IA en el desarrollo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Modelos, agentes, contexto y qué no delegar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Presentación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introducción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un proyecto que lo atraviesa todo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Presentación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introducción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Una aplicación de diccionarios.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Busca una palabra en un idioma y devuelve sus significados. Si no existe, sugiere las más parecidas.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Empezó siendo diez ficheros sueltos en una carpeta y terminó siendo un sistema distribuido, con base de datos y tres interfaces de usuario.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Todos los ejemplos de código de esta presentación son código real de ese proyecto, disponible en el repositorio del curso.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1 · Java: el lenguaje y su estado actual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Tipado estático y dinámico</a:t>
            </a:r>
          </a:p>
          <a:p>
            <a:pPr/>
            <a:r>
              <a:rPr sz="900"/>
              <a:t>Gestión automática de la memoria</a:t>
            </a:r>
          </a:p>
          <a:p>
            <a:pPr/>
            <a:r>
              <a:rPr sz="900"/>
              <a:t>Compilación e interpretación</a:t>
            </a:r>
          </a:p>
          <a:p>
            <a:pPr/>
            <a:r>
              <a:rPr sz="900"/>
              <a:t>Historia, versiones y el papel de Oracle</a:t>
            </a:r>
          </a:p>
          <a:p>
            <a:pPr/>
            <a:r>
              <a:rPr sz="900"/>
              <a:t>Versionado semántico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Antes de construir, entender la herramienta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Toda decisión de diseño de un lenguaje se paga con algo</a:t>
            </a:r>
          </a:p>
          <a:p>
            <a:pPr lvl="1"/>
            <a:r>
              <a:rPr sz="1150"/>
              <a:t>Java tomó decisiones muy concretas en los años noventa.</a:t>
            </a:r>
          </a:p>
          <a:p>
            <a:pPr lvl="1"/>
            <a:r>
              <a:rPr sz="1150"/>
              <a:t>Unas le han dado ventaja durante treinta años.</a:t>
            </a:r>
          </a:p>
          <a:p>
            <a:pPr lvl="1"/>
            <a:r>
              <a:rPr sz="1150"/>
              <a:t>Otras explican por qué hoy ocupa el nicho que ocupa.</a:t>
            </a:r>
          </a:p>
          <a:p>
            <a:pPr lvl="1"/>
            <a:r>
              <a:rPr sz="1150"/>
              <a:t>Ninguna de esas decisiones es gratuita.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 que veremos en este capítulo</a:t>
            </a:r>
          </a:p>
          <a:p>
            <a:pPr lvl="1"/>
            <a:r>
              <a:rPr sz="1150"/>
              <a:t>Qué es realmente una variable, y por qué no es lo mismo en Java que en C.</a:t>
            </a:r>
          </a:p>
          <a:p>
            <a:pPr lvl="1"/>
            <a:r>
              <a:rPr sz="1150"/>
              <a:t>Por qué Java gasta más memoria de la que necesita, a propósito.</a:t>
            </a:r>
          </a:p>
          <a:p>
            <a:pPr lvl="1"/>
            <a:r>
              <a:rPr sz="1150"/>
              <a:t>Qué se instala de verdad cuando se instala Java.</a:t>
            </a:r>
          </a:p>
          <a:p>
            <a:pPr lvl="1"/>
            <a:r>
              <a:rPr sz="1150"/>
              <a:t>En qué estado está el lenguaje hoy y por qué.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1.1 · Qué es una variable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Todo lenguaje manipula datos, y los datos tienen tipo</a:t>
            </a:r>
          </a:p>
          <a:p>
            <a:pPr lvl="1"/>
            <a:r>
              <a:rPr sz="1150"/>
              <a:t>Números, textos, fechas… eso lo tienen todos.</a:t>
            </a:r>
          </a:p>
          <a:p>
            <a:pPr lvl="1"/>
            <a:r>
              <a:rPr sz="1150"/>
              <a:t>Lo que cambia de un lenguaje a otro es qué es una VARIABLE.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Dos familias distintas</a:t>
            </a:r>
          </a:p>
          <a:p>
            <a:pPr lvl="1"/>
            <a:r>
              <a:rPr sz="1150"/>
              <a:t>En C, C++, Pascal o COBOL una variable es un CONTENEDOR: un espacio de memoria donde se guarda un valor.</a:t>
            </a:r>
          </a:p>
          <a:p>
            <a:pPr lvl="1"/>
            <a:r>
              <a:rPr sz="1150"/>
              <a:t>En Java, JavaScript, TypeScript o Python NO es un contenedor.</a:t>
            </a:r>
          </a:p>
          <a:p>
            <a:pPr lvl="1"/>
            <a:r>
              <a:rPr sz="1150"/>
              <a:t>Entender esta diferencia evita muchos malentendidos posteriores.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Una línea, tres cosas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Esta línea, que parece una sola operación, se ejecuta en tres pasos: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46240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1C1E3B"/>
                </a:solidFill>
                <a:latin typeface="Menlo"/>
              </a:rPr>
              <a:t>String texto = "Hola";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236343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1 · "Hola"       Se crea en memoria un objeto de tipo String. La RAM es un cuaderno de cuadrícula: se abre por un sitio libre y se escribe ahí.</a:t>
            </a:r>
          </a:p>
          <a:p>
            <a:r>
              <a:rPr sz="1150"/>
              <a:t>2 · String texto  Se crea la variable. Una variable es un PÓSIT: un marcador con un nombre escrito.</a:t>
            </a:r>
          </a:p>
          <a:p>
            <a:r>
              <a:rPr sz="1150"/>
              <a:t>3 · =             Ese pósit se pega al lado del dato.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Tipado estático o fuerte</a:t>
            </a:r>
          </a:p>
          <a:p>
            <a:pPr lvl="1"/>
            <a:r>
              <a:rPr sz="1100"/>
              <a:t>Java, TypeScript, C, Kotlin.</a:t>
            </a:r>
          </a:p>
          <a:p>
            <a:pPr lvl="1"/>
            <a:r>
              <a:rPr sz="1100"/>
              <a:t>Los pósits son de distintos colores según el tipo de dato al que pueden apuntar.</a:t>
            </a:r>
          </a:p>
          <a:p>
            <a:pPr lvl="1"/>
            <a:r>
              <a:rPr sz="1100"/>
              <a:t>Azul para String, amarillo para Integer, verde para Boolean.</a:t>
            </a:r>
          </a:p>
          <a:p>
            <a:pPr lvl="1"/>
            <a:r>
              <a:rPr sz="1100"/>
              <a:t>La variable, además del dato, TIENE TIPO.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Tipado dinámico o débil</a:t>
            </a:r>
          </a:p>
          <a:p>
            <a:pPr lvl="1"/>
            <a:r>
              <a:rPr sz="1100"/>
              <a:t>JavaScript, Python, Ruby, PHP.</a:t>
            </a:r>
          </a:p>
          <a:p>
            <a:pPr lvl="1"/>
            <a:r>
              <a:rPr sz="1100"/>
              <a:t>Todos los pósits son iguales.</a:t>
            </a:r>
          </a:p>
          <a:p>
            <a:pPr lvl="1"/>
            <a:r>
              <a:rPr sz="1100"/>
              <a:t>Cualquier variable puede apuntar a cualquier cosa.</a:t>
            </a:r>
          </a:p>
          <a:p>
            <a:pPr lvl="1"/>
            <a:r>
              <a:rPr sz="1100"/>
              <a:t>La variable no tiene tipo: sólo lo tiene el dato.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El color de los pósits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consecuencia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3990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String texto = "Hola";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texto = 4;              // Error de COMPILACIÓN en Java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# Python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texto = "Hola"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texto = 4               # Perfectamente válido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697480"/>
            <a:ext cx="8110727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En Java el error aparece al compilar. En Python, si aparece, aparecerá en producción.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Por qué el tipado estático se considera una ventaja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La misma función, declarada de dos maneras: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2085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// Tipado dinámico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funcion generarInforme(titulo, datos)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// Tipado estático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PDFDocument generarInforme(String titulo, List&lt;Integer&gt; datos)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82468"/>
            <a:ext cx="8110727" cy="1635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La segunda dice qué hay que pasarle y qué devuelve sin leer una línea de implementación ni consultar documentación.</a:t>
            </a:r>
          </a:p>
          <a:p>
            <a:r>
              <a:rPr sz="1150"/>
              <a:t>Y si alguien se equivoca, el compilador lo detiene antes de que llegue a ejecutarse.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El tipado dinámico es cómodo:
se escribe menos.
El estático es una red de seguridad.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Cuándo compensa cada uno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Tipado dinámico</a:t>
            </a:r>
          </a:p>
          <a:p>
            <a:pPr lvl="1"/>
            <a:r>
              <a:rPr sz="1150"/>
              <a:t>Programa pequeño, de un solo autor, vida corta.</a:t>
            </a:r>
          </a:p>
          <a:p>
            <a:pPr lvl="1"/>
            <a:r>
              <a:rPr sz="1150"/>
              <a:t>Se escribe menos y se avanza más rápido al principio.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Tipado estático</a:t>
            </a:r>
          </a:p>
          <a:p>
            <a:pPr lvl="1"/>
            <a:r>
              <a:rPr sz="1150"/>
              <a:t>En cuanto el programa crece o hay varias personas trabajando sobre él.</a:t>
            </a:r>
          </a:p>
          <a:p>
            <a:pPr lvl="1"/>
            <a:r>
              <a:rPr sz="1150"/>
              <a:t>Deja de ser una molestia y pasa a ser una red de seguridad.</a:t>
            </a:r>
          </a:p>
          <a:p>
            <a:pPr lvl="1"/>
            <a:r>
              <a:rPr sz="1150"/>
              <a:t>El compilador comprueba, en cada cambio, todo lo que ya estaba escrito.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 la misma lógica que recorrerá todo el curso: lo que cuesta al principio se recupera durante la vida del producto.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1.2 · Gestión automática de la memoria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Java, JavaScript y Python gestionan la memoria por nosotros</a:t>
            </a:r>
          </a:p>
          <a:p>
            <a:pPr lvl="1"/>
            <a:r>
              <a:rPr sz="1150"/>
              <a:t>El desarrollador no reserva ni libera memoria.</a:t>
            </a:r>
          </a:p>
          <a:p>
            <a:pPr lvl="1"/>
            <a:r>
              <a:rPr sz="1150"/>
              <a:t>Eso tiene una consecuencia que casi nunca se explica.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Qué pasa realmente al reasignar una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6687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1C1E3B"/>
                </a:solidFill>
                <a:latin typeface="Menlo"/>
              </a:rPr>
              <a:t>String texto = "Hola";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1C1E3B"/>
                </a:solidFill>
                <a:latin typeface="Menlo"/>
              </a:rPr>
              <a:t>texto = "adios";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967230"/>
            <a:ext cx="8110727" cy="2650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Java NO sobrescribe el dato anterior: crea "adios" en otro lugar y despega el pósit de "Hola" para pegarlo al nuevo.</a:t>
            </a:r>
          </a:p>
          <a:p>
            <a:r>
              <a:rPr sz="1150"/>
              <a:t>En ese instante hay DOS cadenas en memoria. En C o Pascal habría una sola.</a:t>
            </a:r>
          </a:p>
          <a:p>
            <a:r>
              <a:rPr sz="1150"/>
              <a:t>Como a "Hola" ya no apunta nadie, queda marcado como BASURA (garbage).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Qué hace</a:t>
            </a:r>
          </a:p>
          <a:p>
            <a:pPr lvl="1"/>
            <a:r>
              <a:rPr sz="1100"/>
              <a:t>Es un proceso que se ejecuta en paralelo con el programa.</a:t>
            </a:r>
          </a:p>
          <a:p>
            <a:pPr lvl="1"/>
            <a:r>
              <a:rPr sz="1100"/>
              <a:t>Detecta los objetos a los que ya no apunta ninguna variable y libera su memoria.</a:t>
            </a:r>
          </a:p>
          <a:p>
            <a:pPr lvl="1"/>
            <a:r>
              <a:rPr sz="1100"/>
              <a:t>El desarrollador no lo invoca ni controla cuándo entra.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Qué evita</a:t>
            </a:r>
          </a:p>
          <a:p>
            <a:pPr lvl="1"/>
            <a:r>
              <a:rPr sz="1100"/>
              <a:t>En C o C++ hay que liberar la memoria explícitamente.</a:t>
            </a:r>
          </a:p>
          <a:p>
            <a:pPr lvl="1"/>
            <a:r>
              <a:rPr sz="1100"/>
              <a:t>Si se olvida, el programa acumula memoria hasta agotarla (memory leak) y se detiene.</a:t>
            </a:r>
          </a:p>
          <a:p>
            <a:pPr lvl="1"/>
            <a:r>
              <a:rPr sz="1100"/>
              <a:t>Es una fuente constante de errores difíciles de encontrar.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El recolector de basura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Java fue diseñado deliberadamente
para hacer un uso ineficiente
de la memoria.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No es un defecto: es una decisión económica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Cifras orientativas para un mismo desarrollo: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6025"/>
                <a:gridCol w="2317350"/>
                <a:gridCol w="2317350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Java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 / C++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Esfuerzo de desarrollo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300 horas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400 horas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Coste por hora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50 €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60 €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Coste de desarrollo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15.000 €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24.000 €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Hardware adicional (RAM)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1.500 €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16.500 €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24.000 €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Dónde deja de valer este razonamiento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La memoria RAM es barata; las horas de desarrollador, no.</a:t>
            </a:r>
          </a:p>
          <a:p>
            <a:pPr/>
            <a:r>
              <a:rPr sz="1300"/>
              <a:t>Java cambia una cosa por la otra, y en la mayoría de los proyectos empresariales sale a cuenta.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Pero el cálculo se invierte cuando…</a:t>
            </a:r>
          </a:p>
          <a:p>
            <a:pPr lvl="1"/>
            <a:r>
              <a:rPr sz="1150"/>
              <a:t>El dispositivo tiene 64 KB de memoria (software empotrado).</a:t>
            </a:r>
          </a:p>
          <a:p>
            <a:pPr lvl="1"/>
            <a:r>
              <a:rPr sz="1150"/>
              <a:t>El coste de infraestructura escala con millones de instancias.</a:t>
            </a:r>
          </a:p>
          <a:p>
            <a:pPr lvl="1"/>
            <a:r>
              <a:rPr sz="1150"/>
              <a:t>El tiempo de respuesta es crítico y las pausas del recolector molestan.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Por eso el software empotrado sigue escribiéndose en C, C++ o Rust.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Compilar</a:t>
            </a:r>
          </a:p>
          <a:p>
            <a:pPr lvl="1"/>
            <a:r>
              <a:rPr sz="1100"/>
              <a:t>Traducir a un lenguaje de nivel inferior ANTES de ejecutar.</a:t>
            </a:r>
          </a:p>
          <a:p>
            <a:pPr lvl="1"/>
            <a:r>
              <a:rPr sz="1100"/>
              <a:t>Es traducir un libro entero antes de distribuirlo.</a:t>
            </a:r>
          </a:p>
          <a:p>
            <a:pPr lvl="1"/>
            <a:r>
              <a:rPr sz="1100"/>
              <a:t>Inconveniente: una traducción distinta por cada sistema operativo y procesador.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Interpretar</a:t>
            </a:r>
          </a:p>
          <a:p>
            <a:pPr lvl="1"/>
            <a:r>
              <a:rPr sz="1100"/>
              <a:t>Traducir DURANTE la ejecución, línea a línea.</a:t>
            </a:r>
          </a:p>
          <a:p>
            <a:pPr lvl="1"/>
            <a:r>
              <a:rPr sz="1100"/>
              <a:t>Es leer un libro con un intérprete al lado.</a:t>
            </a:r>
          </a:p>
          <a:p>
            <a:pPr lvl="1"/>
            <a:r>
              <a:rPr sz="1100"/>
              <a:t>Más lento, pero el mismo original sirve para todos los destinos.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1.3 · Dos formas de llegar al lenguaje máquina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Java hace las dos cosas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Y ahí está su gran idea original: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1291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    compilador                       intérprete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        ↓                                ↓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.java → javac →  .class (bytecode)  →     java      → lenguaje máquina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                                   (la máquina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                                     virtual)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884805"/>
            <a:ext cx="8110727" cy="1732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javac no genera lenguaje máquina, sino BYTECODE: de bajo nivel, pero independiente de la máquina.</a:t>
            </a:r>
          </a:p>
          <a:p>
            <a:r>
              <a:rPr sz="1150"/>
              <a:t>Ese bytecode lo ejecuta la JVM, que sí es específica de cada sistema operativo y procesador.</a:t>
            </a:r>
          </a:p>
          <a:p>
            <a:r>
              <a:rPr sz="1150"/>
              <a:t>De ahí el lema con el que Java se popularizó: write once, run anywhere.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Qué se instala cuando se instala Java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Lo que se instala es la máquina virtual.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una consecuencia práctica que conviene conocer</a:t>
            </a:r>
          </a:p>
          <a:p>
            <a:pPr lvl="1"/>
            <a:r>
              <a:rPr sz="1150"/>
              <a:t>Cualquier lenguaje que compile a bytecode puede ejecutarse sobre la JVM.</a:t>
            </a:r>
          </a:p>
          <a:p>
            <a:pPr lvl="1"/>
            <a:r>
              <a:rPr sz="1150"/>
              <a:t>Kotlin, Scala, Groovy y Clojure lo hacen.</a:t>
            </a:r>
          </a:p>
          <a:p>
            <a:pPr lvl="1"/>
            <a:r>
              <a:rPr sz="1150"/>
              <a:t>Por eso un programa Kotlin puede usar una librería Java sin ningún adaptador: para la máquina virtual son el mismo lenguaje.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1.4 · De dónde viene Java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Lo crea Sun Microsystems. La versión 1.0 se publica en enero de 1996.</a:t>
            </a:r>
          </a:p>
          <a:p>
            <a:pPr/>
            <a:r>
              <a:rPr sz="1300"/>
              <a:t>Su recepción fue extraordinaria: se le llamó el lenguaje del futuro y durante casi una década se usó para todo.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Hoy la situación es muy distinta, y merece la pena entender por qué.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Dónde estaba Java y dónde está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3218"/>
                <a:gridCol w="2433218"/>
                <a:gridCol w="3244290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Hacia el año 2000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Hoy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Aplicaciones de escritorio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Java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JavaScript (Electron), C#, C++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Software empotrado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Java (J2ME)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C, C++, Python, Rust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Web · frontal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Java (JSP, Servlets)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JavaScript, TypeScript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Web · servidor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Java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Java + Spring**, Node.js, Python, Go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Aplicaciones móviles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Java (Android)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Kotlin, Swift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El nicho principal de Java hoy
es el desarrollo de servidor.
Y ahí es excelente.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Qué ocurrió por el camino: Oracle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En abril de 2009 Oracle anuncia la compra de Sun Microsystems; se completa en enero de 2010.</a:t>
            </a:r>
          </a:p>
          <a:p>
            <a:pPr/>
            <a:r>
              <a:rPr sz="1300"/>
              <a:t>Con Sun, Oracle adquiere Java. A partir de ahí la relación de la comunidad con el lenguaje se tensa considerablemente.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Un historial que la comunidad ya conocía</a:t>
            </a:r>
          </a:p>
          <a:p>
            <a:pPr lvl="1"/>
            <a:r>
              <a:rPr sz="1150"/>
              <a:t>MySQL → la comunidad crea MariaDB</a:t>
            </a:r>
          </a:p>
          <a:p>
            <a:pPr lvl="1"/>
            <a:r>
              <a:rPr sz="1150"/>
              <a:t>OpenOffice → la comunidad crea LibreOffice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El pleito con Google</a:t>
            </a:r>
          </a:p>
          <a:p>
            <a:pPr lvl="1"/>
            <a:r>
              <a:rPr sz="1100"/>
              <a:t>Once años de litigio, de 2010 a 2021.</a:t>
            </a:r>
          </a:p>
          <a:p>
            <a:pPr lvl="1"/>
            <a:r>
              <a:rPr sz="1100"/>
              <a:t>Por el uso de las APIs de Java en Android.</a:t>
            </a:r>
          </a:p>
          <a:p>
            <a:pPr lvl="1"/>
            <a:r>
              <a:rPr sz="1100"/>
              <a:t>Lo resolvió el Tribunal Supremo de Estados Unidos a favor de Google.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El cambio de licencia</a:t>
            </a:r>
          </a:p>
          <a:p>
            <a:pPr lvl="1"/>
            <a:r>
              <a:rPr sz="1100"/>
              <a:t>A partir de 2019 Oracle empieza a cobrar por el uso comercial de SU distribución del JDK.</a:t>
            </a:r>
          </a:p>
          <a:p>
            <a:pPr lvl="1"/>
            <a:r>
              <a:rPr sz="1100"/>
              <a:t>Modelo de suscripción: por procesador en servidores, por usuario en puestos.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El conflicto llegó por dos vías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reacción del ecosistema, que explica la situación actual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OpenJDK, la implementación de referencia y de código abierto, se consolidó como base de múltiples distribuciones gratuitas mantenidas por otras compañías.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Eclipse Temurin (antes AdoptOpenJDK)</a:t>
            </a:r>
          </a:p>
          <a:p>
            <a:pPr lvl="1"/>
            <a:r>
              <a:rPr sz="1150"/>
              <a:t>Amazon Corretto</a:t>
            </a:r>
          </a:p>
          <a:p>
            <a:pPr lvl="1"/>
            <a:r>
              <a:rPr sz="1150"/>
              <a:t>Azul Zulu</a:t>
            </a:r>
          </a:p>
          <a:p>
            <a:pPr lvl="1"/>
            <a:r>
              <a:rPr sz="1150"/>
              <a:t>Red Hat build of OpenJDK</a:t>
            </a:r>
          </a:p>
          <a:p>
            <a:pPr lvl="1"/>
            <a:r>
              <a:rPr sz="1150"/>
              <a:t>Microsoft build of OpenJDK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En este curso hemos usado Eclipse Temurin 21.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Hoy nadie está obligado
a pagar por ejecutar Java.
Pero cuidado con de dónde se descarga.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aviso práctico sobre licencias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Descargar “Java” de la web de Oracle e instalarlo en los servidores de una empresa PUEDE tener implicaciones de licencia.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No es un problema técnico: es un problema de contrato, y suele aparecer en auditorías, años después de la instalación.</a:t>
            </a:r>
          </a:p>
          <a:p>
            <a:pPr/>
            <a:r>
              <a:rPr sz="1300"/>
              <a:t>La alternativa es directa: usar cualquiera de las distribuciones de OpenJDK de la diapositiva anterior.</a:t>
            </a:r>
          </a:p>
          <a:p>
            <a:pPr/>
            <a:r>
              <a:rPr sz="1300"/>
              <a:t>Es un asunto que conviene consultar antes de desplegar, no después.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cambio de ritmo del lenguaje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Las versiones salían con cuentagotas: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303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1996  1.0        2006  6      ← 5 años hasta la siguiente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1997  1.1        2011  7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1998  1.2        2014  8      ← 8 años, sólo 2 versiones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2000  1.3        2017  9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2002  1.4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2004  5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059430"/>
            <a:ext cx="8110727" cy="1558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A partir de la versión 9 (2017) se adopta una cadencia fija de SEIS MESES y se abandona la nomenclatura 1.x.</a:t>
            </a:r>
          </a:p>
          <a:p>
            <a:r>
              <a:rPr sz="1150"/>
              <a:t>Cada dos o tres años, una versión se designa LTS (Long Term Support).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versiones de Java desde el cambio de cadencia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Las LTS son las que reciben mantenimiento durante años y las únicas que se usan en producción.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5" cy="2944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3041522"/>
                <a:gridCol w="3041522"/>
              </a:tblGrid>
              <a:tr h="267669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Año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Marzo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Septiembre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6766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766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2018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11 (LTS)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6766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766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2020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14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15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6766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17 (LTS)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766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2022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18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19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6766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21 (LTS)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766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2024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22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23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6766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25 (LTS)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766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2026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26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27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Qué salvó a Java</a:t>
            </a:r>
          </a:p>
          <a:p>
            <a:pPr lvl="1"/>
            <a:r>
              <a:rPr sz="1100"/>
              <a:t>La apertura efectiva del ecosistema en torno a OpenJDK.</a:t>
            </a:r>
          </a:p>
          <a:p>
            <a:pPr lvl="1"/>
            <a:r>
              <a:rPr sz="1100"/>
              <a:t>Y la existencia de Spring, que hizo competitivo construir aplicaciones de servidor en Java.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Qué perdió</a:t>
            </a:r>
          </a:p>
          <a:p>
            <a:pPr lvl="1"/>
            <a:r>
              <a:rPr sz="1100"/>
              <a:t>Google adoptó Kotlin como lenguaje preferente para Android.</a:t>
            </a:r>
          </a:p>
          <a:p>
            <a:pPr lvl="1"/>
            <a:r>
              <a:rPr sz="1100"/>
              <a:t>Kotlin lo creó JetBrains por iniciativa propia; Google lo adoptó en 2017.</a:t>
            </a:r>
          </a:p>
          <a:p>
            <a:pPr lvl="1"/>
            <a:r>
              <a:rPr sz="1100"/>
              <a:t>Compila a bytecode y se ejecuta sobre la JVM.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El desenlace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1.5 · Versionado semántico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El problema que resuelve</a:t>
            </a:r>
          </a:p>
          <a:p>
            <a:pPr lvl="1"/>
            <a:r>
              <a:rPr sz="1150"/>
              <a:t>Si un sistema se construye con componentes que evolucionan por separado, hace falta una convención que diga, sólo mirando el número de versión, si actualizar es seguro.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Esa convención es el versionado semántico, y la usaremos durante todo el curso para versionar nuestros propios módulos.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MAYOR . MENOR . PARCHE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677"/>
                <a:gridCol w="4424032"/>
                <a:gridCol w="2212016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Posición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Sube cuando…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¿Puedo actualizar sin revisar?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MAYOR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Se elimina o se cambia una funcionalidad de forma incompatible (breaking change)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MENOR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Se añade funcionalidad nueva, o se marca una existente como obsoleta (deprecated)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Sí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PARCHE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Se corrigen defectos sin cambiar el comportamiento esperado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Sí, y conviene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Cómo se usa en nuestro proyecto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Todos los módulos van por la versión 1.0.0…</a:t>
            </a:r>
          </a:p>
          <a:p>
            <a:pPr/>
            <a:r>
              <a:rPr sz="1300"/>
              <a:t>…salvo diccionario-elfico, que está en la 1.1.0 porque se le añadieron palabras.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Ése es exactamente el uso previsto</a:t>
            </a:r>
          </a:p>
          <a:p>
            <a:pPr lvl="1"/>
            <a:r>
              <a:rPr sz="1150"/>
              <a:t>Cada módulo se versiona por su cuenta, según lo que le ocurra A ÉL y no al resto del sistema.</a:t>
            </a:r>
          </a:p>
          <a:p>
            <a:pPr lvl="1"/>
            <a:r>
              <a:rPr sz="1150"/>
              <a:t>Añadir palabras al diccionario élfico es un cambio suyo, no del sistema.</a:t>
            </a:r>
          </a:p>
          <a:p>
            <a:pPr lvl="1"/>
            <a:r>
              <a:rPr sz="1150"/>
              <a:t>Quien lo consuma sabe, sólo por el número, que puede actualizar sin miedo.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del capítulo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00"/>
              <a:t>1.1 · Explica, en términos de pósits y datos en memoria, qué ocurre con String a = "uno"; String b = a; a = "dos"; y cuántos objetos quedan.</a:t>
            </a:r>
          </a:p>
          <a:p>
            <a:pPr/>
            <a:r>
              <a:rPr sz="1200"/>
              <a:t>1.2 · Migrar un servicio de Java a C++ ahorraría 400 €/mes de memoria y costaría 250 h a 55 €/h. ¿Cuándo se amortiza? ¿Qué más debería pesar en la decisión?</a:t>
            </a:r>
          </a:p>
          <a:p>
            <a:pPr/>
            <a:r>
              <a:rPr sz="1200"/>
              <a:t>1.3 · Una dependencia pasa de 4.2.7 a 4.3.0. ¿Puedes actualizar sin revisar? ¿Y a 5.0.0? ¿Y a 4.2.9?</a:t>
            </a:r>
          </a:p>
          <a:p>
            <a:pPr/>
            <a:r>
              <a:rPr sz="1200"/>
              <a:t>1.4 · ¿Por qué un programa Kotlin puede usar una librería Java sin adaptador?</a:t>
            </a:r>
          </a:p>
          <a:p>
            <a:pPr/>
            <a:r>
              <a:rPr sz="1200"/>
              <a:t/>
            </a:r>
          </a:p>
          <a:p>
            <a:pPr/>
            <a:r>
              <a:rPr sz="1200"/>
              <a:t>Soluciones comentadas en el apéndice D del manual.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2 · El entorno de trabajo y Maven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Instalación del entorno</a:t>
            </a:r>
          </a:p>
          <a:p>
            <a:pPr/>
            <a:r>
              <a:rPr sz="900"/>
              <a:t>Qué problema resuelve Maven</a:t>
            </a:r>
          </a:p>
          <a:p>
            <a:pPr/>
            <a:r>
              <a:rPr sz="900"/>
              <a:t>La estructura estándar de un proyecto</a:t>
            </a:r>
          </a:p>
          <a:p>
            <a:pPr/>
            <a:r>
              <a:rPr sz="900"/>
              <a:t>El ciclo de vida y sus fases</a:t>
            </a:r>
          </a:p>
          <a:p>
            <a:pPr/>
            <a:r>
              <a:rPr sz="900"/>
              <a:t>Proyectos multimódulo y perfiles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2.1 · Las tres piezas del entorno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2027681"/>
                <a:gridCol w="4055363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Herramienta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Versión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es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OpenJDK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21 (LTS)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compilador y la máquina virtual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Apache Maven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3.9 o superior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gestor del proyecto y de sus dependencias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Visual Studio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editor de código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Una organización razonable de carpetas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Ni el JDK ni Maven necesitan instalador: basta con descomprimir su ZIP.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653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formacionJEE/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proyectos/          ← la carpeta que se abre en VS Code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java/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    bin/            ← javac, java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    lib/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maven/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    bin/            ← mvn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    lib/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PATH</a:t>
            </a:r>
          </a:p>
          <a:p>
            <a:pPr lvl="1"/>
            <a:r>
              <a:rPr sz="1100"/>
              <a:t>Es la lista de carpetas donde el sistema operativo busca los programas ejecutables.</a:t>
            </a:r>
          </a:p>
          <a:p>
            <a:pPr lvl="1"/>
            <a:r>
              <a:rPr sz="1100"/>
              <a:t>Hay que añadir …/java/bin y …/maven/bin</a:t>
            </a:r>
          </a:p>
          <a:p>
            <a:pPr lvl="1"/>
            <a:r>
              <a:rPr sz="1100"/>
              <a:t>Sin esto, escribir “mvn” en una terminal no encuentra nada.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JAVA_HOME</a:t>
            </a:r>
          </a:p>
          <a:p>
            <a:pPr lvl="1"/>
            <a:r>
              <a:rPr sz="1100"/>
              <a:t>Apunta a la carpeta raíz de la instalación de Java.</a:t>
            </a:r>
          </a:p>
          <a:p>
            <a:pPr lvl="1"/>
            <a:r>
              <a:rPr sz="1100"/>
              <a:t>La consultan Maven y muchísimas otras herramientas para saber qué instalación de Java deben usar.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Lo único imprescindible: dos variables de entorno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Comprobar que todo está bien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Desde una terminal NUEVA (las variables de entorno no se aplican a las ya abiertas):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6687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1C1E3B"/>
                </a:solidFill>
                <a:latin typeface="Menlo"/>
              </a:rPr>
              <a:t>java -version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1C1E3B"/>
                </a:solidFill>
                <a:latin typeface="Menlo"/>
              </a:rPr>
              <a:t>mvn -version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442718"/>
            <a:ext cx="8110727" cy="217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Si alguno de los dos comandos no se encuentra, el problema está en el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2.2 · Qué automatiza Maven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Las tareas repetitivas de cualquier proyecto Java</a:t>
            </a:r>
          </a:p>
          <a:p>
            <a:pPr lvl="1"/>
            <a:r>
              <a:rPr sz="1150"/>
              <a:t>Compilar.</a:t>
            </a:r>
          </a:p>
          <a:p>
            <a:pPr lvl="1"/>
            <a:r>
              <a:rPr sz="1150"/>
              <a:t>Empaquetar.</a:t>
            </a:r>
          </a:p>
          <a:p>
            <a:pPr lvl="1"/>
            <a:r>
              <a:rPr sz="1150"/>
              <a:t>Ejecutar las pruebas.</a:t>
            </a:r>
          </a:p>
          <a:p>
            <a:pPr lvl="1"/>
            <a:r>
              <a:rPr sz="1150"/>
              <a:t>Generar documentación.</a:t>
            </a:r>
          </a:p>
          <a:p>
            <a:pPr lvl="1"/>
            <a:r>
              <a:rPr sz="1150"/>
              <a:t>Desplegar.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Existe una alternativa muy extendida, Gradle, que hace lo mismo con otra sintaxis.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Pero su función más importante, con diferencia, es otra: la GESTIÓN DE DEPENDENCIAS.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problema de las dependencias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Al programar no se escribe todo desde cero: se usan librerías de terceros. Cada una de ellas es una DEPENDENCIA.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Antes de que existieran herramientas como Maven</a:t>
            </a:r>
          </a:p>
          <a:p>
            <a:pPr lvl="1"/>
            <a:r>
              <a:rPr sz="1150"/>
              <a:t>Buscar cada librería en Internet.</a:t>
            </a:r>
          </a:p>
          <a:p>
            <a:pPr lvl="1"/>
            <a:r>
              <a:rPr sz="1150"/>
              <a:t>Descargar el .jar y copiarlo a una carpeta del proyecto.</a:t>
            </a:r>
          </a:p>
          <a:p>
            <a:pPr lvl="1"/>
            <a:r>
              <a:rPr sz="1150"/>
              <a:t>Repetir la operación cada vez que salía una versión nueva.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Y el problema no era sólo el número de librerías…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Cada librería depende de otras,
que dependen de otras.
Eso son las dependencias transitivas.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magnitud real del problema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Un proyecto de tamaño medio termina con más de CIEN librerías en total…</a:t>
            </a:r>
          </a:p>
          <a:p>
            <a:pPr/>
            <a:r>
              <a:rPr sz="1300"/>
              <a:t>…de las cuales el equipo sólo ha pedido explícitamente diez o quince.</a:t>
            </a:r>
          </a:p>
          <a:p>
            <a:pPr/>
            <a:r>
              <a:rPr sz="1300"/>
              <a:t>El resto llegan arrastradas por las primeras.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Reunir a mano las dependencias de un proyecto mediano llevaba días de trabajo, y había que repetirlo con cada actualización.</a:t>
            </a:r>
          </a:p>
          <a:p>
            <a:pPr/>
            <a:r>
              <a:rPr sz="1300" b="1"/>
              <a:t>Ese trabajo lo hace hoy Maven en segundos.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El repositorio remoto</a:t>
            </a:r>
          </a:p>
          <a:p>
            <a:pPr lvl="1"/>
            <a:r>
              <a:rPr sz="1100"/>
              <a:t>Maven descarga desde un repositorio de dependencias.</a:t>
            </a:r>
          </a:p>
          <a:p>
            <a:pPr lvl="1"/>
            <a:r>
              <a:rPr sz="1100"/>
              <a:t>El configurado por defecto es MAVEN CENTRAL.</a:t>
            </a:r>
          </a:p>
          <a:p>
            <a:pPr lvl="1"/>
            <a:r>
              <a:rPr sz="1100"/>
              <a:t>Muchas empresas mantienen el suyo propio (Nexus, Artifactory) para no depender de un servicio externo y controlar qué librerías se permiten.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El repositorio local</a:t>
            </a:r>
          </a:p>
          <a:p>
            <a:pPr lvl="1"/>
            <a:r>
              <a:rPr sz="1100"/>
              <a:t>Todo lo descargado se guarda en una carpeta oculta del equipo:</a:t>
            </a:r>
          </a:p>
          <a:p>
            <a:pPr lvl="1"/>
            <a:r>
              <a:rPr sz="1100" b="1"/>
              <a:t>~/.m2/repository/   (Linux y macOS)</a:t>
            </a:r>
          </a:p>
          <a:p>
            <a:pPr lvl="1"/>
            <a:r>
              <a:rPr sz="1100" b="1"/>
              <a:t>C:\Users\NOMBRE\.m2\repository\   (Windows)</a:t>
            </a:r>
          </a:p>
          <a:p>
            <a:pPr lvl="1"/>
            <a:r>
              <a:rPr sz="1100"/>
              <a:t>De ahí que la primera compilación tarde y las siguientes sean rápidas.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De dónde salen y dónde se guardan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2.3 · La estructura que impone Maven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9229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MI-PROYECTO/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src/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main/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    java/          ← código de la aplicación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    resources/     ← recursos: configuración, datos…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test/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    java/          ← código de las pruebas automatizadas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    resources/     ← recursos sólo de las pruebas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target/                ← todo lo generado. Lo crea y lo borra Maven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pom.xml                ← la configuración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3203067"/>
            <a:ext cx="8110727" cy="141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Es idéntica en cualquier proyecto Java del mundo. Esa uniformidad es una de las mayores aportaciones de Maven.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target/ no se toca y no se versiona</a:t>
            </a:r>
          </a:p>
          <a:p>
            <a:pPr lvl="1"/>
            <a:r>
              <a:rPr sz="1100"/>
              <a:t>Es material derivado.</a:t>
            </a:r>
          </a:p>
          <a:p>
            <a:pPr lvl="1"/>
            <a:r>
              <a:rPr sz="1100"/>
              <a:t>Se puede borrar entera y reconstruir con un comando.</a:t>
            </a:r>
          </a:p>
          <a:p>
            <a:pPr lvl="1"/>
            <a:r>
              <a:rPr sz="1100"/>
              <a:t>Por eso figura siempre en el .gitignore.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Lo de src/main/resources acaba dentro del .jar</a:t>
            </a:r>
          </a:p>
          <a:p>
            <a:pPr lvl="1"/>
            <a:r>
              <a:rPr sz="1100"/>
              <a:t>En nuestro proyecto, los ficheros de diccionario viven ahí.</a:t>
            </a:r>
          </a:p>
          <a:p>
            <a:pPr lvl="1"/>
            <a:r>
              <a:rPr sz="1100"/>
              <a:t>Por eso se leen como recursos del classpath y no como ficheros del disco.</a:t>
            </a:r>
          </a:p>
          <a:p>
            <a:pPr lvl="1"/>
            <a:r>
              <a:rPr sz="1100"/>
              <a:t>Volveremos sobre esto en el capítulo 3.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Dos reglas que conviene interiorizar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2.4 · Las coordenadas de un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pom.xml (Project Object Model) es el fichero de configuración del proyecto. Lo primero que contiene son los tres datos que lo identifican: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7990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&lt;groupId&gt;com.curso&lt;/groupId&gt;              &lt;!-- la organización --&gt;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&lt;artifactId&gt;diccionarios-api&lt;/artifactId&gt; &lt;!-- el componente   --&gt;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&lt;version&gt;1.0.0&lt;/version&gt;                  &lt;!-- la versión      --&gt;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553843"/>
            <a:ext cx="8110727" cy="2063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Esas tres coordenadas identifican el proyecto unívocamente en cualquier repositorio del mundo.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son las mismas con las que se declara una dependencia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12915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&lt;dependency&gt;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&lt;groupId&gt;com.curso&lt;/groupId&gt;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&lt;artifactId&gt;diccionarios-api&lt;/artifactId&gt;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&lt;version&gt;1.0.0&lt;/version&gt;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&lt;/dependency&gt;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427605"/>
            <a:ext cx="8110727" cy="2190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Si otro módulo necesita éste, lo declara exactamente así.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Buena práctica: las versiones, en propiedades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3037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&lt;properties&gt;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&lt;version.de.spring&gt;4.1.0&lt;/version.de.spring&gt;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&lt;/properties&gt;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...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&lt;version&gt;${version.de.spring}&lt;/version&gt;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602230"/>
            <a:ext cx="8110727" cy="2015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Así, cambiar de versión una librería se hace en UN solo sitio, aunque se use en diez dependencias distintas.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2.5 · Cómo ejecuta Maven las tareas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Todo lo hace a través de PLUGINS</a:t>
            </a:r>
          </a:p>
          <a:p>
            <a:pPr lvl="1"/>
            <a:r>
              <a:rPr sz="1150"/>
              <a:t>Hay un plugin para compilar, otro para empaquetar, otro para ejecutar pruebas.</a:t>
            </a:r>
          </a:p>
          <a:p>
            <a:pPr lvl="1"/>
            <a:r>
              <a:rPr sz="1150"/>
              <a:t>Se puede invocar un plugin directamente, pero no es lo habitual.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 habitual es usar el CICLO DE VIDA</a:t>
            </a:r>
          </a:p>
          <a:p>
            <a:pPr lvl="1"/>
            <a:r>
              <a:rPr sz="1150"/>
              <a:t>Una secuencia de FASES ordenadas.</a:t>
            </a:r>
          </a:p>
          <a:p>
            <a:pPr lvl="1"/>
            <a:r>
              <a:rPr sz="1150"/>
              <a:t>Al pedir una fase, Maven ejecuta también TODAS LAS ANTERIORES.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fases del ciclo de vida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2319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resources    Copia src/main/resources/ a target/classes/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↓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compile      Compila src/main/java/ y deja los .class en target/classes/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↓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test         Compila y ejecuta las pruebas de src/test/java/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↓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package      Empaqueta en un .jar, .war o .ear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↓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install      Copia el resultado al repositorio local (~/.m2)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↓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deploy       Lo publica en un repositorio remoto compartido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clean        (fuera del ciclo) Borra la carpeta target/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Qué es un .jar</a:t>
            </a:r>
          </a:p>
          <a:p>
            <a:pPr lvl="1"/>
            <a:r>
              <a:rPr sz="1100"/>
              <a:t>No es más que un fichero ZIP.</a:t>
            </a:r>
          </a:p>
          <a:p>
            <a:pPr lvl="1"/>
            <a:r>
              <a:rPr sz="1100"/>
              <a:t>Contiene las clases compiladas, los recursos y un manifiesto.</a:t>
            </a:r>
          </a:p>
          <a:p>
            <a:pPr lvl="1"/>
            <a:r>
              <a:rPr sz="1100"/>
              <a:t>El manifiesto indica, entre otras cosas, cuál es la clase que tiene el main.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Por qué importa install</a:t>
            </a:r>
          </a:p>
          <a:p>
            <a:pPr lvl="1"/>
            <a:r>
              <a:rPr sz="1100"/>
              <a:t>Es la fase que hace funcionar un proyecto multimódulo.</a:t>
            </a:r>
          </a:p>
          <a:p>
            <a:pPr lvl="1"/>
            <a:r>
              <a:rPr sz="1100"/>
              <a:t>Al instalar un módulo, queda disponible en el repositorio local…</a:t>
            </a:r>
          </a:p>
          <a:p>
            <a:pPr lvl="1"/>
            <a:r>
              <a:rPr sz="1100"/>
              <a:t>…para que los demás lo declaren como dependencia, igual que si fuera una librería descargada de Internet.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Dos detalles que conviene saber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Los comandos que se usan a diario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5407151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Comando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hace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mvn clean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Borra la carpeta target/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mvn compile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Compila el código fuente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mvn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Compila y ejecuta las pruebas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mvn package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Genera el .jar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mvn install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Lo instala en el repositorio 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mvn clean install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Combinación habitual: partir de cero e instalar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mvn dependency:tree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Muestra el árbol completo de dependencias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2.6 · Un proyecto no es un bloque de código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Un proyecto real es un conjunto de componentes.</a:t>
            </a:r>
          </a:p>
          <a:p>
            <a:pPr/>
            <a:r>
              <a:rPr sz="1300"/>
              <a:t>Maven lo resuelve con los PROYECTOS MULTIMÓDULO: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Un pom.xml PADRE que no contiene código y que agrupa a los módulos.</a:t>
            </a:r>
          </a:p>
          <a:p>
            <a:pPr/>
            <a:r>
              <a:rPr sz="1300"/>
              <a:t>Cada módulo tiene su propia carpeta src y su propio pom.xml.</a:t>
            </a:r>
          </a:p>
          <a:p>
            <a:pPr/>
            <a:r>
              <a:rPr sz="1300"/>
              <a:t>Cada módulo se compila, se versiona y se despliega por su cuenta.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padre: agrupa y no tiene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20022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&lt;artifactId&gt;diccionarios&lt;/artifactId&gt;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&lt;version&gt;1.0.0&lt;/version&gt;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&lt;packaging&gt;pom&lt;/packaging&gt;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&lt;modules&gt;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&lt;module&gt;diccionarios-api&lt;/module&gt;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&lt;module&gt;diccionarios-en-ficheros&lt;/module&gt;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&lt;module&gt;servicio-web&lt;/module&gt;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...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&lt;/modules&gt;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hijo: declara quién es su padre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47840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&lt;parent&gt;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&lt;groupId&gt;com.curso&lt;/groupId&gt;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&lt;artifactId&gt;diccionarios&lt;/artifactId&gt;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&lt;version&gt;1.0.0&lt;/version&gt;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&lt;/parent&gt;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&lt;artifactId&gt;diccionarios-api&lt;/artifactId&gt;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776855"/>
            <a:ext cx="8110727" cy="184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Del padre hereda la configuración común —como la versión de Java del compilador— sin tener que repetirla en cada módulo.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Construir todo, o sólo una parte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Desde la carpeta del padre, Maven analiza las dependencias entre módulos y decide él solo el orden correcto de construcción.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62115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mvn install                              # todos los módulos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mvn -pl servicio-web spring-boot:run     # sólo un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395093"/>
            <a:ext cx="8110727" cy="2222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El modificador -pl significa “project list”.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Un módulo es la unidad
de reutilización, de versionado
y de despliegue.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Por qué eso importa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Separar un sistema en módulos permite que alguien escriba una implementación nueva sin tocar —ni siquiera recompilar— lo que ya existe.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 comprobaremos tres veces a lo largo del curso</a:t>
            </a:r>
          </a:p>
          <a:p>
            <a:pPr lvl="1"/>
            <a:r>
              <a:rPr sz="1150"/>
              <a:t>Al pasar de aplicación monolítica a cliente-servidor.</a:t>
            </a:r>
          </a:p>
          <a:p>
            <a:pPr lvl="1"/>
            <a:r>
              <a:rPr sz="1150"/>
              <a:t>Al pasar de ficheros a base de datos.</a:t>
            </a:r>
          </a:p>
          <a:p>
            <a:pPr lvl="1"/>
            <a:r>
              <a:rPr sz="1150"/>
              <a:t>Al añadir dos interfaces de usuario nuevas.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En los tres casos, el coste sobre el código existente fue de una línea o de una dependencia.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2.7 · Perfiles: el mismo pom, distinto comportamiento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 perfil es un bloque de configuración que Maven activa según unas condiciones.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756219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&lt;profile&gt;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&lt;id&gt;javafx-windows&lt;/id&gt;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&lt;activation&gt;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&lt;os&gt;&lt;family&gt;windows&lt;/family&gt;&lt;/os&gt;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&lt;/activation&gt;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&lt;properties&gt;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&lt;javafx.plataforma&gt;win&lt;/javafx.plataforma&gt;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&lt;/properties&gt;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&lt;/profile&gt;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530155"/>
            <a:ext cx="8110727" cy="108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Con varios perfiles como éste, uno por plataforma, el proyecto compila igual en Windows, macOS y Linux sin que nadie toque nada.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Para qué se usan de verdad los perfiles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En nuestro proyecto los usamos por una razón técnica: JavaFX distribuye artefactos distintos según el sistema operativo y el procesador.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una empresa se usan constantemente para otra cosa</a:t>
            </a:r>
          </a:p>
          <a:p>
            <a:pPr lvl="1"/>
            <a:r>
              <a:rPr sz="1150"/>
              <a:t>Separar los entornos de desarrollo, pruebas y producción.</a:t>
            </a:r>
          </a:p>
          <a:p>
            <a:pPr lvl="1"/>
            <a:r>
              <a:rPr sz="1150"/>
              <a:t>Mismo pom.xml, distinta base de datos, distintas credenciales, distintos servidores.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del capítulo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/>
              <a:t>2.1 · Un compañero ejecuta mvn package y falla una prueba. Dice que es un fallo de Maven porque él sólo quería el .jar. ¿Tiene razón? Da dos formas de obtenerlo.</a:t>
            </a:r>
          </a:p>
          <a:p>
            <a:pPr/>
            <a:r>
              <a:rPr sz="1150"/>
              <a:t>2.2 · Al añadir UNA dependencia, ~/.m2 crece en más de treinta .jar. ¿Cómo se explica? ¿Qué comando lo muestra?</a:t>
            </a:r>
          </a:p>
          <a:p>
            <a:pPr/>
            <a:r>
              <a:rPr sz="1150"/>
              <a:t>2.3 · Si se modifica una interfaz de diccionarios-api, ¿basta con mvn install dentro de ese módulo? ¿Qué ocurre si se olvida?</a:t>
            </a:r>
          </a:p>
          <a:p>
            <a:pPr/>
            <a:r>
              <a:rPr sz="1150"/>
              <a:t>2.4 · ¿Por qué los ficheros de diccionario están en src/main/resources y no en una carpeta cualquiera del disco?</a:t>
            </a:r>
          </a:p>
          <a:p>
            <a:pPr/>
            <a:r>
              <a:rPr sz="1150"/>
              <a:t>2.5 · Diseña la estructura multimódulo de un sistema de facturación.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Soluciones comentadas en el apéndice D del manual.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3 · Principios de diseño de software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Por qué un programa se parte en componentes</a:t>
            </a:r>
          </a:p>
          <a:p>
            <a:pPr/>
            <a:r>
              <a:rPr sz="900"/>
              <a:t>Interfaz, clase e instancia</a:t>
            </a:r>
          </a:p>
          <a:p>
            <a:pPr/>
            <a:r>
              <a:rPr sz="900"/>
              <a:t>SoC y DRY</a:t>
            </a:r>
          </a:p>
          <a:p>
            <a:pPr/>
            <a:r>
              <a:rPr sz="900"/>
              <a:t>Los cinco principios SOLID</a:t>
            </a:r>
          </a:p>
          <a:p>
            <a:pPr/>
            <a:r>
              <a:rPr sz="900"/>
              <a:t>La memoria y las cachés · El classpath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3.1 · La solución más simple no es la que buscamos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La solución más simple a cualquier problema suele ser un único fichero que lo haga todo.</a:t>
            </a:r>
          </a:p>
          <a:p>
            <a:pPr/>
            <a:r>
              <a:rPr sz="1300"/>
              <a:t>Funciona. Y para un programa de cincuenta líneas es la respuesta correcta.</a:t>
            </a:r>
          </a:p>
          <a:p>
            <a:pPr/>
            <a:r>
              <a:rPr sz="1300"/>
              <a:t>Deja de serlo en cuanto el programa crece o va a durar años.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No buscamos la solución más simple.
Buscamos la más mantenible,
porque el programa va a evolucionar.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Aislamiento de fallos</a:t>
            </a:r>
          </a:p>
          <a:p>
            <a:pPr lvl="1"/>
            <a:r>
              <a:rPr sz="1100"/>
              <a:t>Si se estropea un componente que hace UNA sola cosa, se pierde esa función y el resto del coche sigue andando.</a:t>
            </a:r>
          </a:p>
          <a:p>
            <a:pPr lvl="1"/>
            <a:r>
              <a:rPr sz="1100"/>
              <a:t>Si se estropea uno que hace cinco cosas, se pierden las cinco.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Capacidad de reemplazo</a:t>
            </a:r>
          </a:p>
          <a:p>
            <a:pPr lvl="1"/>
            <a:r>
              <a:rPr sz="1100"/>
              <a:t>Las ruedas se cambian por desgaste…</a:t>
            </a:r>
          </a:p>
          <a:p>
            <a:pPr lvl="1"/>
            <a:r>
              <a:rPr sz="1100"/>
              <a:t>…pero también por conveniencia: neumáticos de invierno.</a:t>
            </a:r>
          </a:p>
          <a:p>
            <a:pPr lvl="1"/>
            <a:r>
              <a:rPr sz="1100"/>
              <a:t>El alternador se cambia porque se rompió, o porque se ha instalado un equipo de sonido que pide más potencia.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Un sistema se parece a un coche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para que las piezas sean intercambiables: estándares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Una rueda se describe con un conjunto de especificaciones</a:t>
            </a:r>
          </a:p>
          <a:p>
            <a:pPr lvl="1"/>
            <a:r>
              <a:rPr sz="1150"/>
              <a:t>17 pulgadas de diámetro.</a:t>
            </a:r>
          </a:p>
          <a:p>
            <a:pPr lvl="1"/>
            <a:r>
              <a:rPr sz="1150"/>
              <a:t>225 de ancho.</a:t>
            </a:r>
          </a:p>
          <a:p>
            <a:pPr lvl="1"/>
            <a:r>
              <a:rPr sz="1150"/>
              <a:t>Perfil 45.</a:t>
            </a:r>
          </a:p>
          <a:p>
            <a:pPr lvl="1"/>
            <a:r>
              <a:rPr sz="1150"/>
              <a:t>Código de velocidad V.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Cualquier fabricante que cumpla esa especificación sirve.</a:t>
            </a:r>
          </a:p>
          <a:p>
            <a:pPr/>
            <a:r>
              <a:rPr sz="1300"/>
              <a:t>Y aquí aparece la distinción que más se confunde al programar…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3.2 · Tres cosas distintas que se confunden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1351787"/>
                <a:gridCol w="4731257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En el coche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En Java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es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especificación de la rueda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Interfaz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Abstracta, intangible. Un conjunto de normas. **No es una rueda.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modelo PIRELLI XB17J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Clase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Un modelo concreto que cumple la especificación. **Tampoco es una rueda**: es un plano.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rueda montada en el coche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Instancia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Concreta, tangible. Esto sí es una rueda.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especificación, en nuestro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12915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public interface Diccionario {                    // LA ESPECIFICACIÓN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String cualEsTuIdioma();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boolean existe(String palabra);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Optional&lt;List&lt;String&gt;&gt; dameSignificados(String palabra);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427605"/>
            <a:ext cx="8110727" cy="2190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Esta interfaz NO es un diccionario. Define qué debe poder hacerse con uno.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los modelos que la cumplen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77990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public class DiccionarioEnFichero     implements Diccionario { … }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public class DiccionarioEnBBDD        implements Diccionario { … }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public class DiccionarioEnServicioWeb implements Diccionario { …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078355"/>
            <a:ext cx="8110727" cy="253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Tres modelos distintos, la misma especificación.</a:t>
            </a:r>
          </a:p>
          <a:p>
            <a:r>
              <a:rPr sz="1150"/>
              <a:t>Sólo cuando el programa ejecuta new DiccionarioEnBBDD("ES", repositorio) aparece un diccionario de verdad: una INSTANCIA.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Un diccionario puede ser un fichero,
una base de datos o un primo
que se sabe todas las palabras.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El problema</a:t>
            </a:r>
          </a:p>
          <a:p>
            <a:pPr lvl="1"/>
            <a:r>
              <a:rPr sz="1100"/>
              <a:t>Cuando una palabra no existe, ¿qué se devuelve?</a:t>
            </a:r>
          </a:p>
          <a:p>
            <a:pPr lvl="1"/>
            <a:r>
              <a:rPr sz="1100"/>
              <a:t>¿Una lista vacía? ¿null? ¿Una excepción?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La respuesta desde Java 8</a:t>
            </a:r>
          </a:p>
          <a:p>
            <a:pPr lvl="1"/>
            <a:r>
              <a:rPr sz="1100"/>
              <a:t>Un Optional: una caja que SIEMPRE se entrega, y que puede venir llena o vacía.</a:t>
            </a:r>
          </a:p>
          <a:p>
            <a:pPr lvl="1"/>
            <a:r>
              <a:rPr sz="1100"/>
              <a:t>Se le pregunta con isPresent(), isEmpty() y get().</a:t>
            </a:r>
          </a:p>
          <a:p>
            <a:pPr lvl="1"/>
            <a:r>
              <a:rPr sz="1100"/>
              <a:t>Devolver null desde un método público es hoy una mala práctica: obliga a quien llama a descubrir el caso con un NullPointerException en producción.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Un apunte sobre Optional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3.3 · SoC · Separación de intereses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Cuando estoy construyendo un componente, me centro en ese componente y me olvido de los demás. Eso será otro problema.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De dónde viene</a:t>
            </a:r>
          </a:p>
          <a:p>
            <a:pPr lvl="1"/>
            <a:r>
              <a:rPr sz="1150"/>
              <a:t>Del trabajo de Edsger W. Dijkstra, Premio Turing en 1972.</a:t>
            </a:r>
          </a:p>
          <a:p>
            <a:pPr lvl="1"/>
            <a:r>
              <a:rPr sz="1150"/>
              <a:t>Su conferencia de aceptación, The Humble Programmer, es una defensa de la humildad intelectual del programador frente a la complejidad.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Aplicado a nuestro proyecto: al escribir el controlador REST no hay que preocuparse de dónde salen los diccionarios.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El principio</a:t>
            </a:r>
          </a:p>
          <a:p>
            <a:pPr lvl="1"/>
            <a:r>
              <a:rPr sz="1100"/>
              <a:t>Si el código ya existe, en este componente o en otro, no lo vuelvo a escribir: lo reutilizo.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El matiz importante</a:t>
            </a:r>
          </a:p>
          <a:p>
            <a:pPr lvl="1"/>
            <a:r>
              <a:rPr sz="1100"/>
              <a:t>No toda duplicación aparente viola DRY.</a:t>
            </a:r>
          </a:p>
          <a:p>
            <a:pPr lvl="1"/>
            <a:r>
              <a:rPr sz="1100"/>
              <a:t>Dos clases con los mismos campos, pero que pertenecen a sistemas distintos y evolucionan por separado, NO son código duplicado.</a:t>
            </a:r>
          </a:p>
          <a:p>
            <a:pPr lvl="1"/>
            <a:r>
              <a:rPr sz="1100"/>
              <a:t>Lo veremos con las dos clases RespuestaPalabra.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DRY · No te repitas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3.4 · SOLID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Cinco principios de diseño orientado a objetos.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Respetarlos es una decisión del equipo. Lo que está garantizado es que el código resultante será más fácil de mantener.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Los vamos a ver uno a uno, y en cada uno veremos dónde está aplicado —o dónde no— en nuestro proyecto.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S · Principio de responsabilidad única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Una clase, una responsabilidad. O mejor dicho:</a:t>
            </a:r>
          </a:p>
          <a:p>
            <a:pPr/>
            <a:r>
              <a:rPr sz="1300" b="1"/>
              <a:t>Una clase debería tener UNA SOLA RAZÓN PARA CAMBIAR.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el proyecto</a:t>
            </a:r>
          </a:p>
          <a:p>
            <a:pPr lvl="1"/>
            <a:r>
              <a:rPr sz="1150"/>
              <a:t>CargadorDeDatos sólo carga datos al arrancar.</a:t>
            </a:r>
          </a:p>
          <a:p>
            <a:pPr lvl="1"/>
            <a:r>
              <a:rPr sz="1150"/>
              <a:t>NormalizadorDeTerminos sólo normaliza texto.</a:t>
            </a:r>
          </a:p>
          <a:p>
            <a:pPr lvl="1"/>
            <a:r>
              <a:rPr sz="1150"/>
              <a:t>DiccionariosRestController sólo traduce peticiones HTTP en llamadas al negocio.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Si cambia el formato de los ficheros de diccionario, sólo hay un sitio donde mirar.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O · Principio abierto/cerrado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Abierto a la EXTENSIÓN, cerrado a la MODIFICACIÓN.</a:t>
            </a:r>
          </a:p>
          <a:p>
            <a:pPr/>
            <a:r>
              <a:rPr sz="1300"/>
              <a:t>Debe poder añadirse funcionalidad nueva sin tocar el código que ya funciona.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 el principio con el efecto práctico más medible, y en el curso lo cobramos dos sesiones después de aplicarlo.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caso real: añadir un método sin romper nada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Añadir dameIdiomas() dejaba sin compilar a los tres módulos que ya la implementaban.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5895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public interface SuministradorDeDiccionarios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boolean tienesDiccionarioDe(String idioma);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Optional&lt;Diccionario&gt; dameDiccionarioDe(String idioma);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default List&lt;String&gt; dameIdiomas()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throw new UnsupportedOperationException("No implementado");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363468"/>
            <a:ext cx="8110727" cy="1254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Declarado como default, sólo lo implementa quien lo necesita. Dos sesiones después, la interfaz de escritorio lo necesitó en el cliente HTTP: un método nuevo, cero cambios en la interfaz, cero recompilaciones ajenas.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Aviso sobre los métodos default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Los métodos default en interfaces (Java 8 en adelante) existen para permitir que una interfaz EVOLUCIONE sin romper a quien la implementa.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NO son un sitio donde poner lógica de negocio.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Si un default acaba con veinte líneas dentro, lo que hay es una clase abstracta disfrazada.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El principio</a:t>
            </a:r>
          </a:p>
          <a:p>
            <a:pPr lvl="1"/>
            <a:r>
              <a:rPr sz="1100"/>
              <a:t>Cualquier implementación debe poder sustituir a su interfaz sin que el sistema se comporte de forma inesperada.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Qué significa en la práctica</a:t>
            </a:r>
          </a:p>
          <a:p>
            <a:pPr lvl="1"/>
            <a:r>
              <a:rPr sz="1100"/>
              <a:t>Si un método promete devolver la lista de significados, todas las implementaciones deben hacerlo con la MISMA semántica.</a:t>
            </a:r>
          </a:p>
          <a:p>
            <a:pPr lvl="1"/>
            <a:r>
              <a:rPr sz="1100"/>
              <a:t>No vale que una devuelva lista vacía y otra lance una excepción ante el mismo caso.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L · Sustitución de Liskov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I · Segregación de interfaces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Mejor varias interfaces pequeñas y específicas que una grande que obligue a implementar métodos que no se necesitan.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Nuestro proyecto lo ilustra por la vía del CONTRAEJEMPLO</a:t>
            </a:r>
          </a:p>
          <a:p>
            <a:pPr lvl="1"/>
            <a:r>
              <a:rPr sz="1150"/>
              <a:t>InterfazDeUsuario reúne nueve métodos pensados para un programa de terminal.</a:t>
            </a:r>
          </a:p>
          <a:p>
            <a:pPr lvl="1"/>
            <a:r>
              <a:rPr sz="1150"/>
              <a:t>Incluidos recuperarLaPalabraSolicitadaPorElUsuario() y mostrarMensajeAyuda().</a:t>
            </a:r>
          </a:p>
          <a:p>
            <a:pPr lvl="1"/>
            <a:r>
              <a:rPr sz="1150"/>
              <a:t>Cuando en la sesión 9 se intentó implementarla con una ventana gráfica, buena parte de esos métodos no encajaban.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Una interfaz más segregada habría envejecido mejor.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D · Inversión de dependencias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Los componentes de alto nivel no deben depender de implementaciones concretas: ambos deben depender de abstracciones.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756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MAL                                  BIEN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Aplicacion                           Aplicacion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│                                    │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▼                                    ▼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DiccionarioEnFichero              Diccionario (interfaz)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                                   ▲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                                   │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                           DiccionarioEnFichero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511867"/>
            <a:ext cx="8110727" cy="1105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A la izquierda, cambiar de ficheros a base de datos obliga a tocar Aplicacion. A la derecha, 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El módulo diccionarios-api
no contiene ni una implementación:
sólo las dos abstracciones.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El patrón Factoría</a:t>
            </a:r>
          </a:p>
          <a:p>
            <a:pPr lvl="1"/>
            <a:r>
              <a:rPr sz="1100"/>
              <a:t>Escrito a mano.</a:t>
            </a:r>
          </a:p>
          <a:p>
            <a:pPr lvl="1"/>
            <a:r>
              <a:rPr sz="1100"/>
              <a:t>Una clase cuya única responsabilidad es decidir qué implementación se construye.</a:t>
            </a:r>
          </a:p>
          <a:p>
            <a:pPr lvl="1"/>
            <a:r>
              <a:rPr sz="1100"/>
              <a:t>Lo veremos en el capítulo 4.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La inyección de dependencias</a:t>
            </a:r>
          </a:p>
          <a:p>
            <a:pPr lvl="1"/>
            <a:r>
              <a:rPr sz="1100"/>
              <a:t>La hace un contenedor, como Spring.</a:t>
            </a:r>
          </a:p>
          <a:p>
            <a:pPr lvl="1"/>
            <a:r>
              <a:rPr sz="1100"/>
              <a:t>El componente declara qué necesita y el contenedor se lo entrega.</a:t>
            </a:r>
          </a:p>
          <a:p>
            <a:pPr lvl="1"/>
            <a:r>
              <a:rPr sz="1100"/>
              <a:t>Lo veremos en el capítulo 9.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¿Y quién construye entonces las dependencias?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3.5 · Para qué usa un programa la memoria RAM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Simultáneamente, para varias cosas</a:t>
            </a:r>
          </a:p>
          <a:p>
            <a:pPr lvl="1"/>
            <a:r>
              <a:rPr sz="1150"/>
              <a:t>Almacenar el código del programa.</a:t>
            </a:r>
          </a:p>
          <a:p>
            <a:pPr lvl="1"/>
            <a:r>
              <a:rPr sz="1150"/>
              <a:t>Mantener la pila de ejecución: los punteros a las líneas que se están ejecutando.</a:t>
            </a:r>
          </a:p>
          <a:p>
            <a:pPr lvl="1"/>
            <a:r>
              <a:rPr sz="1150"/>
              <a:t>Guardar las variables de trabajo.</a:t>
            </a:r>
          </a:p>
          <a:p>
            <a:pPr lvl="1"/>
            <a:r>
              <a:rPr sz="1150"/>
              <a:t>Mantener CACHÉS.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Una caché almacena temporalmente datos cuyo origen es lento de consultar.</a:t>
            </a:r>
          </a:p>
          <a:p>
            <a:pPr/>
            <a:r>
              <a:rPr sz="1300"/>
              <a:t>En nuestro proyecto tiene sentido cachear diccionarios: leerlos de fichero o de base de datos cuesta mucho más que tenerlos en memoria.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Un sistema debe poder funcionar
SIN su caché.
Una caché es una optimización.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La situación</a:t>
            </a:r>
          </a:p>
          <a:p>
            <a:pPr lvl="1"/>
            <a:r>
              <a:rPr sz="1100"/>
              <a:t>Cincuenta diccionarios cacheados agotan la memoria disponible.</a:t>
            </a:r>
          </a:p>
          <a:p>
            <a:pPr lvl="1"/>
            <a:r>
              <a:rPr sz="1100"/>
              <a:t>Y llega la petición de cargar uno más.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Dos comportamientos posibles</a:t>
            </a:r>
          </a:p>
          <a:p>
            <a:pPr lvl="1"/>
            <a:r>
              <a:rPr sz="1100"/>
              <a:t>Que la aplicación falle con un OutOfMemoryError.</a:t>
            </a:r>
          </a:p>
          <a:p>
            <a:pPr lvl="1"/>
            <a:r>
              <a:rPr sz="1100"/>
              <a:t>Que vacíe parte de la caché y siga funcionando.</a:t>
            </a:r>
          </a:p>
          <a:p>
            <a:pPr lvl="1"/>
            <a:r>
              <a:rPr sz="1100" b="1"/>
              <a:t>Sólo el segundo es aceptable.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El escenario que lo demuestra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clase adecuada para una caché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85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012"/>
                <a:gridCol w="4055363"/>
                <a:gridCol w="2317350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Clase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Comportamiento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Para qué sirve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HashMap&lt;K,V&gt;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Guarda referencias e impide que el recolector elimine los objetos mientras la tabla exista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Una tabla en memoria 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WeakHashMap&lt;K,V&gt;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Se comporta igual, pero permite al recolector liberar sus entradas cuando la memoria escasea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Una caché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Qué es</a:t>
            </a:r>
          </a:p>
          <a:p>
            <a:pPr lvl="1"/>
            <a:r>
              <a:rPr sz="1100"/>
              <a:t>Cuando la máquina virtual ejecuta un programa necesita saber dónde están los .class con el código de cada componente.</a:t>
            </a:r>
          </a:p>
          <a:p>
            <a:pPr lvl="1"/>
            <a:r>
              <a:rPr sz="1100"/>
              <a:t>Los busca en las rutas indicadas en el CLASSPATH.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La analogía</a:t>
            </a:r>
          </a:p>
          <a:p>
            <a:pPr lvl="1"/>
            <a:r>
              <a:rPr sz="1100"/>
              <a:t>Es al código lo que el PATH del sistema operativo es a los ejecutables.</a:t>
            </a:r>
          </a:p>
          <a:p>
            <a:pPr lvl="1"/>
            <a:r>
              <a:rPr sz="1100"/>
              <a:t>PATH: dónde buscar programas.</a:t>
            </a:r>
          </a:p>
          <a:p>
            <a:pPr lvl="1"/>
            <a:r>
              <a:rPr sz="1100"/>
              <a:t>Classpath: dónde buscar clases… y RECURSOS.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3.6 · El classpath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Por eso los diccionarios no se abren como ficheros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El classpath no sirve sólo para clases, sino también para recursos: configuración, propiedades y, en este proyecto, los diccionarios.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4465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Resource archivo = new ClassPathResource("diccionarios/es.txt");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220468"/>
            <a:ext cx="8110727" cy="2397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Un objeto File NO SABE LEER DENTRO DE UN .jar. Un recurso del classpath, sí.</a:t>
            </a:r>
          </a:p>
          <a:p>
            <a:r>
              <a:rPr sz="1150"/>
              <a:t>Gracias a eso el mismo código funciona en desarrollo, donde los .txt están sueltos en target/classes, y en producción, donde van comprimidos dentro del .jar.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3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del capítulo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/>
              <a:t>3.1 · Enumera las clases que implementan Diccionario. ¿Qué habría que cambiar en Aplicacion para usar cada una? ¿Qué principio SOLID lo explica?</a:t>
            </a:r>
          </a:p>
          <a:p>
            <a:pPr/>
            <a:r>
              <a:rPr sz="1150"/>
              <a:t>3.2 · Se propone añadir int cuantasPalabrasTienes() a Diccionario. ¿Qué módulos dejan de compilar? Da dos formas de introducirlo sin romper nada.</a:t>
            </a:r>
          </a:p>
          <a:p>
            <a:pPr/>
            <a:r>
              <a:rPr sz="1150"/>
              <a:t>3.3 · Localiza un caso donde se haya sacrificado ISP y propón cómo dividir esa interfaz.</a:t>
            </a:r>
          </a:p>
          <a:p>
            <a:pPr/>
            <a:r>
              <a:rPr sz="1150"/>
              <a:t>3.4 · Se quiere cachear los resultados de las búsquedas más frecuentes. ¿Qué estructura de datos usarías y por qué?</a:t>
            </a:r>
          </a:p>
          <a:p>
            <a:pPr/>
            <a:r>
              <a:rPr sz="1150"/>
              <a:t>3.5 · ¿Por qué el suministrador recibe el nombre de una carpeta de recursos y no una ruta absoluta del disco?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Soluciones comentadas en el apéndice D del manual.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4 · Patrones de diseño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Qué es un patrón</a:t>
            </a:r>
          </a:p>
          <a:p>
            <a:pPr/>
            <a:r>
              <a:rPr sz="900"/>
              <a:t>Creación · Factoría y Singleton</a:t>
            </a:r>
          </a:p>
          <a:p>
            <a:pPr/>
            <a:r>
              <a:rPr sz="900"/>
              <a:t>Estructurales · Adapter y Proxy</a:t>
            </a:r>
          </a:p>
          <a:p>
            <a:pPr/>
            <a:r>
              <a:rPr sz="900"/>
              <a:t>Comportamiento · Strategy y Template Method</a:t>
            </a:r>
          </a:p>
          <a:p>
            <a:pPr/>
            <a:r>
              <a:rPr sz="900"/>
              <a:t>Integración y presentación · AOP · Antipatrones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Lo que NO es</a:t>
            </a:r>
          </a:p>
          <a:p>
            <a:pPr lvl="1"/>
            <a:r>
              <a:rPr sz="1100"/>
              <a:t>No es código que se copia y se pega.</a:t>
            </a:r>
          </a:p>
          <a:p>
            <a:pPr lvl="1"/>
            <a:r>
              <a:rPr sz="1100"/>
              <a:t>No es una librería.</a:t>
            </a:r>
          </a:p>
          <a:p>
            <a:pPr lvl="1"/>
            <a:r>
              <a:rPr sz="1100"/>
              <a:t>No es obligatorio aplicarlo.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Lo que sí es</a:t>
            </a:r>
          </a:p>
          <a:p>
            <a:pPr lvl="1"/>
            <a:r>
              <a:rPr sz="1100"/>
              <a:t>Una solución CON NOMBRE a un problema que se repite.</a:t>
            </a:r>
          </a:p>
          <a:p>
            <a:pPr lvl="1"/>
            <a:r>
              <a:rPr sz="1100"/>
              <a:t>Su valor es doble: ahorra reinventar la solución y, sobre todo, da un VOCABULARIO COMÚN.</a:t>
            </a:r>
          </a:p>
          <a:p>
            <a:pPr lvl="1"/>
            <a:r>
              <a:rPr sz="1100"/>
              <a:t>Decir “aquí hay una factoría” transmite en tres palabras lo que exigiría un párrafo.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4.1 · Qué es un patrón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 b="1"/>
              <a:t>Creación</a:t>
            </a:r>
          </a:p>
          <a:p>
            <a:pPr lvl="1"/>
            <a:r>
              <a:rPr sz="1000"/>
              <a:t>Cómo se construyen los objetos</a:t>
            </a:r>
          </a:p>
          <a:p>
            <a:pPr lvl="1"/>
            <a:r>
              <a:rPr sz="1000"/>
              <a:t>Factoría · Singleton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150" b="1"/>
              <a:t>Estructurales</a:t>
            </a:r>
          </a:p>
          <a:p>
            <a:pPr lvl="1"/>
            <a:r>
              <a:rPr sz="1000"/>
              <a:t>Cómo se componen entre sí</a:t>
            </a:r>
          </a:p>
          <a:p>
            <a:pPr lvl="1"/>
            <a:r>
              <a:rPr sz="1000"/>
              <a:t>Adapter · Proxy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pPr/>
            <a:r>
              <a:rPr sz="1150" b="1"/>
              <a:t>Comportamiento</a:t>
            </a:r>
          </a:p>
          <a:p>
            <a:pPr lvl="1"/>
            <a:r>
              <a:rPr sz="1000"/>
              <a:t>Cómo colaboran y reparten el trabajo</a:t>
            </a:r>
          </a:p>
          <a:p>
            <a:pPr lvl="1"/>
            <a:r>
              <a:rPr sz="1000"/>
              <a:t>Strategy · Template Method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 wrap="square"/>
          <a:lstStyle/>
          <a:p>
            <a:pPr/>
            <a:r>
              <a:rPr sz="1150" b="1"/>
              <a:t>De capa empresarial</a:t>
            </a:r>
          </a:p>
          <a:p>
            <a:pPr lvl="1"/>
            <a:r>
              <a:rPr sz="1000"/>
              <a:t>Integración y presentación</a:t>
            </a:r>
          </a:p>
          <a:p>
            <a:pPr lvl="1"/>
            <a:r>
              <a:rPr sz="1000"/>
              <a:t>DAO · Repository · DTO · Fachada · Front Controller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idx="6"/>
          </p:nvPr>
        </p:nvSpPr>
        <p:spPr/>
        <p:txBody>
          <a:bodyPr wrap="square"/>
          <a:lstStyle/>
          <a:p>
            <a:pPr/>
            <a:r>
              <a:rPr sz="2300"/>
              <a:t>Las familias de patrones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4.2 · Factoría · el problema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Si cada componente construye sus dependencias con new…</a:t>
            </a:r>
          </a:p>
          <a:p>
            <a:pPr lvl="1"/>
            <a:r>
              <a:rPr sz="1150"/>
              <a:t>El sistema queda acoplado a implementaciones concretas.</a:t>
            </a:r>
          </a:p>
          <a:p>
            <a:pPr lvl="1"/>
            <a:r>
              <a:rPr sz="1150"/>
              <a:t>Cambiar una obliga a tocar muchos ficheros.</a:t>
            </a:r>
          </a:p>
          <a:p>
            <a:pPr lvl="1"/>
            <a:r>
              <a:rPr sz="1150"/>
              <a:t>Y cada fichero tocado es una oportunidad de romper algo que funcionaba.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Cómo NO hacerlo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756094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// MAL: Aplicacion decide qué implementaciones se usan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interfazDeUsuario           = new InterfazDeUsuarioConsola(args);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suministradorDeDiccionarios = new SuministradorDeDiccionariosEnFicheros("diccionarios");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054542"/>
            <a:ext cx="8110727" cy="2563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Aplicacion está asumiendo más responsabilidades de las que le corresponden.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Es como si para cambiar la batería
hubiera que recolocar el resto
de elementos del capó.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solución: centralizar la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8910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// Aplicacion.java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interfazDeUsuario           = InterfazDeUsuarioFactory.dameInterfazDeUsuario(args);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suministradorDeDiccionarios = SuministradorDeDiccionariosFactory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                          .dameSuministradorDeDiccionarios();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único fichero que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16090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public class SuministradorDeDiccionariosFactory {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public static SuministradorDeDiccionarios dameSuministradorDeDiccionarios() {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//return new SuministradorDeDiccionariosEnFicheros("diccionarios");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return new SuministradorDeDiccionariosEnServicioWeb("http://localhost:8080");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459355"/>
            <a:ext cx="8110727" cy="215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Aplicacion no sabe —ni necesita saber— si los diccionarios vienen de ficheros, de una base de datos o de la red. Cambiar el origen de datos de todo el sistema es modificar UNA LÍNEA.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El problema clásico</a:t>
            </a:r>
          </a:p>
          <a:p>
            <a:pPr lvl="1"/>
            <a:r>
              <a:rPr sz="1100"/>
              <a:t>Hay componentes de los que sólo debe existir UNA instancia compartida.</a:t>
            </a:r>
          </a:p>
          <a:p>
            <a:pPr lvl="1"/>
            <a:r>
              <a:rPr sz="1100"/>
              <a:t>La solución clásica: constructor privado, variable estática y control de concurrencia.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En nuestro proyecto no lo escribimos ni una vez</a:t>
            </a:r>
          </a:p>
          <a:p>
            <a:pPr lvl="1"/>
            <a:r>
              <a:rPr sz="1100"/>
              <a:t>Y sin embargo lo usamos constantemente.</a:t>
            </a:r>
          </a:p>
          <a:p>
            <a:pPr lvl="1"/>
            <a:r>
              <a:rPr sz="1100"/>
              <a:t>Todos los componentes de Spring son singletons POR DEFECTO.</a:t>
            </a:r>
          </a:p>
          <a:p>
            <a:pPr lvl="1"/>
            <a:r>
              <a:rPr sz="1100"/>
              <a:t>@Component sobre una clase basta: Spring crea UNA instancia y la entrega a todo el que la pida.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Singleton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El framework regala patrones
ya implementados —y sin sus
errores clásicos de concurrencia.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4.3 · Adapter · adaptar lo de fuera a lo nuestro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Problema: un sistema externo no habla el idioma que espera nuestra aplicación.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27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public class DiccionarioEnServicioWeb implements Diccionario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// Por fuera: un Diccionario más.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// Por dentro: peticiones HTTP y conversión de JSON a objetos Java.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696718"/>
            <a:ext cx="8110727" cy="1921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Para la aplicación cliente, este objeto es indistinguible del que leía ficheros. Ahí está el valor: la traducción está confinada en un solo sitio.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Proxy · el problema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Se quiere añadir un comportamiento alrededor de un componente, sin modificarlo: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Medir cuánto tarda.</a:t>
            </a:r>
          </a:p>
          <a:p>
            <a:pPr lvl="1"/>
            <a:r>
              <a:rPr sz="1150"/>
              <a:t>Controlar los errores.</a:t>
            </a:r>
          </a:p>
          <a:p>
            <a:pPr lvl="1"/>
            <a:r>
              <a:rPr sz="1150"/>
              <a:t>Registrar auditoría.</a:t>
            </a:r>
          </a:p>
          <a:p>
            <a:pPr lvl="1"/>
            <a:r>
              <a:rPr sz="1150"/>
              <a:t>Comprobar permisos.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Vamos a verlo con un caso concreto: medir tiempos.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2089594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public interface LibreriaQueHaceAlgoAPI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void haceAlgo();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public class ClaseQueNecesitaAlguienQueHagaAlgo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private LibreriaQueHaceAlgoAPI libreria;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public void trabajo()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libreria.haceAlgo();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Dentro de la librería</a:t>
            </a:r>
          </a:p>
          <a:p>
            <a:pPr lvl="1"/>
            <a:r>
              <a:rPr sz="1100"/>
              <a:t>Puede que no sea nuestra y no podamos modificarla.</a:t>
            </a:r>
          </a:p>
          <a:p>
            <a:pPr lvl="1"/>
            <a:r>
              <a:rPr sz="1100"/>
              <a:t>Y aunque lo fuera: la medición se activaría en TODOS los sitios donde se use, interese o no.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Dentro de la clase que la usa</a:t>
            </a:r>
          </a:p>
          <a:p>
            <a:pPr lvl="1"/>
            <a:r>
              <a:rPr sz="1100"/>
              <a:t>Habría que repetir esas líneas en cada punto donde se quiera medir.</a:t>
            </a:r>
          </a:p>
          <a:p>
            <a:pPr lvl="1"/>
            <a:r>
              <a:rPr sz="1100"/>
              <a:t>Y activarlas o desactivarlas obligaría a comentar y descomentar código en producción.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¿Dónde pongo el código que mide el tiempo?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solución: un objeto intermediario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843531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public class ProxyQueMideTiempos implements LibreriaQueHaceAlgoAPI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private LibreriaQueHaceAlgoAPI libreria;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public void haceAlgo()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long tin = System.currentTimeMillis();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libreria.haceAlgo();                       // delega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long tout = System.currentTimeMillis();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System.out.println("Ha tardado " + (tout - tin) + " ms");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3141980"/>
            <a:ext cx="8110727" cy="147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Implementa la MISMA interfaz que el componente real, lo envuelve y añade el comportamiento antes o después de delegar.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la decisión se toma al construir los objetos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0497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LibreriaQueHaceAlgoAPI libreria = new LibreriaQueHaceAlgoDeUnaFormaConcreta();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LibreriaQueHaceAlgoAPI proxy    = new ProxyQueMideTiempos(libreria);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new ClaseQueNecesitaAlguienQueHagaAlgo(proxy).trabajo();     // con medición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new ClaseQueNecesitaAlguienQueHagaAlgo(libreria).trabajo();  // sin medición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348230"/>
            <a:ext cx="8110727" cy="2269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Ni la librería ni su consumidor se han modificado. Es el principio Abierto/Cerrado en estado puro.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Introducir un cambio debe consistir
en escribir código nuevo,
no en tocar el que ya funciona.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Qué es</a:t>
            </a:r>
          </a:p>
          <a:p>
            <a:pPr lvl="1"/>
            <a:r>
              <a:rPr sz="1100"/>
              <a:t>Un caso particular del anterior: un objeto local que representa a otro que vive en OTRA MÁQUINA.</a:t>
            </a:r>
          </a:p>
          <a:p>
            <a:pPr lvl="1"/>
            <a:r>
              <a:rPr sz="1100"/>
              <a:t>Es lo que hace DiccionarioEnServicioWeb: se le llama como a cualquier objeto y por debajo la llamada cruza la red.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La diferencia que importa</a:t>
            </a:r>
          </a:p>
          <a:p>
            <a:pPr lvl="1"/>
            <a:r>
              <a:rPr sz="1100"/>
              <a:t>Conceptualmente es el mismo servicio que prestaban RMI y CORBA.</a:t>
            </a:r>
          </a:p>
          <a:p>
            <a:pPr lvl="1"/>
            <a:r>
              <a:rPr sz="1100"/>
              <a:t>Pero aquí el programador SABE que la llamada es remota.</a:t>
            </a:r>
          </a:p>
          <a:p>
            <a:pPr lvl="1"/>
            <a:r>
              <a:rPr sz="1100"/>
              <a:t>Volveremos sobre esto en el capítulo 8.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Proxy remoto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4.4 · Strategy · la columna vertebral del proyecto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Problema: existen varias formas de hacer lo mismo y hay que poder elegir una sin que el resto del código se entere.</a:t>
            </a:r>
          </a:p>
          <a:p>
            <a:pPr/>
            <a:r>
              <a:rPr sz="1300"/>
              <a:t>Solución: una interfaz común y varias implementaciones intercambiables.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nuestro proyecto</a:t>
            </a:r>
          </a:p>
          <a:p>
            <a:pPr lvl="1"/>
            <a:r>
              <a:rPr sz="1150"/>
              <a:t>SuministradorDeDiccionarios es la interfaz de la estrategia.</a:t>
            </a:r>
          </a:p>
          <a:p>
            <a:pPr lvl="1"/>
            <a:r>
              <a:rPr sz="1150"/>
              <a:t>Ficheros, servicio web y base de datos son las estrategias concretas.</a:t>
            </a:r>
          </a:p>
          <a:p>
            <a:pPr lvl="1"/>
            <a:r>
              <a:rPr sz="1150"/>
              <a:t>La aplicación elige una al arrancar y el resto del código es indiferente.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Template Method · el esqueleto lo pone el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422844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@Component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public class CargadorDeDatos implements CommandLineRunner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@Override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public void run(String... args) throws Exception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// Sólo escribimos ESTO. Cuándo se ejecuta lo decide Spring.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721292"/>
            <a:ext cx="8110727" cy="1896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Spring define cuándo se ejecuta el arranque y en qué orden; nosotros sólo rellenamos el hueco. No controlamos el flujo: lo controla el framework. Es la puerta de entrada a la Inversión de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DAO · Data Access Object</a:t>
            </a:r>
          </a:p>
          <a:p>
            <a:pPr lvl="1"/>
            <a:r>
              <a:rPr sz="1100"/>
              <a:t>El patrón clásico de J2EE.</a:t>
            </a:r>
          </a:p>
          <a:p>
            <a:pPr lvl="1"/>
            <a:r>
              <a:rPr sz="1100"/>
              <a:t>Aislar el acceso a datos del resto de la aplicación, de forma que cambiar el almacenamiento no afecte a la lógica de negocio.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Repository · su forma actual</a:t>
            </a:r>
          </a:p>
          <a:p>
            <a:pPr lvl="1"/>
            <a:r>
              <a:rPr sz="1100"/>
              <a:t>Con una particularidad llamativa:</a:t>
            </a:r>
          </a:p>
          <a:p>
            <a:pPr lvl="1"/>
            <a:r>
              <a:rPr sz="1100"/>
              <a:t>Sólo se declara la INTERFAZ.</a:t>
            </a:r>
          </a:p>
          <a:p>
            <a:pPr lvl="1"/>
            <a:r>
              <a:rPr sz="1100"/>
              <a:t>El framework genera la implementación —incluida la consulta SQL— deduciéndola del nombre del método.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4.5 · DAO y Repository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Un repositorio completo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0497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public interface PalabraRepository extends JpaRepository&lt;Palabra, Integer&gt;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boolean existsByPalabraAndIdioma_Codigo(String palabra, String codigo);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Optional&lt;Palabra&gt; findByPalabraAndIdioma_Codigo(String palabra, String codigo);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List&lt;Palabra&gt; findByIdioma_Codigo(String codigo);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348230"/>
            <a:ext cx="8110727" cy="2269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No hay ninguna clase que implemente esto. La escribe Spring Data JPA al arrancar.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Data Loader · y su límite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Inicialización del almacén de datos al arrancar.</a:t>
            </a:r>
          </a:p>
          <a:p>
            <a:pPr/>
            <a:r>
              <a:rPr sz="1300"/>
              <a:t>En el proyecto, CargadorDeDatos lee los ficheros del classpath y los vuelca en la base de datos, comprobando primero que no haya datos ya cargados.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producción esto NO se resuelve así</a:t>
            </a:r>
          </a:p>
          <a:p>
            <a:pPr lvl="1"/>
            <a:r>
              <a:rPr sz="1150"/>
              <a:t>Se usan herramientas especializadas en versionado de esquemas: Liquibase o Flyway.</a:t>
            </a:r>
          </a:p>
          <a:p>
            <a:pPr lvl="1"/>
            <a:r>
              <a:rPr sz="1150"/>
              <a:t>Un if al arranque cubre la carga inicial, pero no responde a qué ocurre cuando una versión nueva añade palabras a un diccionario ya cargado.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4.6 · Transfer Object (DTO)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Problema: atravesar la red es caro. Hacer una llamada remota por cada dato es inviable.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422844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public class RespuestaPalabra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private String palabra;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private String idioma;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private List&lt;String&gt; significados;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private List&lt;String&gt; similares;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// sólo getters. Ninguna lógica.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196780"/>
            <a:ext cx="8110727" cy="1420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Solución: un objeto sin lógica cuyo único cometido es transportar datos a través de una frontera, para que UNA sola llamada traiga todo lo necesario.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A primera vista parece violar DRY</a:t>
            </a:r>
          </a:p>
          <a:p>
            <a:pPr lvl="1"/>
            <a:r>
              <a:rPr sz="1100"/>
              <a:t>Una vive en el servidor.</a:t>
            </a:r>
          </a:p>
          <a:p>
            <a:pPr lvl="1"/>
            <a:r>
              <a:rPr sz="1100"/>
              <a:t>Otra vive en el cliente.</a:t>
            </a:r>
          </a:p>
          <a:p>
            <a:pPr lvl="1"/>
            <a:r>
              <a:rPr sz="1100"/>
              <a:t>Hoy son idénticas campo por campo.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Y sin embargo está bien</a:t>
            </a:r>
          </a:p>
          <a:p>
            <a:pPr lvl="1"/>
            <a:r>
              <a:rPr sz="1100"/>
              <a:t>Una cosa es lo que el servidor decide ENVIAR.</a:t>
            </a:r>
          </a:p>
          <a:p>
            <a:pPr lvl="1"/>
            <a:r>
              <a:rPr sz="1100"/>
              <a:t>Otra lo que el cliente necesita RECIBIR.</a:t>
            </a:r>
          </a:p>
          <a:p>
            <a:pPr lvl="1"/>
            <a:r>
              <a:rPr sz="1100"/>
              <a:t>Mantenerlas separadas permite que servidor y cliente evolucionen a ritmos distintos, que es la razón de ser de un sistema distribuido.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¿Y por qué hay DOS clases RespuestaPalabra?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Hoy son iguales.
Mañana no tienen por qué serlo.
Y eso está bien.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 b="1"/>
              <a:t>Business Delegate</a:t>
            </a:r>
          </a:p>
          <a:p>
            <a:pPr lvl="1"/>
            <a:r>
              <a:rPr sz="1000"/>
              <a:t>Un objeto local que oculta toda la mecánica de la invocación remota.</a:t>
            </a:r>
          </a:p>
          <a:p>
            <a:pPr lvl="1"/>
            <a:r>
              <a:rPr sz="1000"/>
              <a:t>InterfazDeUsuarioConsola no sabe nada de HTTP, URLs, JSON ni códigos de estado.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150" b="1"/>
              <a:t>Front Controller</a:t>
            </a:r>
          </a:p>
          <a:p>
            <a:pPr lvl="1"/>
            <a:r>
              <a:rPr sz="1000"/>
              <a:t>Un único punto de entrada que recibe TODAS las peticiones y las encamina.</a:t>
            </a:r>
          </a:p>
          <a:p>
            <a:pPr lvl="1"/>
            <a:r>
              <a:rPr sz="1000"/>
              <a:t>Lo aporta Spring: el DispatcherServlet.</a:t>
            </a:r>
          </a:p>
          <a:p>
            <a:pPr lvl="1"/>
            <a:r>
              <a:rPr sz="1000"/>
              <a:t>Nosotros sólo declaramos las rutas.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pPr/>
            <a:r>
              <a:rPr sz="1150" b="1"/>
              <a:t>Service Façade</a:t>
            </a:r>
          </a:p>
          <a:p>
            <a:pPr lvl="1"/>
            <a:r>
              <a:rPr sz="1000"/>
              <a:t>Una interfaz única y sencilla que oculta la complejidad de un subsistema.</a:t>
            </a:r>
          </a:p>
          <a:p>
            <a:pPr lvl="1"/>
            <a:r>
              <a:rPr sz="1000"/>
              <a:t>Toda la funcionalidad pasa por dos métodos.</a:t>
            </a:r>
          </a:p>
          <a:p>
            <a:pPr lvl="1"/>
            <a:r>
              <a:rPr sz="1000"/>
              <a:t>Es el Session Façade de J2EE.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idx="5"/>
          </p:nvPr>
        </p:nvSpPr>
        <p:spPr/>
        <p:txBody>
          <a:bodyPr wrap="square"/>
          <a:lstStyle/>
          <a:p>
            <a:pPr/>
            <a:r>
              <a:rPr sz="2300"/>
              <a:t>Tres patrones más, en una diapositiva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4.7 · Preocupaciones transversales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Hay funcionalidades que no pertenecen a ningún componente en particular porque ATRAVIESAN todo el sistema: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La gestión de errores.</a:t>
            </a:r>
          </a:p>
          <a:p>
            <a:pPr lvl="1"/>
            <a:r>
              <a:rPr sz="1150"/>
              <a:t>La seguridad.</a:t>
            </a:r>
          </a:p>
          <a:p>
            <a:pPr lvl="1"/>
            <a:r>
              <a:rPr sz="1150"/>
              <a:t>El registro de actividad.</a:t>
            </a:r>
          </a:p>
          <a:p>
            <a:pPr lvl="1"/>
            <a:r>
              <a:rPr sz="1150"/>
              <a:t>La auditoría.</a:t>
            </a:r>
          </a:p>
          <a:p>
            <a:pPr lvl="1"/>
            <a:r>
              <a:rPr sz="1150"/>
              <a:t>La medición de rendimiento.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Meterlas dentro de la lógica de negocio la ensucia y la repite.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Lo que habría que escribir a mano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El servidor debe responder 500 ante un error no controlado.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5260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public ResponseEntity&lt;RespuestaPalabra&gt; existePalabra(String idioma, String palabra)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try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return controlador.existePalabra(idioma, palabra);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} catch (Exception e)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return ResponseEntity.status(500).body(null);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// …y lo mismo en los otros tres métodos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Lo que escribimos de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756219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@RestControllerAdvice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public class DiccionariosRestControllerAdvice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@ExceptionHandler(Exception.class)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@ResponseStatus(HttpStatus.INTERNAL_SERVER_ERROR)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public String procesarExcepcion(Exception e)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return e.getMessage();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3054667"/>
            <a:ext cx="8110727" cy="1563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El controlador NO se modificó. En él sólo vive el happy path, y el tratamiento de errores se puede cambiar en un único sitio.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el mecanismo es, otra vez, el patrón 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827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  Antes:  Tomcat → Controlador REST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  Ahora:  Tomcat → Proxy (Advice) → Controlador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107692"/>
            <a:ext cx="8110727" cy="2510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Spring construye ese proxy por nosotros. Eso es programación orientada a aspectos: separar del negocio lo que lo atraviesa, y aplicarlo desde fuera.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4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4.8 · Antipatrones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Un antipatrón es una solución que parece razonable, se repite mucho y produce sistemáticamente malos resultados.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El curso entero está construido sobre la corrección de cuatro.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 b="1"/>
              <a:t>Big Ball of Mud</a:t>
            </a:r>
          </a:p>
          <a:p>
            <a:pPr lvl="1"/>
            <a:r>
              <a:rPr sz="1000"/>
              <a:t>Un sistema sin estructura reconocible.</a:t>
            </a:r>
          </a:p>
          <a:p>
            <a:pPr lvl="1"/>
            <a:r>
              <a:rPr sz="1000"/>
              <a:t>Nuestro punto de partida: diez .java sueltos en una carpeta.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150" b="1"/>
              <a:t>Monolito</a:t>
            </a:r>
          </a:p>
          <a:p>
            <a:pPr lvl="1"/>
            <a:r>
              <a:rPr sz="1000"/>
              <a:t>Un sistema que lo hace todo, donde cualquier cambio impacta en cualquier parte.</a:t>
            </a:r>
          </a:p>
          <a:p>
            <a:pPr lvl="1"/>
            <a:r>
              <a:rPr sz="1000"/>
              <a:t>El ejemplo: Animalitos Fermín.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pPr/>
            <a:r>
              <a:rPr sz="1150" b="1"/>
              <a:t>Cliente pesado con datos embebidos</a:t>
            </a:r>
          </a:p>
          <a:p>
            <a:pPr lvl="1"/>
            <a:r>
              <a:rPr sz="1000"/>
              <a:t>Meter en cada instalación los datos y la lógica que deberían estar centralizados.</a:t>
            </a:r>
          </a:p>
          <a:p>
            <a:pPr lvl="1"/>
            <a:r>
              <a:rPr sz="1000"/>
              <a:t>Es lo que motivó todo el rediseño.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 wrap="square"/>
          <a:lstStyle/>
          <a:p>
            <a:pPr/>
            <a:r>
              <a:rPr sz="1150" b="1"/>
              <a:t>Acoplamiento a implementaciones</a:t>
            </a:r>
          </a:p>
          <a:p>
            <a:pPr lvl="1"/>
            <a:r>
              <a:rPr sz="1000"/>
              <a:t>Depender de la clase concreta en lugar de la abstracción.</a:t>
            </a:r>
          </a:p>
          <a:p>
            <a:pPr lvl="1"/>
            <a:r>
              <a:rPr sz="1000"/>
              <a:t>Es la violación del DIP.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idx="6"/>
          </p:nvPr>
        </p:nvSpPr>
        <p:spPr/>
        <p:txBody>
          <a:bodyPr wrap="square"/>
          <a:lstStyle/>
          <a:p>
            <a:pPr/>
            <a:r>
              <a:rPr sz="2300"/>
              <a:t>Los cuatro que corregimos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Con diez ficheros parece manejable.
Con cuatrocientos es imposible saber
qué se rompe al tocar algo.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del capítulo 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/>
              <a:t>4.1 · Escribe un proxy que registre las búsquedas que no se encuentran, sin modificar DiccionarioEnBBDD ni el controlador. ¿Dónde lo enchufas?</a:t>
            </a:r>
          </a:p>
          <a:p>
            <a:pPr/>
            <a:r>
              <a:rPr sz="1150"/>
              <a:t>4.2 · Enumera tres preocupaciones transversales de un sistema bancario y qué pasaría si se implementaran dentro de cada método de negocio.</a:t>
            </a:r>
          </a:p>
          <a:p>
            <a:pPr/>
            <a:r>
              <a:rPr sz="1150"/>
              <a:t>4.3 · Un revisor pide unificar las dos clases RespuestaPalabra. Argumenta a favor y en contra. ¿Cambiaría tu respuesta si las desarrollaran empresas distintas?</a:t>
            </a:r>
          </a:p>
          <a:p>
            <a:pPr/>
            <a:r>
              <a:rPr sz="1150"/>
              <a:t>4.4 · Localiza los tres puntos donde Spring aplica el patrón Proxy sin que aparezca la palabra “proxy” en el código.</a:t>
            </a:r>
          </a:p>
          <a:p>
            <a:pPr/>
            <a:r>
              <a:rPr sz="1150"/>
              <a:t>4.5 · Escribe los métodos de repositorio para tres consultas nuevas.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Soluciones comentadas en el apéndice D del manual.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5 · Pruebas automatizadas y calidad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Por qué no se prueba a mano</a:t>
            </a:r>
          </a:p>
          <a:p>
            <a:pPr/>
            <a:r>
              <a:rPr sz="900"/>
              <a:t>JUnit y la estructura de una prueba</a:t>
            </a:r>
          </a:p>
          <a:p>
            <a:pPr/>
            <a:r>
              <a:rPr sz="900"/>
              <a:t>Aislar el componente que se prueba</a:t>
            </a:r>
          </a:p>
          <a:p>
            <a:pPr/>
            <a:r>
              <a:rPr sz="900"/>
              <a:t>Cobertura y control de calidad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5.1 · Terminado el programa, hay que comprobar que funciona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La forma intuitiva es ejecutarlo y probar casos a mano.</a:t>
            </a:r>
          </a:p>
          <a:p>
            <a:pPr/>
            <a:r>
              <a:rPr sz="1300"/>
              <a:t>Es también la forma equivocada, por tres razones: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Es LENTA · cada comprobación consume tiempo de una persona.</a:t>
            </a:r>
          </a:p>
          <a:p>
            <a:pPr lvl="1"/>
            <a:r>
              <a:rPr sz="1150"/>
              <a:t>No es FIABLE · una persona se distrae, se salta un caso, interpreta mal un resultado.</a:t>
            </a:r>
          </a:p>
          <a:p>
            <a:pPr lvl="1"/>
            <a:r>
              <a:rPr sz="1150"/>
              <a:t>No es REPETIBLE · y esto es lo decisivo.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Por qué la repetibilidad es lo decisivo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Un programa se modifica muchas veces a lo largo de su vida.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Cada modificación obliga a comprobar NO SÓLO lo que se ha tocado, sino todo lo demás.</a:t>
            </a:r>
          </a:p>
          <a:p>
            <a:pPr/>
            <a:r>
              <a:rPr sz="1300"/>
              <a:t>Porque cualquier cambio puede haber roto algo aparentemente sin relación.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Probar a mano el sistema completo tras cada cambio es inviable a partir de cierto tamaño.</a:t>
            </a:r>
          </a:p>
          <a:p>
            <a:pPr/>
            <a:r>
              <a:rPr sz="1300" b="1"/>
              <a:t>Y lo que ocurre en la práctica es que SE DEJA DE HACER.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La solución es escribir un programa
que pruebe el programa.
Y no una prueba grande: muchas pequeñas.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Una prueba del sistema entero</a:t>
            </a:r>
          </a:p>
          <a:p>
            <a:pPr lvl="1"/>
            <a:r>
              <a:rPr sz="1100"/>
              <a:t>Cuando falla, informa de que algo va mal…</a:t>
            </a:r>
          </a:p>
          <a:p>
            <a:pPr lvl="1"/>
            <a:r>
              <a:rPr sz="1100"/>
              <a:t>…pero no de QUÉ componente ha fallado.</a:t>
            </a:r>
          </a:p>
          <a:p>
            <a:pPr lvl="1"/>
            <a:r>
              <a:rPr sz="1100"/>
              <a:t>Y el tiempo se va en averiguarlo.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Muchas pruebas pequeñas</a:t>
            </a:r>
          </a:p>
          <a:p>
            <a:pPr lvl="1"/>
            <a:r>
              <a:rPr sz="1100"/>
              <a:t>Cada una prueba un componente por separado.</a:t>
            </a:r>
          </a:p>
          <a:p>
            <a:pPr lvl="1"/>
            <a:r>
              <a:rPr sz="1100"/>
              <a:t>Cuando una falla, señala exactamente el sitio.</a:t>
            </a:r>
          </a:p>
          <a:p>
            <a:pPr lvl="1"/>
            <a:r>
              <a:rPr sz="1100"/>
              <a:t>Después se prueba la integración entre componentes.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Por qué muchas pequeñas y no una grande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5.2 · JUnit se declara como dependencia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La librería estándar de pruebas en Java. No viene con el JDK.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25615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&lt;dependency&gt;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&lt;groupId&gt;org.junit.jupiter&lt;/groupId&gt;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&lt;artifactId&gt;junit-jupiter-api&lt;/artifactId&gt;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&lt;version&gt;5.10.0&lt;/version&gt;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&lt;scope&gt;test&lt;/scope&gt;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&lt;/dependency&gt;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030093"/>
            <a:ext cx="8110727" cy="1587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&lt;scope&gt;test&lt;/scope&gt; indica que sólo se necesita para compilar y ejecutar las pruebas: NO se empaqueta en el .jar final. No conviene olvidarlo.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Aviso · JUnit 4 frente a JUnit 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Hoy se usa JUnit 5, cuyo nombre técnico es Jupiter.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Circulan por Internet muchísimos ejemplos de JUnit 4, cuya sintaxis y cuyos paquetes son DISTINTOS:</a:t>
            </a:r>
          </a:p>
          <a:p>
            <a:pPr lvl="1"/>
            <a:r>
              <a:rPr sz="1150"/>
              <a:t>org.junit.Test          ← JUnit 4</a:t>
            </a:r>
          </a:p>
          <a:p>
            <a:pPr lvl="1"/>
            <a:r>
              <a:rPr sz="1150"/>
              <a:t>org.junit.jupiter.api.Test   ← JUnit 5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Mezclar los dos es una fuente de errores difíciles de diagnosticar: las pruebas simplemente NO SE EJECUTAN y el informe dice que todo ha ido bien.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Cómo puede terminar una 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JUnit busca los métodos anotados con @Test y los ejecuta uno a uno.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6083045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Significado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prueba pasó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failure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Una verificación no se cumplió: el programa hace algo distinto de lo esperado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prueba reventó con una excepción inesperada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Cuándo se ejecutan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Con mvn test.</a:t>
            </a:r>
          </a:p>
          <a:p>
            <a:pPr/>
            <a:r>
              <a:rPr sz="1300"/>
              <a:t>Y también automáticamente antes de mvn package, porque test es una fase anterior del ciclo de vida.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Al terminar, JUnit genera un informe</a:t>
            </a:r>
          </a:p>
          <a:p>
            <a:pPr lvl="1"/>
            <a:r>
              <a:rPr sz="1150"/>
              <a:t>Total de pruebas ejecutadas.</a:t>
            </a:r>
          </a:p>
          <a:p>
            <a:pPr lvl="1"/>
            <a:r>
              <a:rPr sz="1150"/>
              <a:t>Cuántas pasaron.</a:t>
            </a:r>
          </a:p>
          <a:p>
            <a:pPr lvl="1"/>
            <a:r>
              <a:rPr sz="1150"/>
              <a:t>De las que no, su nombre y el motivo del fallo.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5.3 · Toda prueba tiene tres partes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1291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1 · CONTEXTO        “dado que…”     Se prepara la situación de partida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2 · ACCIÓN          “cuando…”       Se ejecuta lo que se quiere probar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3 · VERIFICACIÓN    “entonces…”     Se comprueba el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409317"/>
            <a:ext cx="8110727" cy="2208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Escribirlas siempre en el mismo orden hace que el código de pruebas sea legible por cualquiera.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Una prueba real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20657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@Test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@DisplayName("Obtener el idioma de un diccionario")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void cualEsTuIdiomaTest() {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// 1. Contexto: dado un diccionario de español…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DiccionarioEnFichero diccionario = new DiccionarioEnFichero("es", null);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// 2. Acción: cuando le pregunto su idioma…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String idiomaDevuelto = diccionario.cualEsTuIdioma();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// 3. Verificación: entonces me responde "es"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Assertions.assertEquals("es", idiomaDevuelto);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3364230"/>
            <a:ext cx="8110727" cy="125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@DisplayName da a la prueba un nombre legible que aparece en el informe. Útil cuando el informe lo lee alguien que no escribió la prueba.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aserciones más frecuentes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5363"/>
                <a:gridCol w="4055363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Aserción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Comprueba que…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assertEquals(esperado, obtenido)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Los dos valores son iguales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assertTrue(condicion) / assertFalse(condicion)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condición se cumple o no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assertNull(objeto) / assertNotNull(objeto)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objeto es o no es nulo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assertThrows(Tipo.class, () -&gt; …)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operación lanza la excepción esperada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5.4 · Para probar un componente hay que poder controlarlo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Si DiccionarioEnFichero leyera el fichero por su cuenta…</a:t>
            </a:r>
          </a:p>
          <a:p>
            <a:pPr lvl="1"/>
            <a:r>
              <a:rPr sz="1150"/>
              <a:t>…probarlo exigiría tener ficheros de prueba en disco.</a:t>
            </a:r>
          </a:p>
          <a:p>
            <a:pPr lvl="1"/>
            <a:r>
              <a:rPr sz="1150"/>
              <a:t>…y la prueba dependería de ellos: de su ruta, de su contenido, de su codificación.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el proyecto se resolvió pasándole los datos por el constructor.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Una dependencia controlada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914969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@Test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void verificarQueExisteUnaPalabraQueSiEstaEnElDiccionario() {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// Una tabla de datos preparada a mano para la prueba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Map&lt;String, List&lt;String&gt;&gt; tablaDePrueba = new HashMap&lt;&gt;();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tablaDePrueba.put("melón", List.of("Fruto del melón.",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                             "Persona con pocas luces."));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DiccionarioEnFichero diccionario = new DiccionarioEnFichero("es", tablaDePrueba);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Assertions.assertTrue(diccionario.existe("melón"));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5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Test double · doble de prueba</a:t>
            </a:r>
          </a:p>
          <a:p>
            <a:pPr lvl="1"/>
            <a:r>
              <a:rPr sz="1100"/>
              <a:t>Un sustituto controlado de una dependencia real.</a:t>
            </a:r>
          </a:p>
          <a:p>
            <a:pPr lvl="1"/>
            <a:r>
              <a:rPr sz="1100"/>
              <a:t>Según cuánto imite al original: stub, mock o fake.</a:t>
            </a:r>
          </a:p>
          <a:p>
            <a:pPr lvl="1"/>
            <a:r>
              <a:rPr sz="1100"/>
              <a:t>Hay librerías especializadas en construirlos, como Mockito.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Y una consecuencia no evidente</a:t>
            </a:r>
          </a:p>
          <a:p>
            <a:pPr lvl="1"/>
            <a:r>
              <a:rPr sz="1100"/>
              <a:t>Un componente que no construye sus dependencias, sino que las recibe, es un componente que SE PUEDE PROBAR.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Eso tiene nombre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La inyección de dependencias
no es sólo diseño elegante:
es lo que hace posible probar por partes.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Por eso ninguna clase del servidor hace new sobre sus dependencias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En una prueba se le puede pasar un repositorio falso que devuelva exactamente los datos que interesan.</a:t>
            </a:r>
          </a:p>
          <a:p>
            <a:pPr/>
            <a:r>
              <a:rPr sz="1300"/>
              <a:t>Sin base de datos alguna.</a:t>
            </a:r>
          </a:p>
          <a:p>
            <a:pPr/>
            <a:r>
              <a:rPr sz="1300"/>
              <a:t>Sin arrancar el servidor.</a:t>
            </a:r>
          </a:p>
          <a:p>
            <a:pPr/>
            <a:r>
              <a:rPr sz="1300"/>
              <a:t>En milisegundos, y de forma repetible.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Es el mismo principio del capítulo 3 —la inversión de dependencias— cobrando un segundo dividendo.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Qué es</a:t>
            </a:r>
          </a:p>
          <a:p>
            <a:pPr lvl="1"/>
            <a:r>
              <a:rPr sz="1100"/>
              <a:t>El porcentaje de líneas de código que las pruebas llegan a ejecutar.</a:t>
            </a:r>
          </a:p>
          <a:p>
            <a:pPr lvl="1"/>
            <a:r>
              <a:rPr sz="1100"/>
              <a:t>Se mide automáticamente con herramientas como JaCoCo.</a:t>
            </a:r>
          </a:p>
          <a:p>
            <a:pPr lvl="1"/>
            <a:r>
              <a:rPr sz="1100"/>
              <a:t>Y se vigila con plataformas de análisis estático como SonarQube.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Cómo se usa en la industria</a:t>
            </a:r>
          </a:p>
          <a:p>
            <a:pPr lvl="1"/>
            <a:r>
              <a:rPr sz="1100"/>
              <a:t>Es habitual exigir entre el 80 % y el 90 % como condición para pasar a producción.</a:t>
            </a:r>
          </a:p>
          <a:p>
            <a:pPr lvl="1"/>
            <a:r>
              <a:rPr sz="1100"/>
              <a:t>Y es una comprobación automática.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5.5 · Cobertura de pruebas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No hay a quién llorar.
Si no se llega al umbral,
el despliegue no sale.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límite de la cobertura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La cobertura mide qué líneas se EJECUTAN, no si se COMPRUEBAN.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 posible alcanzar un 90 % de cobertura con pruebas que no verifican nada.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Es una métrica útil como SUELO MÍNIMO y engañosa como OBJETIVO</a:t>
            </a:r>
          </a:p>
          <a:p>
            <a:pPr lvl="1"/>
            <a:r>
              <a:rPr sz="1150"/>
              <a:t>Un número alto no garantiza que las pruebas sirvan.</a:t>
            </a:r>
          </a:p>
          <a:p>
            <a:pPr lvl="1"/>
            <a:r>
              <a:rPr sz="1150"/>
              <a:t>Un número bajo sí garantiza que hay código sin probar.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Complementos razonables: revisión por pares, pruebas de mutación, y exigir una prueba que reproduzca cada error corregido.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estado real de las pruebas en nuestro proyecto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Conviene ser explícito sobre esto.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proyecto tiene DOS clases de prueba, ambas en diccionarios-en-ficheros.</a:t>
            </a:r>
          </a:p>
          <a:p>
            <a:pPr lvl="1"/>
            <a:r>
              <a:rPr sz="1150"/>
              <a:t>Cubren el módulo que se construyó cuando se explicaron las pruebas.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servicio web, el acceso a base de datos, el cliente HTTP y las interfaces de usuario NO tienen pruebas automatizadas.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En un proyecto real esto sería inaceptable y no pasaría el control de calidad descrito en esta misma sesión. Es la deuda técnica más importante que dejamos.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del capítulo 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/>
              <a:t>5.1 · Escribe las pruebas de NormalizadorDeTerminos.normalizar(): minúsculas, espacios, mayúsculas, cadena vacía y null. ¿Por qué no una sola con cinco aserciones?</a:t>
            </a:r>
          </a:p>
          <a:p>
            <a:pPr/>
            <a:r>
              <a:rPr sz="1150"/>
              <a:t>5.2 · ¿Cómo probarías palabrasSimilares() sin una base de datos en marcha?</a:t>
            </a:r>
          </a:p>
          <a:p>
            <a:pPr/>
            <a:r>
              <a:rPr sz="1150"/>
              <a:t>5.3 · Escribe una prueba que verifique que se devuelve un Optional vacío —y no null, ni lista vacía, ni excepción—. ¿Qué principio SOLID protege?</a:t>
            </a:r>
          </a:p>
          <a:p>
            <a:pPr/>
            <a:r>
              <a:rPr sz="1150"/>
              <a:t>5.4 · Con un 85 % de cobertura aparece un error grave en una línea que las pruebas sí ejecutaban. ¿Cómo es posible?</a:t>
            </a:r>
          </a:p>
          <a:p>
            <a:pPr/>
            <a:r>
              <a:rPr sz="1150"/>
              <a:t>5.5 · ¿Qué tipo de prueba verifica que un idioma inexistente devuelve 404? ¿Por qué no es unitaria?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Soluciones comentadas en el apéndice D del manual.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6 · Evolución de las arquitecturas empresariales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Del escritorio a los componentes desacoplados</a:t>
            </a:r>
          </a:p>
          <a:p>
            <a:pPr/>
            <a:r>
              <a:rPr sz="900"/>
              <a:t>Internet y Web · HTML, XML y JSON</a:t>
            </a:r>
          </a:p>
          <a:p>
            <a:pPr/>
            <a:r>
              <a:rPr sz="900"/>
              <a:t>El monolito y sus problemas</a:t>
            </a:r>
          </a:p>
          <a:p>
            <a:pPr/>
            <a:r>
              <a:rPr sz="900"/>
              <a:t>Dos herramientas para evaluar una arquitectura</a:t>
            </a:r>
          </a:p>
          <a:p>
            <a:pPr/>
            <a:r>
              <a:rPr sz="900"/>
              <a:t>El criterio económico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6.1 · Cada etapa se explica por un problema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La forma de construir software en las empresas ha cambiado varias veces.</a:t>
            </a:r>
          </a:p>
          <a:p>
            <a:pPr/>
            <a:r>
              <a:rPr sz="1300"/>
              <a:t>Y cada cambio se explica por un problema concreto que la etapa anterior no resolvía.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Vamos a recorrer esa historia, porque el sistema que construimos en el curso repite esa misma evolución en nueve sesiones.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Aplicaciones de escritorio</a:t>
            </a:r>
          </a:p>
          <a:p>
            <a:pPr lvl="1"/>
            <a:r>
              <a:rPr sz="1100"/>
              <a:t>Todo se ejecutaba en un ordenador.</a:t>
            </a:r>
          </a:p>
          <a:p>
            <a:pPr lvl="1"/>
            <a:r>
              <a:rPr sz="1100"/>
              <a:t>El problema: COMPARTIR DATOS.</a:t>
            </a:r>
          </a:p>
          <a:p>
            <a:pPr lvl="1"/>
            <a:r>
              <a:rPr sz="1100"/>
              <a:t>Si dos personas debían trabajar sobre la misma información, no había forma limpia de conseguirlo.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Arquitectura cliente-servidor</a:t>
            </a:r>
          </a:p>
          <a:p>
            <a:pPr lvl="1"/>
            <a:r>
              <a:rPr sz="1100"/>
              <a:t>Con la llegada de las redes, parte de la aplicación pasa al servidor.</a:t>
            </a:r>
          </a:p>
          <a:p>
            <a:pPr lvl="1"/>
            <a:r>
              <a:rPr sz="1100"/>
              <a:t>Al principio, en el servidor sólo estaba la base de datos.</a:t>
            </a:r>
          </a:p>
          <a:p>
            <a:pPr lvl="1"/>
            <a:r>
              <a:rPr sz="1100"/>
              <a:t>Poco a poco la lógica se fue trasladando allí y en el cliente quedó sólo la representación.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Las dos primeras etapas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Para que dos sistemas se comuniquen hacen falta dos acuerdos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018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  APP CLIENTE ←──────────────────→ APP SERVIDOR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                 Protocolo:  las reglas de la comunicación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                 Lenguaje:   el formato de los mensajes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6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Web e Internet no son lo mismo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Internet</a:t>
            </a:r>
          </a:p>
          <a:p>
            <a:pPr lvl="1"/>
            <a:r>
              <a:rPr sz="1150"/>
              <a:t>Un conjunto descentralizado de redes interconectadas que usan un protocolo común (TCP/IP).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Web</a:t>
            </a:r>
          </a:p>
          <a:p>
            <a:pPr lvl="1"/>
            <a:r>
              <a:rPr sz="1150"/>
              <a:t>UNO de los servicios que se ofrecen sobre Internet.</a:t>
            </a:r>
          </a:p>
          <a:p>
            <a:pPr lvl="1"/>
            <a:r>
              <a:rPr sz="1150"/>
              <a:t>Junto al correo electrónico, la transferencia de ficheros (FTP), el acceso remoto (SSH) o la voz sobre IP.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La propone Tim Berners-Lee en 1989; el primer sitio funciona en 1991; en 1993 el CERN la libera al dominio público.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HTML</a:t>
            </a:r>
          </a:p>
          <a:p>
            <a:pPr lvl="1"/>
            <a:r>
              <a:rPr sz="1100"/>
              <a:t>HyperText Markup Language.</a:t>
            </a:r>
          </a:p>
          <a:p>
            <a:pPr lvl="1"/>
            <a:r>
              <a:rPr sz="1100"/>
              <a:t>El lenguaje de los documentos.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HTTP</a:t>
            </a:r>
          </a:p>
          <a:p>
            <a:pPr lvl="1"/>
            <a:r>
              <a:rPr sz="1100"/>
              <a:t>HyperText Transfer Protocol.</a:t>
            </a:r>
          </a:p>
          <a:p>
            <a:pPr lvl="1"/>
            <a:r>
              <a:rPr sz="1100"/>
              <a:t>El protocolo para transportarlos.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Lo que define la Web son dos cosas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modelo que funcionó durante años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Al principio los documentos eran estáticos. Pronto se quiso que se generaran bajo demanda: ver MI listado de pedidos, MIS facturas.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22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Cliente                      Servidor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(Navegador) ──petición──▶  Servidor de aplicaciones ──▶ Programa ──▶ BBDD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       ◀──respuesta──   (Tomcat, WebSphere, WebLogic, JBoss)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          (HTML)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678430"/>
            <a:ext cx="8110727" cy="1939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Hoy este modelo está superado. Y la razón es que el navegador dejó de ser la única forma de acceder a los 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6.2 · Hoy conviven muchos frontales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sz="1150"/>
              <a:t>Aplicaciones Android e iOS.</a:t>
            </a:r>
          </a:p>
          <a:p>
            <a:pPr lvl="1"/>
            <a:r>
              <a:rPr sz="1150"/>
              <a:t>Navegadores web.</a:t>
            </a:r>
          </a:p>
          <a:p>
            <a:pPr lvl="1"/>
            <a:r>
              <a:rPr sz="1150"/>
              <a:t>Televisores conectados.</a:t>
            </a:r>
          </a:p>
          <a:p>
            <a:pPr lvl="1"/>
            <a:r>
              <a:rPr sz="1150"/>
              <a:t>Asistentes de voz.</a:t>
            </a:r>
          </a:p>
          <a:p>
            <a:pPr lvl="1"/>
            <a:r>
              <a:rPr sz="1150"/>
              <a:t>Sistemas telefónicos de atención al cliente (IVR).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HTML es un lenguaje orientado a DOCUMENTOS con representación visual</a:t>
            </a:r>
          </a:p>
          <a:p>
            <a:pPr lvl="1"/>
            <a:r>
              <a:rPr sz="1150"/>
              <a:t>Dice que un título va en negrita a 12 puntos.</a:t>
            </a:r>
          </a:p>
          <a:p>
            <a:pPr lvl="1"/>
            <a:r>
              <a:rPr sz="1150"/>
              <a:t>Que una lista lleva 20 píxeles de margen.</a:t>
            </a:r>
          </a:p>
          <a:p>
            <a:pPr lvl="1"/>
            <a:r>
              <a:rPr sz="1150"/>
              <a:t>Que una imagen mide 200 por 300.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Eso no le sirve de nada a una app Android, ni a un asistente de voz.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cambio de fondo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2561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CLIENTES                                   SERVIDOR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Navegador (JS → HTML)   ──── HTTP ────▶   Servidor de aplicaciones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App Android             ◀─── JSON ─────         ↓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App iOS                                     Aplicación Java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Asistente de voz                                ↓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IVR                                          Base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536317"/>
            <a:ext cx="8110727" cy="2081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Antes el servidor generaba PÁGINAS. Ahora genera DATOS.</a:t>
            </a:r>
          </a:p>
          <a:p>
            <a:r>
              <a:rPr sz="1150"/>
              <a:t>Si hace falta una web, un programa JavaScript en el navegador consume esos datos y construye el HTML allí mismo. Es lo que hace nuestra aplicación Angular.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industria se movió de XML a JSON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Primero XML, después JSON, mucho más ligero.</a:t>
            </a:r>
          </a:p>
          <a:p>
            <a:pPr/>
            <a:r>
              <a:rPr sz="1300"/>
              <a:t>Lo veremos con detalle en los capítulos 7 y 8, comparando el peso real de un mensaje SOAP con el de una petición REST.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idea que queda: el formato de intercambio dejó de estar orientado a la PRESENTACIÓN y pasó a estarlo al DATO.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6.3 · El monolito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Durante años se tendió a construir sistemas muy grandes que lo hicieran todo.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ejemplo que usamos en clase: Animalitos Fermín</a:t>
            </a:r>
          </a:p>
          <a:p>
            <a:pPr lvl="1"/>
            <a:r>
              <a:rPr sz="1150"/>
              <a:t>Venta de productos para mascotas.</a:t>
            </a:r>
          </a:p>
          <a:p>
            <a:pPr lvl="1"/>
            <a:r>
              <a:rPr sz="1150"/>
              <a:t>Citas veterinarias.</a:t>
            </a:r>
          </a:p>
          <a:p>
            <a:pPr lvl="1"/>
            <a:r>
              <a:rPr sz="1150"/>
              <a:t>Peluquería canina.</a:t>
            </a:r>
          </a:p>
          <a:p>
            <a:pPr lvl="1"/>
            <a:r>
              <a:rPr sz="1150"/>
              <a:t>Nóminas de los empleados.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Todo en el mismo sistema.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Es que cualquier cambio puede impactar en cualquier parte</a:t>
            </a:r>
          </a:p>
          <a:p>
            <a:pPr lvl="1"/>
            <a:r>
              <a:rPr sz="1100"/>
              <a:t>Tocar el cálculo de las nóminas puede romper la agenda de citas.</a:t>
            </a:r>
          </a:p>
          <a:p>
            <a:pPr lvl="1"/>
            <a:r>
              <a:rPr sz="1100"/>
              <a:t>Y no hay forma barata de saberlo de antemano.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Y que se despliega todo junto</a:t>
            </a:r>
          </a:p>
          <a:p>
            <a:pPr lvl="1"/>
            <a:r>
              <a:rPr sz="1100"/>
              <a:t>Un cambio pequeño obliga a volver a poner en producción todo lo demás.</a:t>
            </a:r>
          </a:p>
          <a:p>
            <a:pPr lvl="1"/>
            <a:r>
              <a:rPr sz="1100"/>
              <a:t>Con el riesgo y la ventana de parada que eso implica.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El problema no es que no funcione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La alternativa: en lugar de un
sistema muy grande, muchos
sistemas pequeños comunicados.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6.4 · Una arquitectura no se evalúa en abstracto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Se evalúa frente a los cambios que SABEMOS que van a ocurrir.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En el curso usamos dos herramientas de análisis, y son aplicables a cualquier proyecto: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Análisis por escenarios de cambio.</a:t>
            </a:r>
          </a:p>
          <a:p>
            <a:pPr lvl="1"/>
            <a:r>
              <a:rPr sz="1150"/>
              <a:t>Análisis de impacto por implicado.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Análisis por escenarios de cambio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Enumerar los cambios previsibles y estimar qué costaría cada uno.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Los que planteamos para la aplicación de diccionarios</a:t>
            </a:r>
          </a:p>
          <a:p>
            <a:pPr lvl="1"/>
            <a:r>
              <a:rPr sz="1150"/>
              <a:t>Cambiar la interfaz de usuario.</a:t>
            </a:r>
          </a:p>
          <a:p>
            <a:pPr lvl="1"/>
            <a:r>
              <a:rPr sz="1150"/>
              <a:t>Añadir funcionalidad: sugerir palabras similares.</a:t>
            </a:r>
          </a:p>
          <a:p>
            <a:pPr lvl="1"/>
            <a:r>
              <a:rPr sz="1150"/>
              <a:t>Añadir un idioma nuevo.</a:t>
            </a:r>
          </a:p>
          <a:p>
            <a:pPr lvl="1"/>
            <a:r>
              <a:rPr sz="1150"/>
              <a:t>Añadir o corregir palabras de un diccionario existente.</a:t>
            </a:r>
          </a:p>
          <a:p>
            <a:pPr lvl="1"/>
            <a:r>
              <a:rPr sz="1150"/>
              <a:t>Cambiar el algoritmo de búsqueda: ignorar mayúsculas.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Ninguno era hipotético: los cinco ocurrieron durante el curso.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Un producto de software es,
por definición, un producto
sujeto a cambios y mantenimiento.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Análisis de impacto por implicado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El segundo análisis es menos habitual y más revelador: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UN MISMO CAMBIO NO CUESTA LO MISMO A TODO EL MUNDO.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Vamos a aplicarlo al escenario más frecuente —corregir la definición de una palabra— sobre la arquitectura original: una aplicación instalada en el ordenador de cada usuario, con los diccionarios dentro.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 quién le duele, y cuánto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6083045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Implicado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Consecuencia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Desarrollo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Reempaquetar y redistribuir la aplicación entera por corregir una palabra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Usuario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Reinstalar. Y el usuario sabe de su negocio, no de instalar software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Operaciones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Publicar y avisar, sin visibilidad de qué versión tiene cada uno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Soporte (CAU)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Imposible reproducir una incidencia sin saber la versión de quien la reporta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Negocio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Dos usuarios pueden obtener respuestas distintas a la misma consulta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6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Un sistema donde dos usuarios
obtienen respuestas distintas
no tiene un problema técnico.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un aspecto que el análisis técnico no captura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Los diccionarios los mantiene un LINGÜISTA, no un programador.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Tenerlos mezclados con el código fuente, dentro de src/main/resources, obliga a alguien que no sabe programar a moverse por un árbol de carpetas que no entiende, con riesgo de romper el código por error.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arquitectura debe reflejar también QUIÉN MANTIENE CADA COSA.</a:t>
            </a:r>
          </a:p>
          <a:p>
            <a:pPr/>
            <a:r>
              <a:rPr sz="1300"/>
              <a:t>Y el lingüista debe poder aportar su trabajo por una vía trazable y versionada, no por correo electrónico.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6.5 · El criterio que lo ordena todo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El coste de desarrollo inicial de una arquitectura desacoplada es MAYOR.</a:t>
            </a:r>
          </a:p>
          <a:p>
            <a:pPr/>
            <a:r>
              <a:rPr sz="1300" b="1"/>
              <a:t>El coste de mantenimiento a lo largo del ciclo de vida es MUCHO MENOR.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 que importa no es el coste inicial, sino el COSTE TOTAL DEL CICLO DE VIDA (LCC · Life Cycle Cost).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Es honesta y suele omitirse</a:t>
            </a:r>
          </a:p>
          <a:p>
            <a:pPr lvl="1"/>
            <a:r>
              <a:rPr sz="1100"/>
              <a:t>Diseñar bien CUESTA MÁS AL PRINCIPIO.</a:t>
            </a:r>
          </a:p>
          <a:p>
            <a:pPr lvl="1"/>
            <a:r>
              <a:rPr sz="1100"/>
              <a:t>Separar interfaces de implementaciones, montar módulos, escribir pruebas y levantar una arquitectura cliente-servidor lleva más tiempo que escribir diez ficheros en una carpeta.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La apuesta</a:t>
            </a:r>
          </a:p>
          <a:p>
            <a:pPr lvl="1"/>
            <a:r>
              <a:rPr sz="1100"/>
              <a:t>Ese sobrecoste se recupera con creces durante los años en que el sistema se mantiene.</a:t>
            </a:r>
          </a:p>
          <a:p>
            <a:pPr lvl="1"/>
            <a:r>
              <a:rPr sz="1100"/>
              <a:t>En nuestro proyecto la apuesta se pudo verificar: pasar de ficheros a base de datos costó un módulo nuevo y una dependencia cambiada.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Merece la pena detenerse en la primera frase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límite del criterio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Si un programa se va a usar tres veces y tirar, diseñarlo así es tirar el dinero.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pregunta correcta no es</a:t>
            </a:r>
          </a:p>
          <a:p>
            <a:pPr lvl="1"/>
            <a:r>
              <a:rPr sz="1150"/>
              <a:t>“¿cuál es la mejor arquitectura?”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Sino</a:t>
            </a:r>
          </a:p>
          <a:p>
            <a:pPr lvl="1"/>
            <a:r>
              <a:rPr sz="1150"/>
              <a:t>“¿cuánto tiempo va a vivir esto y cuántas veces va a cambiar?”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Todo lo que veremos a partir de aquí presupone que la respuesta es “años” y “muchas”.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del capítulo 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/>
              <a:t>6.1 · Aplica el análisis por implicado al escenario “cambiar el color de fondo de la interfaz”, en la V1 y en la V5 con interfaz web. Compara las dos tablas.</a:t>
            </a:r>
          </a:p>
          <a:p>
            <a:pPr/>
            <a:r>
              <a:rPr sz="1150"/>
              <a:t>6.2 · Parte el monolito de Animalitos Fermín en componentes. ¿Cuál sería el punto de integración más delicado?</a:t>
            </a:r>
          </a:p>
          <a:p>
            <a:pPr/>
            <a:r>
              <a:rPr sz="1150"/>
              <a:t>6.3 · Enumera tres escenarios de cambio que el diseño actual resolvería MAL.</a:t>
            </a:r>
          </a:p>
          <a:p>
            <a:pPr/>
            <a:r>
              <a:rPr sz="1150"/>
              <a:t>6.4 · Un responsable rechaza la arquitectura cliente-servidor porque “cuesta el doble y hace lo mismo”. Prepara una respuesta con al menos un número concreto.</a:t>
            </a:r>
          </a:p>
          <a:p>
            <a:pPr/>
            <a:r>
              <a:rPr sz="1150"/>
              <a:t>6.5 · ¿Por qué un asistente de voz no puede consumir HTML?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Soluciones comentadas en el apéndice D del manual.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7 · Comunicación entre sistemas: HTTP y REST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Fundamentos del protocolo HTTP</a:t>
            </a:r>
          </a:p>
          <a:p>
            <a:pPr/>
            <a:r>
              <a:rPr sz="900"/>
              <a:t>Verbos y códigos de estado</a:t>
            </a:r>
          </a:p>
          <a:p>
            <a:pPr/>
            <a:r>
              <a:rPr sz="900"/>
              <a:t>Qué es REST</a:t>
            </a:r>
          </a:p>
          <a:p>
            <a:pPr/>
            <a:r>
              <a:rPr sz="900"/>
              <a:t>Diseñar el contrato antes que el código</a:t>
            </a:r>
          </a:p>
          <a:p>
            <a:pPr/>
            <a:r>
              <a:rPr sz="900"/>
              <a:t>Una llamada local no es una llamada remota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¿Quién inicia la comunicación?</a:t>
            </a:r>
          </a:p>
          <a:p>
            <a:pPr lvl="1"/>
            <a:r>
              <a:rPr sz="1100"/>
              <a:t>En torno al 90 % de los casos, el cliente: el servidor está a la escucha y responde.</a:t>
            </a:r>
          </a:p>
          <a:p>
            <a:pPr lvl="1"/>
            <a:r>
              <a:rPr sz="1100"/>
              <a:t>Hay excepciones, como un chat que envía mensajes de otros usuarios.</a:t>
            </a:r>
          </a:p>
          <a:p>
            <a:pPr lvl="1"/>
            <a:r>
              <a:rPr sz="1100"/>
              <a:t>Esas excepciones exigen otras tecnologías: WebSockets, notificaciones push.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¿Qué protocolo se usa?</a:t>
            </a:r>
          </a:p>
          <a:p>
            <a:pPr lvl="1"/>
            <a:r>
              <a:rPr sz="1100"/>
              <a:t>Un protocolo es un conjunto de reglas que define cómo se comunican dos sistemas.</a:t>
            </a:r>
          </a:p>
          <a:p>
            <a:pPr lvl="1"/>
            <a:r>
              <a:rPr sz="1100"/>
              <a:t>A lo largo de la historia ha habido varios.</a:t>
            </a:r>
          </a:p>
          <a:p>
            <a:pPr lvl="1"/>
            <a:r>
              <a:rPr sz="1100"/>
              <a:t>El que se ha impuesto es HTTP. Y sobre él, REST.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7.1 · Dos preguntas antes de elegir tecnología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7.2 · HTTP tiene dos propiedades que hay que tener siempre presentes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637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  Cliente ──── HTTP REQUEST ────▶ Servidor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          ◀─── HTTP RESPONSE ────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917192"/>
            <a:ext cx="8110727" cy="2700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UNIDIRECCIONAL · siempre inicia el cliente. El servidor nunca habla primero.</a:t>
            </a:r>
          </a:p>
          <a:p>
            <a:r>
              <a:rPr sz="1150"/>
              <a:t>SÍNCRONO · el cliente queda esperando la respuesta.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Toda petición y toda respuesta tienen tres partes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5407151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Parte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es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URL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dirección a la que se hace la petición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Cabeceras** (headers)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Metadatos: información sobre el envío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Cuerpo** (body)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contenido. Es opcional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analogía del envío por correo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Una petición HTTP es como un envío por correo.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Lo que se manda va dentro de una CAJA — el cuerpo.</a:t>
            </a:r>
          </a:p>
          <a:p>
            <a:pPr lvl="1"/>
            <a:r>
              <a:rPr sz="1150"/>
              <a:t>Por fuera se pega una ETIQUETA con información adicional — las cabeceras.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Quién lo envía. Cuánto pesa. Si es frágil. Si es urgente. Cuál es el motivo.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caja puede ir vacía, pero la etiqueta va siempre.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verbo · lo manda el cliente y es obligatorio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 navegador, cuando se escribe una dirección en la barra, usa siempre GET.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6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6083045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Verbo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Intención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Pedir datos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POST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Enviar datos nuevos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Modificar datos existentes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DELETE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Borrar datos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código de estado · lo manda el servidor y también es obligatorio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675"/>
                <a:gridCol w="2896688"/>
                <a:gridCol w="4055363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Rango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Significado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Ejemplos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2xx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Todo ha ido bien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200 OK · 201 Created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3xx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Redirección: pide en otro sitio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301 · 302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4xx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Error del cliente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400 Bad Request · 401 · 403 · 404 Not Found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5xx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Error del servidor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500 Internal Server Error · 503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distinción entre 4xx y 5xx no es cosmética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Dice DE QUIÉN ES LA CULPA.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Un 404 significa “lo que pides no existe”.</a:t>
            </a:r>
          </a:p>
          <a:p>
            <a:pPr lvl="1"/>
            <a:r>
              <a:rPr sz="1150"/>
              <a:t>El cliente NO debe reintentar: la respuesta será la misma.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Un 500 significa “no he podido atenderte”.</a:t>
            </a:r>
          </a:p>
          <a:p>
            <a:pPr lvl="1"/>
            <a:r>
              <a:rPr sz="1150"/>
              <a:t>Reintentar puede tener sentido.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Confundirlos lleva a clientes que reintentan indefinidamente peticiones que nunca van a funcionar.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7.3 · REST no es un protocolo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Se describe a menudo como tal, y no lo es.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Es un CONJUNTO DE RESTRICCIONES SOBRE HTTP para comunicar sistemas.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Lo formuló Roy Fielding en su tesis doctoral en el año 2000.</a:t>
            </a:r>
          </a:p>
          <a:p>
            <a:pPr/>
            <a:r>
              <a:rPr sz="1300"/>
              <a:t>Fielding fue además uno de los autores de la propia especificación de HTTP.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idea: aprovechar lo que HTTP ya ofrece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Las URL identifican RECURSOS, no acciones.</a:t>
            </a:r>
          </a:p>
          <a:p>
            <a:pPr lvl="1"/>
            <a:r>
              <a:rPr sz="1150"/>
              <a:t>/diccionarios/es/melón nombra una cosa; no dice qué hacer con ella.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VERBO dice qué se quiere hacer con ese recurso.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CÓDIGO DE ESTADO comunica el resultado.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CUERPO lleva los datos, habitualmente en JSON, y sólo cuando hace falta.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Muchas veces ni siquiera hace falta cuerpo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Si la información que hay que enviar es poca, viaja en la propia URL.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4465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GET http://diccionarios.miempresa.com/diccionarios/es/melón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la respuesta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5895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"idioma": "es",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"palabra": "melón",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"significados": [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"Fruta de la planta Cucumis melo, de pulpa jugosa y dulce.",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"Persona con pocas luces, torpe o lenta para comprender."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]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887980"/>
            <a:ext cx="8110727" cy="1729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Compárese con los más de trescientos caracteres de sobre XML que exigía SOAP para transportar dos palabras, y se entiende por qué REST se impuso.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7.4 · Una URL tiene partes que cambian y partes que 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986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   http://servidor:puerto/ruta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   Desarrollo:  localhost:8080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   Producción:  diccionarios.miempresa.com:443   (HTTPS)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266442"/>
            <a:ext cx="8110727" cy="2351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El servidor y el puerto cambian entre instalaciones. LA RUTA NO. Por eso el diseño del API consiste en definir las rutas y, para cada una, qué se responde en cada situación posible.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contrato que definimos ANTES de escribir el servidor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2162860"/>
                <a:gridCol w="1081430"/>
                <a:gridCol w="2162860"/>
              </a:tblGrid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Petición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Situación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Cuerpo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GET /diccionarios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Siempre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["EN","ELFICO","ES"]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GET /diccionarios/{idioma}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Existe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(vacío)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GET /diccionarios/{idioma}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No existe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(vacío)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GET /…/{idioma}/{palabra}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Ambos existen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200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significados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GET /…/{idioma}/{palabra}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Falta la palabra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similares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GET /…/{idioma}/{palabra}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Falta el idioma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404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(sin datos)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cualquiera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Error no controlado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mensaje de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Ese contrato es lo que se entrega
al equipo que hará el cliente.
Desde ahí trabajan en paralelo.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Qué es</a:t>
            </a:r>
          </a:p>
          <a:p>
            <a:pPr lvl="1"/>
            <a:r>
              <a:rPr sz="1100"/>
              <a:t>El estándar actual para describir un API REST.</a:t>
            </a:r>
          </a:p>
          <a:p>
            <a:pPr lvl="1"/>
            <a:r>
              <a:rPr sz="1100"/>
              <a:t>Sus versiones 1 y 2 se llamaron Swagger.</a:t>
            </a:r>
          </a:p>
          <a:p>
            <a:pPr lvl="1"/>
            <a:r>
              <a:rPr sz="1100"/>
              <a:t>Un fichero JSON o YAML con rutas, parámetros y respuestas.</a:t>
            </a:r>
          </a:p>
          <a:p>
            <a:pPr lvl="1"/>
            <a:r>
              <a:rPr sz="1100"/>
              <a:t>A partir de él se generan documentación y código de cliente.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Por qué importa</a:t>
            </a:r>
          </a:p>
          <a:p>
            <a:pPr lvl="1"/>
            <a:r>
              <a:rPr sz="1100"/>
              <a:t>Es neutro respecto al lenguaje de programación.</a:t>
            </a:r>
          </a:p>
          <a:p>
            <a:pPr lvl="1"/>
            <a:r>
              <a:rPr sz="1100"/>
              <a:t>Conceptualmente, OpenAPI es el equivalente moderno del IDL de CORBA.</a:t>
            </a:r>
          </a:p>
          <a:p>
            <a:pPr lvl="1"/>
            <a:r>
              <a:rPr sz="1100"/>
              <a:t>Resuelve el mismo problema con una fracción del esfuerzo.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OpenAPI · el contrato escrito de forma formal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Lo que no llegamos a hacer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En el proyecto del curso el contrato se escribió en prosa y en tablas, no en OpenAPI.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Existen librerías que lo generan automáticamente a partir de las anotaciones de Spring —springdoc-openapi— pero no se llegaron a incorporar.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Queda como ejercicio y como mejora evidente del proyecto.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7.5 · El punto más importante del capítulo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Y el que explica por qué fracasaron las tecnologías del capítulo siguiente: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UNA LLAMADA LOCAL NO ES UNA LLAMADA REMOTA.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Por mucho que la sintaxis se parezca.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cinco diferencias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804"/>
                <a:gridCol w="2495608"/>
                <a:gridCol w="4367314"/>
              </a:tblGrid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Llamada local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Llamada distribuida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Coste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Nanosegundos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Milisegundos: hasta un millón de veces más cara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Datos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Se pasa una referencia en memoria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Hay que serializar, enviar y deserializar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Fallos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Se ejecuta, o lanza una excepción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Puede además no llegar, llegar y no volver, o tardar indefinidamente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Acoplamiento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El compilador verifica los tipos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Si el servidor cambia el JSON, el cliente falla EN EJECUCIÓN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Versionado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Todo se despliega junto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Cliente y servidor evolucionan por separado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Tres decisiones de diseño que salen de esa tabla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Enviar el resultado completo en una sola respuesta</a:t>
            </a:r>
          </a:p>
          <a:p>
            <a:pPr lvl="1"/>
            <a:r>
              <a:rPr sz="1150"/>
              <a:t>El DTO lleva la lista entera de significados, en lugar de obligar a una llamada por significado.</a:t>
            </a:r>
          </a:p>
          <a:p>
            <a:pPr lvl="1"/>
            <a:r>
              <a:rPr sz="1150"/>
              <a:t>Minimizar el número de viajes por la red es la REGLA NÚMERO UNO.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Usar los códigos de estado HTTP para distinguir situaciones</a:t>
            </a:r>
          </a:p>
          <a:p>
            <a:pPr lvl="1"/>
            <a:r>
              <a:rPr sz="1150"/>
              <a:t>En lugar de excepciones Java, porque las excepciones no cruzan la red.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Reservar el 500 para “no puedo atenderte”</a:t>
            </a:r>
          </a:p>
          <a:p>
            <a:pPr lvl="1"/>
            <a:r>
              <a:rPr sz="1150"/>
              <a:t>“No encontrado” y “no disponible” son cosas distintas, y el cliente tiene que poder diferenciarlas para decidir si reintenta.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La promesa de RMI y CORBA era
que una llamada remota pareciera local.
Esa promesa no se puede cumplir.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Por qué no se puede cumplir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Porque la red…</a:t>
            </a:r>
          </a:p>
          <a:p>
            <a:pPr lvl="1"/>
            <a:r>
              <a:rPr sz="1150"/>
              <a:t>No es fiable.</a:t>
            </a:r>
          </a:p>
          <a:p>
            <a:pPr lvl="1"/>
            <a:r>
              <a:rPr sz="1150"/>
              <a:t>No es instantánea.</a:t>
            </a:r>
          </a:p>
          <a:p>
            <a:pPr lvl="1"/>
            <a:r>
              <a:rPr sz="1150"/>
              <a:t>No tiene ancho de banda infinito.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diferencia de REST es que el programador SABE EN TODO MOMENTO que está cruzando la red.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Esa transparencia, que técnicamente parece una limitación, es la razón de su éxito.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7.6 · Probar un API sin escribir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curl está disponible en cualquier terminal: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4465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curl -i http://localhost:8080/diccionarios/es/casa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220468"/>
            <a:ext cx="8110727" cy="2397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El modificador -i muestra también las cabeceras y el código de estado, que es justo lo que interesa comprobar.</a:t>
            </a:r>
          </a:p>
          <a:p>
            <a:r>
              <a:rPr sz="1150"/>
              <a:t>Alternativas gráficas: la extensión Boomerang para Firefox y Chrome, o aplicaciones como Postman e Insomnia, que además guardan colecciones de peticiones y permiten compartirlas con el equipo.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7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del capítulo 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/>
              <a:t>7.1 · El servicio devuelve 404 tanto si falta el idioma como si falta la palabra. ¿Cómo se distinguen hoy? Propón una alternativa que no dependa del cuerpo.</a:t>
            </a:r>
          </a:p>
          <a:p>
            <a:pPr/>
            <a:r>
              <a:rPr sz="1150"/>
              <a:t>7.2 · Diseña el contrato completo para dar de alta, modificar y borrar una palabra.</a:t>
            </a:r>
          </a:p>
          <a:p>
            <a:pPr/>
            <a:r>
              <a:rPr sz="1150"/>
              <a:t>7.3 · Un compañero propone GET /borrarPalabra?idioma=es&amp;palabra=melon. Enumera todos los problemas de esa propuesta.</a:t>
            </a:r>
          </a:p>
          <a:p>
            <a:pPr/>
            <a:r>
              <a:rPr sz="1150"/>
              <a:t>7.4 · El servidor renombra el campo significados. ¿Cuándo se entera cada cliente? ¿Qué estrategia usarías para no romperlos?</a:t>
            </a:r>
          </a:p>
          <a:p>
            <a:pPr/>
            <a:r>
              <a:rPr sz="1150"/>
              <a:t>7.5 · Calcula el sobrecoste de tres llamadas frente a una, a 40 ms cada una, en una sesión de 50 búsquedas.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Soluciones comentadas en el apéndice D del manual.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8 · Tecnologías heredadas y sus equivalentes actuales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RMI</a:t>
            </a:r>
          </a:p>
          <a:p>
            <a:pPr/>
            <a:r>
              <a:rPr sz="900"/>
              <a:t>CORBA, IDL, IIOP y RMI-IIOP</a:t>
            </a:r>
          </a:p>
          <a:p>
            <a:pPr/>
            <a:r>
              <a:rPr sz="900"/>
              <a:t>JNDI y los servicios de nombres</a:t>
            </a:r>
          </a:p>
          <a:p>
            <a:pPr/>
            <a:r>
              <a:rPr sz="900"/>
              <a:t>SOAP</a:t>
            </a:r>
          </a:p>
          <a:p>
            <a:pPr/>
            <a:r>
              <a:rPr sz="900"/>
              <a:t>Tabla de equivalencias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Razón práctica</a:t>
            </a:r>
          </a:p>
          <a:p>
            <a:pPr lvl="1"/>
            <a:r>
              <a:rPr sz="1100"/>
              <a:t>El temario clásico de JEE dedica sus primeros bloques a estas tecnologías.</a:t>
            </a:r>
          </a:p>
          <a:p>
            <a:pPr lvl="1"/>
            <a:r>
              <a:rPr sz="1100"/>
              <a:t>Es muy posible encontrárselas en sistemas heredados (legacy).</a:t>
            </a:r>
          </a:p>
          <a:p>
            <a:pPr lvl="1"/>
            <a:r>
              <a:rPr sz="1100"/>
              <a:t>Y hay que saber qué son cuando aparecen.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Razón formativa</a:t>
            </a:r>
          </a:p>
          <a:p>
            <a:pPr lvl="1"/>
            <a:r>
              <a:rPr sz="1100"/>
              <a:t>Entender POR QUÉ FRACASARON enseña más sobre diseño de sistemas distribuidos que estudiar la tecnología que ganó.</a:t>
            </a:r>
          </a:p>
          <a:p>
            <a:pPr lvl="1"/>
            <a:r>
              <a:rPr sz="1100"/>
              <a:t>Todas fueron desplazadas por REST sobre HTTP.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Por qué dedicarles un capítulo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8.1 · RMI · Remote Method Invocation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Invocar métodos de un objeto que en realidad se ejecuta en otra máquina. Desde el código, la llamada parecía local: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9545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Diccionario diccionario =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(Diccionario) Naming.lookup("rmi://servidor/diccionario-es");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diccionario.dameSignificados("melón");   // Esta llamada viaja por la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28468"/>
            <a:ext cx="8110727" cy="1889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Requería interfaces que extendieran java.rmi.Remote, generar stubs y skeletons con la herramienta rmic, y arrancar un registro de nombres (rmiregistry).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Por qué se dejó de usar RMI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Sólo funciona entre programas Java.</a:t>
            </a:r>
          </a:p>
          <a:p>
            <a:pPr lvl="1"/>
            <a:r>
              <a:rPr sz="1150"/>
              <a:t>Un cliente Android nativo, una web en JavaScript o un sistema en Python no pueden hablar RMI.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Usa puertos propios y serialización binaria.</a:t>
            </a:r>
          </a:p>
          <a:p>
            <a:pPr lvl="1"/>
            <a:r>
              <a:rPr sz="1150"/>
              <a:t>Difícil de atravesar cortafuegos y servidores intermedios.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serialización nativa de Java.</a:t>
            </a:r>
          </a:p>
          <a:p>
            <a:pPr lvl="1"/>
            <a:r>
              <a:rPr sz="1150"/>
              <a:t>Ha sido durante años una de las principales fuentes de vulnerabilidades graves de seguridad de la plataforma.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Oculta que la llamada es remota.</a:t>
            </a:r>
          </a:p>
          <a:p>
            <a:pPr lvl="1"/>
            <a:r>
              <a:rPr sz="1150"/>
              <a:t>Suena a ventaja y es precisamente el problema.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Dónde está</a:t>
            </a:r>
          </a:p>
          <a:p>
            <a:pPr lvl="1"/>
            <a:r>
              <a:rPr sz="1100"/>
              <a:t>Sigue existiendo en la JVM.</a:t>
            </a:r>
          </a:p>
          <a:p>
            <a:pPr lvl="1"/>
            <a:r>
              <a:rPr sz="1100"/>
              <a:t>Pero no se usa para sistemas nuevos.</a:t>
            </a:r>
          </a:p>
          <a:p>
            <a:pPr lvl="1"/>
            <a:r>
              <a:rPr sz="1100"/>
              <a:t>Su subsistema de activación se eliminó en Java 17.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Qué lo ha sustituido</a:t>
            </a:r>
          </a:p>
          <a:p>
            <a:pPr lvl="1"/>
            <a:r>
              <a:rPr sz="1100"/>
              <a:t>REST sobre HTTP.</a:t>
            </a:r>
          </a:p>
          <a:p>
            <a:pPr lvl="1"/>
            <a:r>
              <a:rPr sz="1100"/>
              <a:t>Y para comunicaciones internas de alto rendimiento entre servicios, gRPC.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Estado actual de RMI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8.2 · CORBA · el estándar que quiso unirlo todo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Common Object Request Broker Architecture, un estándar del OMG.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Hacía lo mismo que RMI pero ENTRE LENGUAJES DISTINTOS.</a:t>
            </a:r>
          </a:p>
          <a:p>
            <a:pPr lvl="1"/>
            <a:r>
              <a:rPr sz="1150"/>
              <a:t>Un cliente Java podía invocar un objeto escrito en C++ o en COBOL.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Era una idea excelente. Y aun así no sobrevivió.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piezas que aparecen en el temario clásico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6083045"/>
              </a:tblGrid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Pieza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Función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IDL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Lenguaje neutro para describir las interfaces remotas. Un compilador generaba el código Java, C++, etc.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Java IDL** (org.omg)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La implementación de CORBA incluida en el JDK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ORB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El intermediario que localizaba el objeto remoto y transportaba la llamada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COSNaming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El servicio de nombres: registrar y localizar objetos por nombre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IIOP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El protocolo binario por el que viajaban las llamadas entre ORBs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RMI-IIOP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Un puente: API de RMI transportada por IIOP, para interoperar con CORBA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Por qué se dejó de usar CORBA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Complejidad muy alta.</a:t>
            </a:r>
          </a:p>
          <a:p>
            <a:pPr lvl="1"/>
            <a:r>
              <a:rPr sz="1150"/>
              <a:t>Definir el IDL, compilarlo, generar código, configurar el ORB, gestionar el servicio de nombres… para CADA operación.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Protocolo binario propio.</a:t>
            </a:r>
          </a:p>
          <a:p>
            <a:pPr lvl="1"/>
            <a:r>
              <a:rPr sz="1150"/>
              <a:t>Muy difícil de depurar y de atravesar cortafuegos.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interoperabilidad entre ORBs de distintos fabricantes nunca funcionó bien.</a:t>
            </a:r>
          </a:p>
          <a:p>
            <a:pPr lvl="1"/>
            <a:r>
              <a:rPr sz="1150"/>
              <a:t>Y era justamente su razón de ser.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La llegada de HTTP como transporte universal dejó sin sentido mantener un protocolo específico.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CORBA fue eliminado del JDK
en Java 11.
En Java 21 ya no existe.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8.3 · JNDI · localizar recursos por nombre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En las aplicaciones J2EE clásicas el código NO creaba sus dependencias: las pedía a un directorio central del servidor de aplicaciones.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7990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Context contexto = new InitialContext();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DataSource origenDeDatos =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(DataSource) contexto.lookup("java:comp/env/jdbc/MiBaseDeDatos");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553843"/>
            <a:ext cx="8110727" cy="2063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El servidor —WebSphere, WebLogic, JBoss— tenía configurada la conexión, y la aplicación la localizaba por su nombre lógico. Así, cambiar de base de datos no obligaba a recompilar.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La idea de JNDI y la de Spring
son exactamente la misma.
Lo que ha cambiado es la dirección.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Service Locator frente a Inyección de Dependencias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85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706"/>
                <a:gridCol w="3743412"/>
                <a:gridCol w="2495608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Cómo funciona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Nombre del patrón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JNDI** (antiguo)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componente VA A BUSCAR lo que necesita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Service Locator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Spring** (actual)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contenedor LE ENTREGA al componente lo que necesita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Inyección de Dependencias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Compárese con lo que escribimos nosotros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9545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public DiccionariosRestController(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    SuministradorDeDiccionarios suministradorDeDiccionarios) {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this.suministradorDeDiccionarios = suministradorDeDiccionarios;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252980"/>
            <a:ext cx="8110727" cy="236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El controlador no busca nada, no conoce ninguna cadena de texto y no depende de ninguna API de directorio. Sólo DECLARA qué necesita.</a:t>
            </a:r>
          </a:p>
          <a:p>
            <a:r>
              <a:rPr sz="1150"/>
              <a:t>Con JNDI, si el nombre lógico estaba mal escrito, el fallo aparecía en ejecución. Con inyección de dependencias, si falta un componente, la aplicación NO ARRANCA.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en sistemas distribuidos actuales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La parte de “localizar dónde está el servicio” la resuelve el service discovery de la plataforma: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El DNS interno de Kubernetes.</a:t>
            </a:r>
          </a:p>
          <a:p>
            <a:pPr lvl="1"/>
            <a:r>
              <a:rPr sz="1150"/>
              <a:t>Consul.</a:t>
            </a:r>
          </a:p>
          <a:p>
            <a:pPr lvl="1"/>
            <a:r>
              <a:rPr sz="1150"/>
              <a:t>Eureka.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JNDI sigue en el JDK y los servidores de aplicaciones clásicos lo soportan. Lo que ha cambiado es que ya casi nunca se escribe código de lookup a mano.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8.4 · SOAP · el paso intermedio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Mensajes XML enviados dentro de peticiones HTTP, con el contrato en un WSDL.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76415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&lt;soap:Envelope xmlns:soap="http://www.w3.org/2003/05/soap-envelope"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     xmlns:dic="http://www.diccionarios.com"&gt;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&lt;soap:Header/&gt;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&lt;soap:Body&gt;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&lt;dic:buscarPalabra&gt;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&lt;dic:palabra&gt;melón&lt;/dic:palabra&gt;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&lt;dic:idioma&gt;es&lt;/dic:idioma&gt;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&lt;/dic:buscarPalabra&gt;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&lt;/soap:Body&gt;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&lt;/soap:Envelope&gt;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Para transmitir siete caracteres útiles
se envían más de trescientos.
Eso es un sinsentido.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Su gran acierto</a:t>
            </a:r>
          </a:p>
          <a:p>
            <a:pPr lvl="1"/>
            <a:r>
              <a:rPr sz="1100"/>
              <a:t>Viajaba sobre HTTP.</a:t>
            </a:r>
          </a:p>
          <a:p>
            <a:pPr lvl="1"/>
            <a:r>
              <a:rPr sz="1100"/>
              <a:t>Atravesaba cortafuegos.</a:t>
            </a:r>
          </a:p>
          <a:p>
            <a:pPr lvl="1"/>
            <a:r>
              <a:rPr sz="1100"/>
              <a:t>Eso le permitió desplazar a CORBA.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Su problema</a:t>
            </a:r>
          </a:p>
          <a:p>
            <a:pPr lvl="1"/>
            <a:r>
              <a:rPr sz="1100"/>
              <a:t>El peso: la respuesta tenía la misma estructura y el mismo tamaño.</a:t>
            </a:r>
          </a:p>
          <a:p>
            <a:pPr lvl="1"/>
            <a:r>
              <a:rPr sz="1100"/>
              <a:t>Y programarlo era notablemente más complejo que hacer una petición HTTP corriente.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El acierto y el fracaso de SOAP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Estado actual de SOAP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JAX-WS, la API de Java para SOAP, se eliminó del JDK en Java 11. Hay que añadirla como dependencia externa.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No se arrancan proyectos nuevos con SOAP, salvo por imposición de un tercero.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PERO SIGUE MUY PRESENTE EN PRODUCCIÓN</a:t>
            </a:r>
          </a:p>
          <a:p>
            <a:pPr lvl="1"/>
            <a:r>
              <a:rPr sz="1150"/>
              <a:t>En banca, seguros y administración pública.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De todas las tecnologías de este capítulo, SOAP es con diferencia la que más probabilidades hay de encontrarse en un puesto de trabajo.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8.5 · Tabla de equivalencias · del temario clásico a hoy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9469"/>
                <a:gridCol w="4731257"/>
              </a:tblGrid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Concepto del temario original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Equivalente actual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RMI, CORBA / IIOP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REST sobre HTTP; gRPC en comunicaciones internas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IDL (definición de interfaces)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OpenAPI (antes Swagger)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Servicio de nombres JNDI / COSNaming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Inyección de dependencias (contenedor IoC de Spring)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Localizar un servidor remoto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Service discovery (DNS de Kubernetes, Consul, Eureka)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XML como formato de intercambio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Servidor de aplicaciones instalado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Tomcat embebido dentro del propio .jar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Descriptores XML (web.xml, ejb-jar.xml)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Anotaciones y application.properties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EJB Session Bean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Componente de Spring (@Component, @Service)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EJB Entity Bean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Entidad JPA (@Entity)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DAO a mano con JDBC y SQL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Repositorio de Spring Data JPA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J2EE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Jakarta EE (paquetes jakarta.* en lugar de javax.*)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8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8.6 · Hay un patrón común en los cuatro fracasos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RMI y CORBA prometían que una llamada remota se pareciera a una local.</a:t>
            </a:r>
          </a:p>
          <a:p>
            <a:pPr/>
            <a:r>
              <a:rPr sz="1300"/>
              <a:t>SOAP prometía que la interoperabilidad se resolvería con un contrato exhaustivo y un tipado estricto.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En ambos casos la complejidad no desapareció: se desplazó</a:t>
            </a:r>
          </a:p>
          <a:p>
            <a:pPr lvl="1"/>
            <a:r>
              <a:rPr sz="1150"/>
              <a:t>A la configuración.</a:t>
            </a:r>
          </a:p>
          <a:p>
            <a:pPr lvl="1"/>
            <a:r>
              <a:rPr sz="1150"/>
              <a:t>A las herramientas de generación de código.</a:t>
            </a:r>
          </a:p>
          <a:p>
            <a:pPr lvl="1"/>
            <a:r>
              <a:rPr sz="1150"/>
              <a:t>A los errores en tiempo de ejecución.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Las tecnologías que intentaron
OCULTAR la complejidad de la red
fracasaron.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la que triunfó la deja a la vista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REST no oculta nada.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Hay una URL.</a:t>
            </a:r>
          </a:p>
          <a:p>
            <a:pPr lvl="1"/>
            <a:r>
              <a:rPr sz="1150"/>
              <a:t>Un verbo.</a:t>
            </a:r>
          </a:p>
          <a:p>
            <a:pPr lvl="1"/>
            <a:r>
              <a:rPr sz="1150"/>
              <a:t>Un código de estado.</a:t>
            </a:r>
          </a:p>
          <a:p>
            <a:pPr lvl="1"/>
            <a:r>
              <a:rPr sz="1150"/>
              <a:t>Y, si acaso, un JSON.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Se puede depurar con curl y leer con los ojos.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Esa transparencia, que técnicamente parece una limitación, es la razón de su éxito.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del capítulo 8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Fundamentos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/>
              <a:t>8.1 · Un sistema heredado expone su funcionalidad por RMI y hay que consumirlo desde una web moderna. Describe la arquitectura, sin tocar el sistema heredado.</a:t>
            </a:r>
          </a:p>
          <a:p>
            <a:pPr/>
            <a:r>
              <a:rPr sz="1150"/>
              <a:t>8.2 · Compara el tamaño de la petición SOAP con la REST equivalente. Calcula el sobrecoste con un millón de peticiones diarias.</a:t>
            </a:r>
          </a:p>
          <a:p>
            <a:pPr/>
            <a:r>
              <a:rPr sz="1150"/>
              <a:t>8.3 · Explica la diferencia entre Service Locator e Inyección de Dependencias y por qué se prefiere la segunda.</a:t>
            </a:r>
          </a:p>
          <a:p>
            <a:pPr/>
            <a:r>
              <a:rPr sz="1150"/>
              <a:t>8.4 · ¿Qué clase de nuestro proyecto cumple hoy el papel de un Session Bean? ¿Y de un Entity Bean?</a:t>
            </a:r>
          </a:p>
          <a:p>
            <a:pPr/>
            <a:r>
              <a:rPr sz="1150"/>
              <a:t>8.5 · ¿Por qué eliminar CORBA del JDK no rompió ninguna aplicación moderna?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Soluciones comentadas en el apéndice D del manual.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9 · Spring y Spring Boot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Framework frente a librería</a:t>
            </a:r>
          </a:p>
          <a:p>
            <a:pPr/>
            <a:r>
              <a:rPr sz="900"/>
              <a:t>Los starters</a:t>
            </a:r>
          </a:p>
          <a:p>
            <a:pPr/>
            <a:r>
              <a:rPr sz="900"/>
              <a:t>Inversión de control e inyección de dependencias</a:t>
            </a:r>
          </a:p>
          <a:p>
            <a:pPr/>
            <a:r>
              <a:rPr sz="900"/>
              <a:t>El controlador REST y el servidor embebido</a:t>
            </a:r>
          </a:p>
          <a:p>
            <a:pPr/>
            <a:r>
              <a:rPr sz="900"/>
              <a:t>La magia de Spring: las dos caras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Una LIBRERÍA la integro yo</a:t>
            </a:r>
          </a:p>
          <a:p>
            <a:pPr lvl="1"/>
            <a:r>
              <a:rPr sz="1100"/>
              <a:t>Yo llamo a su código cuando lo necesito.</a:t>
            </a:r>
          </a:p>
          <a:p>
            <a:pPr lvl="1"/>
            <a:r>
              <a:rPr sz="1100"/>
              <a:t>Mi programa manda; la librería obedece.</a:t>
            </a:r>
          </a:p>
          <a:p>
            <a:pPr lvl="1"/>
            <a:r>
              <a:rPr sz="1100"/>
              <a:t>Ejemplo: una librería que genera informes en PDF. En el punto donde hace falta, llamo a su función, le paso los datos y me devuelve el fichero.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Un FRAMEWORK no lo integro</a:t>
            </a:r>
          </a:p>
          <a:p>
            <a:pPr lvl="1"/>
            <a:r>
              <a:rPr sz="1100"/>
              <a:t>Construyo mi programa ALREDEDOR de él.</a:t>
            </a:r>
          </a:p>
          <a:p>
            <a:pPr lvl="1"/>
            <a:r>
              <a:rPr sz="1100"/>
              <a:t>Y es él quien llama a mi código.</a:t>
            </a:r>
          </a:p>
          <a:p>
            <a:pPr lvl="1"/>
            <a:r>
              <a:rPr sz="1100"/>
              <a:t>Impone dónde va cada pieza, cómo se llaman y cuándo se ejecutan.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9.1 · La distinción más importante del capítulo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A cambio de aceptar sus reglas,
el framework escribe por nosotros
la mayor parte del sistema.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Spring</a:t>
            </a:r>
          </a:p>
          <a:p>
            <a:pPr lvl="1"/>
            <a:r>
              <a:rPr sz="1100"/>
              <a:t>Un framework de Java: más de DOSCIENTAS librerías.</a:t>
            </a:r>
          </a:p>
          <a:p>
            <a:pPr lvl="1"/>
            <a:r>
              <a:rPr sz="1100"/>
              <a:t>Cubre los tipos de aplicación empresarial más habituales.</a:t>
            </a:r>
          </a:p>
          <a:p>
            <a:pPr lvl="1"/>
            <a:r>
              <a:rPr sz="1100"/>
              <a:t>Como casi todo el mundo construye básicamente lo mismo, Spring lo estandariza.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Spring Boot</a:t>
            </a:r>
          </a:p>
          <a:p>
            <a:pPr lvl="1"/>
            <a:r>
              <a:rPr sz="1100"/>
              <a:t>Una de esas doscientas librerías.</a:t>
            </a:r>
          </a:p>
          <a:p>
            <a:pPr lvl="1"/>
            <a:r>
              <a:rPr sz="1100"/>
              <a:t>Resuelve un problema muy concreto: hasta que apareció, configurar un proyecto Spring para EMPEZAR A TRABAJAR era una tarea ingente.</a:t>
            </a:r>
          </a:p>
          <a:p>
            <a:pPr lvl="1"/>
            <a:r>
              <a:rPr sz="1100"/>
              <a:t>Elimina esa configuración inicial tomando decisiones razonables por defecto.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Spring y Spring Boot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9.2 · Los starters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 starter es un paquete de dependencias que cubre un tipo de proyecto completo.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12915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&lt;dependency&gt;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&lt;groupId&gt;org.springframework.boot&lt;/groupId&gt;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&lt;artifactId&gt;spring-boot-starter-webmvc&lt;/artifactId&gt;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&lt;version&gt;${version.de.spring}&lt;/version&gt;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&lt;/dependency&gt;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03093"/>
            <a:ext cx="8110727" cy="171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En lugar de averiguar qué treinta librerías hacen falta para exponer un servicio web y qué versiones son compatibles entre sí, se declara UNA.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Los starters más usados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9469"/>
                <a:gridCol w="4731257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Starter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Para qué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spring-boot-starter-webmvc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Servicios web y controladores 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spring-boot-starter-data-jpa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Acceso a bases de datos relacionales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spring-boot-starter-security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Autenticación y autorización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spring-boot-starter-test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Pruebas automatizadas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9.3 · Contenedor de inversión de control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Spring es lo que se denomina un IoC container.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La idea, de la manera más directa posible: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FLUJO DE LA APLICACIÓN DEJA DE ESCRIBIRLO EL PROGRAMADOR.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El flujo de una aplicación es, básicamente, lo que se pone en el método main.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en Spring el main tiene UNA línea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3037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@SpringBootApplication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public class ServicioWeb {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public static void main(String[] args) {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    SpringApplication.run(ServicioWeb.class, args);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602230"/>
            <a:ext cx="8110727" cy="2015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Traducido: “Spring, arranca mi aplicación”.</a:t>
            </a:r>
          </a:p>
          <a:p>
            <a:r>
              <a:rPr sz="1150"/>
              <a:t>Y es la MISMA línea en todas las aplicaciones Spring del mundo. A partir de ahí, quién se construye, en qué orden y cuándo se ejecuta cada cosa, lo decide el 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Se lee el código fuente completo
y no se encuentra escrito
por qué el programa hace lo que hace.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9.4 · El componente DECLARA lo que necesita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6847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@RestController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public class DiccionariosRestController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private final SuministradorDeDiccionarios suministradorDeDiccionarios;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public DiccionariosRestController(SuministradorDeDiccionarios suministrador)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this.suministradorDeDiccionarios = suministrador;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983230"/>
            <a:ext cx="8110727" cy="163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Esta clase no ejecuta new sobre nada, no sabe de dónde salen los diccionarios y no menciona ninguna implementación concreta.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¿Y quién decide qué implementación se entrega?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803719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@Component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public class SuministradorDeDiccionariosEnBBDD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        implements SuministradorDeDiccionarios { …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102167"/>
            <a:ext cx="8110727" cy="251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Con eso basta: cuando alguien pida un SuministradorDeDiccionarios, Spring entregará una instancia de esta clase.</a:t>
            </a:r>
          </a:p>
          <a:p>
            <a:r>
              <a:rPr sz="1150"/>
              <a:t>Y será SIEMPRE LA MISMA, porque los componentes de Spring son singletons por defecto.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Qué pasa si hay dos candidatos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Si dos clases distintas implementan la misma interfaz y ambas están anotadas como componentes, Spring no sabrá cuál entregar.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la aplicación FALLARÁ AL ARRANCAR.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Se resuelve con @Primary o con @Qualifier.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Que falle al arrancar y no en mitad de una petición es, precisamente, la ventaja frente al modelo antiguo de JNDI.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alternativa explícita: construcción a mano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Es el equivalente exacto de la factoría del capítulo 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5895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@Configuration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public class SuministradorDeDiccionariosConfiguration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@Bean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public SuministradorDeDiccionarios dameSuministrador()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return new SuministradorDeDiccionariosEnFicheros("diccionarios");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363468"/>
            <a:ext cx="8110727" cy="1254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@Component es más cómodo. @Bean es imprescindible cuando la construcción requiere lógica, o cuando la clase no es nuestra y no se le puede poner una anotación.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9.5 · El controlador REST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2216594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@RestController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public class DiccionariosRestController {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@GetMapping("/diccionarios/{idioma}")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public ResponseEntity&lt;Void&gt; existeDiccionarioDe(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              @PathVariable("idioma") String idioma) {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if (suministradorDeDiccionarios.tienesDiccionarioDe(idioma)) {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  return ResponseEntity.ok().build();        // 200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} else {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  return ResponseEntity.notFound().build();  // 404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}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Qué hace cada elemento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5407151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Elemento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hace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@RestController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Marca la clase como componente que define rutas HTTP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@GetMapping("…")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Asocia un método al verbo GET y a una ruta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{idioma}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Parte variable de la ruta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@PathVariable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Extrae esa parte variable y la pasa como argumento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ResponseEntity&lt;T&gt;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respuesta HTTP: código de estado y, opcionalmente, cuerpo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con eso, Spring se encarga de todo lo demás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sz="1150"/>
              <a:t>Arrancar el servidor.</a:t>
            </a:r>
          </a:p>
          <a:p>
            <a:pPr lvl="1"/>
            <a:r>
              <a:rPr sz="1150"/>
              <a:t>Registrar las rutas.</a:t>
            </a:r>
          </a:p>
          <a:p>
            <a:pPr lvl="1"/>
            <a:r>
              <a:rPr sz="1150"/>
              <a:t>Extraer los parámetros de la URL.</a:t>
            </a:r>
          </a:p>
          <a:p>
            <a:pPr lvl="1"/>
            <a:r>
              <a:rPr sz="1150"/>
              <a:t>Invocar el método correcto.</a:t>
            </a:r>
          </a:p>
          <a:p>
            <a:pPr lvl="1"/>
            <a:r>
              <a:rPr sz="1150"/>
              <a:t>Convertir a JSON el objeto devuelto —de esto se ocupa una librería llamada Jackson—.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Si no hay cuerpo que devolver se usa ResponseEntity&lt;Void&gt;.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9.6 · Dónde busca Spring los componentes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@SpringBootApplication hace que Spring busque componentes automáticamente…</a:t>
            </a:r>
          </a:p>
          <a:p>
            <a:pPr/>
            <a:r>
              <a:rPr sz="1300" b="1"/>
              <a:t>…pero SÓLO en el paquete de la clase principal y sus subpaquetes.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En un proyecto multimódulo esto deja de ser suficiente.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En nuestro proyecto la clase principal está en com.curso.diccionarios.servicioweb y el componente que hay que encontrar está en com.curso.diccionarios.bbdd, que no es subpaquete del anterior.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Por eso hizo falta ampliar el ámbito de búsqueda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8592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@SpringBootApplication(scanBasePackages = {"com.curso.diccionarios"})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@EnableJpaRepositories(basePackages = {"com.curso.diccionarios.bbdd.repositorios"})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@EntityScan(basePackages = {"com.curso.diccionarios.bbdd.entidades"})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public class ServicioWeb { …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157730"/>
            <a:ext cx="8110727" cy="245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Es uno de los errores más frecuentes al modularizar una aplicación Spring: el código compila perfectamente y la aplicación falla al arrancar diciendo que no encuentra un componente que está claramente ahí.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9.7 · Configuración externa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Spring lee al arrancar un fichero application.properties en src/main/resources. Cualquier valor de ese fichero se puede inyectar en un campo.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6370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@Value("${diccionarios.carpeta:diccionarios}")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private String carpetaDeDiccionarios;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410968"/>
            <a:ext cx="8110727" cy="2206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La sintaxis dice: usa la propiedad diccionarios.carpeta y, si no existe, usa 'diccionarios' como valor por defecto.</a:t>
            </a:r>
          </a:p>
          <a:p>
            <a:r>
              <a:rPr sz="1150"/>
              <a:t>Es el equivalente moderno de la configuración que antes vivía en el servidor de aplicaciones, y lo que permite que el mismo .jar funcione en desarrollo y en producción con configuraciones distintas.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Qué es</a:t>
            </a:r>
          </a:p>
          <a:p>
            <a:pPr lvl="1"/>
            <a:r>
              <a:rPr sz="1100"/>
              <a:t>El programa que aloja la aplicación, abre un puerto de red, recibe las peticiones HTTP y las encamina.</a:t>
            </a:r>
          </a:p>
          <a:p>
            <a:pPr/>
            <a:r>
              <a:rPr sz="1250"/>
              <a:t/>
            </a:r>
          </a:p>
          <a:p>
            <a:pPr/>
            <a:r>
              <a:rPr sz="1250" b="1"/>
              <a:t>Los clásicos de J2EE</a:t>
            </a:r>
          </a:p>
          <a:p>
            <a:pPr lvl="1"/>
            <a:r>
              <a:rPr sz="1100"/>
              <a:t>WebSphere (IBM), WebLogic (Oracle), JBoss/WildFly (Red Hat), Apache Tomcat.</a:t>
            </a:r>
          </a:p>
          <a:p>
            <a:pPr lvl="1"/>
            <a:r>
              <a:rPr sz="1100"/>
              <a:t>Se instalaban aparte, y en ellos se desplegaba un .war o un .ear.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El modelo actual: Tomcat embebido</a:t>
            </a:r>
          </a:p>
          <a:p>
            <a:pPr lvl="1"/>
            <a:r>
              <a:rPr sz="1100"/>
              <a:t>Spring Boot mete el servidor DENTRO del .jar de la aplicación.</a:t>
            </a:r>
          </a:p>
          <a:p>
            <a:pPr lvl="1"/>
            <a:r>
              <a:rPr sz="1100"/>
              <a:t>No hay nada que instalar ni configurar en la máquina de destino.</a:t>
            </a:r>
          </a:p>
          <a:p>
            <a:pPr lvl="1"/>
            <a:r>
              <a:rPr sz="1100"/>
              <a:t>Basta con Java y ejecutar el .jar.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9.8 · El servidor de aplicaciones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cambio, en dos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803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   Modelo clásico:   instalar WebSphere → desplegar mi-app.war dentro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   Modelo actual:    java -jar mi-app.jar      (el servidor va dentro)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083879"/>
            <a:ext cx="8110727" cy="253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La consecuencia va más allá de la comodidad: es lo que hace posible empaquetar una aplicación en un contenedor y desplegarla en cualquier plataforma sin preparar la máquina.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9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A favor</a:t>
            </a:r>
          </a:p>
          <a:p>
            <a:pPr lvl="1"/>
            <a:r>
              <a:rPr sz="1100"/>
              <a:t>Desarrollo mucho más rápido.</a:t>
            </a:r>
          </a:p>
          <a:p>
            <a:pPr lvl="1"/>
            <a:r>
              <a:rPr sz="1100"/>
              <a:t>Muchísimo menos código propio.</a:t>
            </a:r>
          </a:p>
          <a:p>
            <a:pPr lvl="1"/>
            <a:r>
              <a:rPr sz="1100"/>
              <a:t>Un estándar de facto: cualquier desarrollador reconoce la estructura de un proyecto Spring en cualquier empresa.</a:t>
            </a:r>
          </a:p>
          <a:p>
            <a:pPr lvl="1"/>
            <a:r>
              <a:rPr sz="1100"/>
              <a:t>Se puede cambiar de proyecto sin aprender nada nuevo.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En contra</a:t>
            </a:r>
          </a:p>
          <a:p>
            <a:pPr lvl="1"/>
            <a:r>
              <a:rPr sz="1100"/>
              <a:t>Hace mucha “magia” por debajo.</a:t>
            </a:r>
          </a:p>
          <a:p>
            <a:pPr lvl="1"/>
            <a:r>
              <a:rPr sz="1100"/>
              <a:t>Si no se entiende qué está haciendo el framework, se llega a un punto en el que se lee el código fuente y no se entiende por qué el programa funciona.</a:t>
            </a:r>
          </a:p>
          <a:p>
            <a:pPr lvl="1"/>
            <a:r>
              <a:rPr sz="1100"/>
              <a:t>Una gran parte del comportamiento no está escrita en ningún fichero del proyecto.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9.9 · La magia de Spring tiene dos caras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Saber qué hay debajo es lo que separa
a quien USA Spring
de quien DEPENDE de él.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De ahí el enfoque de este curso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Enseñar primero cómo se hacía a mano</a:t>
            </a:r>
          </a:p>
          <a:p>
            <a:pPr lvl="1"/>
            <a:r>
              <a:rPr sz="1150"/>
              <a:t>La factoría.</a:t>
            </a:r>
          </a:p>
          <a:p>
            <a:pPr lvl="1"/>
            <a:r>
              <a:rPr sz="1150"/>
              <a:t>El script SQL.</a:t>
            </a:r>
          </a:p>
          <a:p>
            <a:pPr lvl="1"/>
            <a:r>
              <a:rPr sz="1150"/>
              <a:t>El proxy de gestión de errores.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sólo después, qué parte de ese trabajo asume el framework.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El orden importa: quien aprende primero la anotación y nunca el problema que resuelve, no sabrá qué hacer el día que la anotación no baste.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del capítulo 9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/>
              <a:t>9.1 · Se añade una segunda clase @Component que implementa la misma interfaz. ¿Qué ocurre, en qué momento exacto, y cómo se resuelve?</a:t>
            </a:r>
          </a:p>
          <a:p>
            <a:pPr/>
            <a:r>
              <a:rPr sz="1150"/>
              <a:t>9.2 · Escribe la clase @Configuration que entregue un suministrador cuya URL se lea de application.properties.</a:t>
            </a:r>
          </a:p>
          <a:p>
            <a:pPr/>
            <a:r>
              <a:rPr sz="1150"/>
              <a:t>9.3 · ¿Por qué DiccionarioEnBBDD NO lleva @Component y SuministradorDeDiccionariosEnBBDD sí? Fíjate en quién crea cada uno.</a:t>
            </a:r>
          </a:p>
          <a:p>
            <a:pPr/>
            <a:r>
              <a:rPr sz="1150"/>
              <a:t>9.4 · Un compañero mueve la clase principal a otro paquete y deja de encontrar los componentes. Explica la causa y da dos soluciones.</a:t>
            </a:r>
          </a:p>
          <a:p>
            <a:pPr/>
            <a:r>
              <a:rPr sz="1150"/>
              <a:t>9.5 · Enumera cinco cosas que Spring hace por nosotros y que en J2EE había que escribir o configurar a mano.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Soluciones comentadas en el apéndice D del manual.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10 · Persistencia: Jakarta EE, JPA e Hibernate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Qué es JEE · de J2EE a Jakarta EE</a:t>
            </a:r>
          </a:p>
          <a:p>
            <a:pPr/>
            <a:r>
              <a:rPr sz="900"/>
              <a:t>El modelo entidad-relación</a:t>
            </a:r>
          </a:p>
          <a:p>
            <a:pPr/>
            <a:r>
              <a:rPr sz="900"/>
              <a:t>Entidades y relaciones</a:t>
            </a:r>
          </a:p>
          <a:p>
            <a:pPr/>
            <a:r>
              <a:rPr sz="900"/>
              <a:t>Repositorios y consultas derivadas</a:t>
            </a:r>
          </a:p>
          <a:p>
            <a:pPr/>
            <a:r>
              <a:rPr sz="900"/>
              <a:t>Configuración, carga inicial y transacciones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10.1 · De J2EE a Jakarta EE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Antes se llamaba J2EE · Java 2 Enterprise Edition.</a:t>
            </a:r>
          </a:p>
          <a:p>
            <a:pPr/>
            <a:r>
              <a:rPr sz="1300"/>
              <a:t>Hoy se llama JAKARTA EE, tras la cesión de la plataforma por parte de Oracle a la Fundación Eclipse en 2017.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Ése es el motivo de que los paquetes se llamen ahora jakarta.persistence.* y no javax.persistence.*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Ese cambio de nombre tiene consecuencias reales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Es la causa de una de las incompatibilidades más molestas al actualizar proyectos antiguos.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Código que compilaba perfectamente deja de hacerlo.</a:t>
            </a:r>
          </a:p>
          <a:p>
            <a:pPr/>
            <a:r>
              <a:rPr sz="1300"/>
              <a:t>Y la única solución es cambiar los import uno a uno.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Si alguna vez os toca migrar una aplicación de javax a jakarta, ya sabéis de dónde viene.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Tres piezas que se confunden con frecuencia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JEE no es una librería: es una colección de estándares. El que usamos a fondo es JPA.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6083045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es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JPA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**estándar**: define las anotaciones (@Entity, @Id, @ManyToOne) y el comportamiento esperado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Hibernate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Una **implementación** concreta de ese estándar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Spring Data JPA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Una **capa por encima** que elimina el código repetitivo de los repositorios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Es la misma relación entre interfaz
e implementación del capítulo 3,
aplicada a escala de industria.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10.2 · El modelo entidad-relación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Antes de escribir código, el modelo de datos.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95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850">
                <a:solidFill>
                  <a:srgbClr val="1C1E3B"/>
                </a:solidFill>
                <a:latin typeface="Menlo"/>
              </a:rPr>
              <a:t>   idiomas                palabras                        significados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1C1E3B"/>
                </a:solidFill>
                <a:latin typeface="Menlo"/>
              </a:rPr>
              <a:t>   ┌────┬────────┐        ┌────┬─────────┬───────────┐    ┌────┬────────────┬─────────────┐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1C1E3B"/>
                </a:solidFill>
                <a:latin typeface="Menlo"/>
              </a:rPr>
              <a:t>   │ id │ codigo │ ─1:N──▶│ id │ palabra │ idioma_id │1:N▶│ id │ palabra_id │ significado │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1C1E3B"/>
                </a:solidFill>
                <a:latin typeface="Menlo"/>
              </a:rPr>
              <a:t>   └────┴────────┘        └────┴─────────┴───────────┘    └────┴────────────┴─────────────┘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relaciones se leen en los dos sentidos, y ambos importan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6083045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Desde…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Relación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idioma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Un idioma tiene **muchas** palabras → one-to-many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palabra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Muchas palabras pertenecen a **un** idioma → many-to-one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palabra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Una palabra tiene **muchos** significados → one-to-many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significado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Muchos significados pertenecen a **una** palabra → many-to-one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restricciones de integridad son parte del diseño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sz="1150"/>
              <a:t>codigo es único en idiomas.</a:t>
            </a:r>
          </a:p>
          <a:p>
            <a:pPr lvl="1"/>
            <a:r>
              <a:rPr sz="1150"/>
              <a:t>No puede haber dos idiomas con el mismo código.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La combinación (palabra, idioma_id) es única.</a:t>
            </a:r>
          </a:p>
          <a:p>
            <a:pPr lvl="1"/>
            <a:r>
              <a:rPr sz="1150"/>
              <a:t>La misma palabra puede existir en varios idiomas, pero no dos veces en el mismo.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La combinación (significado, palabra_id) es única.</a:t>
            </a:r>
          </a:p>
          <a:p>
            <a:pPr lvl="1"/>
            <a:r>
              <a:rPr sz="1150"/>
              <a:t>Un significado no puede repetirse dentro de la misma palabra.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Si el programa tiene un error,
la base de datos impide que ese error
se convierta en datos corruptos.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10.3 · Lo que antiguamente había que escribir a mano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20657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CREATE TABLE Idiomas (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ID INT PRIMARY KEY,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codigo VARCHAR(10) NOT NULL UNIQUE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CREATE TABLE Palabras (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ID INT PRIMARY KEY,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palabra VARCHAR(100),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idioma_id INT,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UNIQUE (palabra, idioma_id),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FOREIGN KEY (idioma_id) REFERENCES Idiomas(ID)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además, cada consulta era SQL escrito a mano dentro del código Java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Todo ese trabajo lo hace hoy Hibernate.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No se escribe una sola línea de SQL en todo el proyecto.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Hibernate es un ORM · Object Relational Mapping: una librería que traduce entre objetos Java y tablas relacionales, en ambos sentidos.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Ese patrón, en el temario clásico, se llama Domain Store: que el programador trabaje con objetos y no con filas y columnas.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10.4 · Una 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Una entidad es una clase Java cuyos objetos se guardan en una tabla.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20022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@Entity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@Table(name = "idiomas")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public class Idioma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@Id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@GeneratedValue(strategy = GenerationType.IDENTITY)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private int id;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@Column(name = "codigo", nullable = false, unique = true)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private String codigo;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anotaciones y lo que indican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5407151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Anotación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indica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@Entity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Esta clase se persiste en la base de datos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@Table(name = …)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En qué tabla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@Id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Cuál es la clave primaria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@GeneratedValue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Que el valor lo genera la base de datos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@Column(...)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Nombre de columna y restricciones: nullable, unique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relaciones se declaran en los dos extremos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5895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// En Palabra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@ManyToOne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private Idioma idioma;                 // muchas palabras, un idioma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@OneToMany(mappedBy = "palabra",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   cascade = CascadeType.ALL,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   orphanRemoval = true)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private List&lt;Significado&gt; significados;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mappedBy</a:t>
            </a:r>
          </a:p>
          <a:p>
            <a:pPr lvl="1"/>
            <a:r>
              <a:rPr sz="1100"/>
              <a:t>Indica cuál de los dos extremos es el “dueño” de la relación.</a:t>
            </a:r>
          </a:p>
          <a:p>
            <a:pPr lvl="1"/>
            <a:r>
              <a:rPr sz="1100"/>
              <a:t>Es decir, en qué tabla está la columna que la materializa.</a:t>
            </a:r>
          </a:p>
          <a:p>
            <a:pPr lvl="1"/>
            <a:r>
              <a:rPr sz="1100"/>
              <a:t>Aquí, en Significado.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cascade = CascadeType.ALL</a:t>
            </a:r>
          </a:p>
          <a:p>
            <a:pPr lvl="1"/>
            <a:r>
              <a:rPr sz="1100"/>
              <a:t>Propaga las operaciones.</a:t>
            </a:r>
          </a:p>
          <a:p>
            <a:pPr lvl="1"/>
            <a:r>
              <a:rPr sz="1100"/>
              <a:t>Al guardar una palabra se guardan también sus significados.</a:t>
            </a:r>
          </a:p>
          <a:p>
            <a:pPr lvl="1"/>
            <a:r>
              <a:rPr sz="1100"/>
              <a:t>Sin necesidad de guardarlos uno a uno.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Dos atributos que merecen explicación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Aviso sobre las relaciones bidireccionales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Cuando se usan relaciones en los dos sentidos hay que ENGANCHAR LOS DOS LADOS antes de guardar.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En el proyecto, CargadorDeDatos asigna a cada Significado su Palabra…</a:t>
            </a:r>
          </a:p>
          <a:p>
            <a:pPr lvl="1"/>
            <a:r>
              <a:rPr sz="1150"/>
              <a:t>…y a la Palabra su lista de significados.</a:t>
            </a:r>
          </a:p>
          <a:p>
            <a:pPr lvl="1"/>
            <a:r>
              <a:rPr sz="1150"/>
              <a:t>Sólo entonces hace un único save().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Si se olvida un lado, los datos se guardan a medias y el error aparece mucho más tarde, al leerlos.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10.5 · Los repositorios · aquí pasa algo distinto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Una cosa son los DATOS y otra las OPERACIONES que se pueden hacer sobre ellos.</a:t>
            </a:r>
          </a:p>
          <a:p>
            <a:pPr/>
            <a:r>
              <a:rPr sz="1300"/>
              <a:t>Ese segundo componente es el repositorio.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Y aquí ocurre algo que rompe con todo lo visto hasta ahora en el curso…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Hasta ahora definíamos una interfaz
y escribíamos la clase que la implementa.
Aquí sólo declaramos la interfaz.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implementación la genera Spring Data JPA al arrancar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803719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public interface IdiomaRepository extends JpaRepository&lt;Idioma, Integer&gt; {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    boolean existsByCodigo(String codigo);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102167"/>
            <a:ext cx="8110727" cy="251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No hay ninguna clase que implemente esto en el 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Al heredar de JpaRepository se reciben gratis unas treinta operaciones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5407151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Método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Qué hace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save(entidad)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Crea o actualiza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findById(id)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Busca por clave primaria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findAll()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Devuelve todos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delete(entidad)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Borra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count()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Cuenta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existsById(id)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Comprueba existencia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las que faltan se DECLARAN, no se implementan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Spring deduce la consulta SQL del NOMBRE del método.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56094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boolean existsByCodigo(String codigo);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Optional&lt;Palabra&gt; findByPalabraAndIdioma_Codigo(String palabra, String codigo);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List&lt;Palabra&gt; findByIdioma_Codigo(String codigo);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530030"/>
            <a:ext cx="8110727" cy="2087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Se lee de izquierda a derecha: findBy + campo + And + campo.</a:t>
            </a:r>
          </a:p>
          <a:p>
            <a:r>
              <a:rPr sz="1150"/>
              <a:t>El guion bajo (Idioma_Codigo) permite navegar a un campo de la entidad relacionada.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Sufijos que modifican la consulta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8592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Optional&lt;Palabra&gt; findByPalabraIgnoreCaseAndIdioma_CodigoIgnoreCase(String p, String c);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List&lt;Palabra&gt; findByPalabraStartingWith(String prefijo);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List&lt;Palabra&gt; findByIdioma_CodigoOrderByPalabraAsc(String codigo);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long countByIdioma_Codigo(String codigo);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157730"/>
            <a:ext cx="8110727" cy="245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Prefijos: findBy, existsBy, countBy, deleteBy. Conectores: And, Or. Sufijos: IgnoreCase, StartingWith, Containing, Between, OrderBy…Asc/Desc.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si la convención no da para tanto, @Query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0497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@Query("SELECT p FROM Palabra p JOIN p.idioma i " +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"WHERE LOWER(p.palabra) = LOWER(:palabra) " +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"AND LOWER(i.codigo) = LOWER(:codigo)")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Optional&lt;Palabra&gt; buscar(@Param("palabra") String palabra,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                 @Param("codigo") String codigo);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10.6 · La configuración del acceso a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Spring la busca al arrancar en application.properties.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2085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# Ejemplo para Oracle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spring.datasource.url=jdbc:oracle:thin:@localhost:1521:xe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spring.datasource.username=usuario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spring.datasource.password=contraseña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spring.datasource.driver-class-name=oracle.jdbc.OracleDriver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spring.jpa.database-platform=org.hibernate.dialect.Oracle10gDialect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982468"/>
            <a:ext cx="8110727" cy="1635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Cada base de datos tiene su DRIVER JDBC y su DIALECTO de SQL, y Spring necesita saber ambos para generar las consultas correctas.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Qué es</a:t>
            </a:r>
          </a:p>
          <a:p>
            <a:pPr lvl="1"/>
            <a:r>
              <a:rPr sz="1100"/>
              <a:t>Una base de datos que se ejecuta EN MEMORIA y desaparece al parar la aplicación.</a:t>
            </a:r>
          </a:p>
          <a:p>
            <a:pPr lvl="1"/>
            <a:r>
              <a:rPr sz="1100"/>
              <a:t>Basta con declarar su dependencia en el pom.xml.</a:t>
            </a:r>
          </a:p>
          <a:p>
            <a:pPr lvl="1"/>
            <a:r>
              <a:rPr sz="1100"/>
              <a:t>Al no encontrar configuración de ninguna otra, Spring detecta H2, la arranca y la configura solo.</a:t>
            </a:r>
          </a:p>
          <a:p>
            <a:pPr lvl="1"/>
            <a:r>
              <a:rPr sz="1100"/>
              <a:t>No hace falta ni crear application.properties.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La ventaja y el inconveniente</a:t>
            </a:r>
          </a:p>
          <a:p>
            <a:pPr lvl="1"/>
            <a:r>
              <a:rPr sz="1100"/>
              <a:t>Cada ejecución parte de un entorno limpio, que es justo lo que interesa para probar.</a:t>
            </a:r>
          </a:p>
          <a:p>
            <a:pPr lvl="1"/>
            <a:r>
              <a:rPr sz="1100"/>
              <a:t>Y nada de lo que se guarde sobrevive al reinicio.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H2 · la base de datos de desarrollo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10.7 · Si la base se crea vacía, hay que llenarla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20657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@Component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public class CargadorDeDatos implements CommandLineRunner {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@Override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@Transactional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public void run(String... args) throws Exception {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if (idiomaRepository.count() &gt; 0) {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  return;                     // ya hay datos: no hacer nada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}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// leer los ficheros del classpath y volcarlos en la BBDD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anotación @Transactional merece un apartado propio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Porque su efecto se midió en clase y fue espectacular.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Sin ella</a:t>
            </a:r>
          </a:p>
          <a:p>
            <a:pPr lvl="1"/>
            <a:r>
              <a:rPr sz="1150"/>
              <a:t>Cada save() provoca su propia confirmación de escritura (commit).</a:t>
            </a:r>
          </a:p>
          <a:p>
            <a:pPr lvl="1"/>
            <a:r>
              <a:rPr sz="1150"/>
              <a:t>Un commit es una operación costosa: obliga a garantizar que el dato está escrito de forma duradera.</a:t>
            </a:r>
          </a:p>
          <a:p>
            <a:pPr lvl="1"/>
            <a:r>
              <a:rPr sz="1150"/>
              <a:t>Con un diccionario de cientos de miles de palabras, eso son cientos de miles de commits.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diferencia, en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843531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-- Sin transacción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INSERT INTO palabras VALUES ('abanico');   -- commit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INSERT INTO palabras VALUES ('acariciar'); -- commit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-- Con transacción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BEGIN TRANSACTION;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INSERT INTO palabras VALUES ('abanico');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INSERT INTO palabras VALUES ('acariciar');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...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COMMIT;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10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La carga pasó de 130 segundos
a 65. La mitad del tiempo,
por una anotación.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Dos matices sobre esa medición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La medición se tomó cuando el diccionario de español contenía 646.612 entradas. El que se distribuye hoy tiene 20.000, así que el arranque es mucho más rápido y la diferencia menos espectacular.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lección técnica no cambia:</a:t>
            </a:r>
          </a:p>
          <a:p>
            <a:pPr lvl="1"/>
            <a:r>
              <a:rPr sz="1150"/>
              <a:t>El coste no estaba en INSERTAR. Estaba en CONFIRMAR cada inserción por separado.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Y hay un segundo efecto, menos evidente: con la transacción, si la carga falla a mitad, se deshace todo y la base queda vacía y coherente. Sin ella, queda cargada a medias, y al reiniciar el if impide reintentarlo.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Qué se hace en producción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Un if al arranque resuelve la carga inicial.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Pero no responde a la pregunta importante</a:t>
            </a:r>
          </a:p>
          <a:p>
            <a:pPr lvl="1"/>
            <a:r>
              <a:rPr sz="1150"/>
              <a:t>¿Qué pasa cuando una versión nueva de la aplicación añade un diccionario o corrige palabras de uno existente?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Ese trabajo lo hacen herramientas especializadas en VERSIONADO DE ESQUEMAS Y DATOS, que llevan la cuenta de qué cambios se han aplicado ya a cada entorno.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Las más usadas: Liquibase y Flyway.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del capítulo 10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/>
              <a:t>10.1 · Escribe la entidad Sinonimo, que relaciona una palabra con otra del mismo idioma. Añade la restricción que evite que una palabra sea sinónimo de sí misma.</a:t>
            </a:r>
          </a:p>
          <a:p>
            <a:pPr/>
            <a:r>
              <a:rPr sz="1150"/>
              <a:t>10.2 · Declara los métodos para cuatro consultas nuevas. Indica cuáles se derivan del nombre y cuáles necesitan @Query.</a:t>
            </a:r>
          </a:p>
          <a:p>
            <a:pPr/>
            <a:r>
              <a:rPr sz="1150"/>
              <a:t>10.3 · Se quita @Transactional. Además de tardar el doble, ¿qué ocurre si falla la carga a mitad?</a:t>
            </a:r>
          </a:p>
          <a:p>
            <a:pPr/>
            <a:r>
              <a:rPr sz="1150"/>
              <a:t>10.4 · El proyecto pasa de H2 a PostgreSQL. ¿Cuánto código Java se ve afectado?</a:t>
            </a:r>
          </a:p>
          <a:p>
            <a:pPr/>
            <a:r>
              <a:rPr sz="1150"/>
              <a:t>10.5 · ¿Por qué (palabra, idioma_id) es única pero palabra por sí sola no?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Soluciones comentadas en el apéndice D del manual.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11 · Programación funcional en Java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Los paradigmas de programación</a:t>
            </a:r>
          </a:p>
          <a:p>
            <a:pPr/>
            <a:r>
              <a:rPr sz="900"/>
              <a:t>Funciones anónimas y referencias a métodos</a:t>
            </a:r>
          </a:p>
          <a:p>
            <a:pPr/>
            <a:r>
              <a:rPr sz="900"/>
              <a:t>El modelo map-reduce</a:t>
            </a:r>
          </a:p>
          <a:p>
            <a:pPr/>
            <a:r>
              <a:rPr sz="900"/>
              <a:t>Un caso completo: las palabras similares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11.1 · Un paradigma es una forma de usar un lenguaje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No son excluyentes: Java admite los cuatro.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6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6083045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Paradigma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En qué consiste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Imperativo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Escribir secuencias de instrucciones que la máquina ejecuta en orden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Procedural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Agrupar esas secuencias bajo un nombre y reutilizarlas: funciones, procedimientos, métodos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Orientado a objetos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Crear tipos de datos propios que extienden los que trae el lenguaje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Funcional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Que una variable pueda apuntar a una **función**, y poder ejecutarla a través de esa variable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Java incorporó soporte funcional en la versión 1.8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85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787"/>
                <a:gridCol w="2703575"/>
                <a:gridCol w="4055363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Operador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Nombre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Para qué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-&gt;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Flecha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Crear funciones anónimas (lambdas)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::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Referencia a método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Apuntar a un método que ya existe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Los dos operadores, en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168844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// Una función anónima que recibe una palabra y dice si es larga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palabra -&gt; palabra.length() &gt; 10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// Una referencia a un método que ya existe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1C1E3B"/>
                </a:solidFill>
                <a:latin typeface="Menlo"/>
              </a:rPr>
              <a:t>PalabraPuntuada::getDistancia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467292"/>
            <a:ext cx="8110727" cy="215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Junto con esos operadores llegó un paquete nuevo: java.util.stream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11.2 · El modelo map-reduce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 Stream es un flujo de datos sobre el que se encadenan operaciones.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605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Colección ──transformación 1──▶ Colección 2 ──transformación 2──▶ …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                                                 …──▶ REDUCCIÓN ──▶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360930"/>
            <a:ext cx="8110727" cy="2256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Una TRANSFORMACIÓN produce otro flujo.</a:t>
            </a:r>
          </a:p>
          <a:p>
            <a:r>
              <a:rPr sz="1150"/>
              <a:t>Una REDUCCIÓN convierte el flujo en otra cosa que ya no es un flujo: una lista, un número, un texto.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operaciones más usadas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Hay más de cincuenta en total. Un PREDICADO es una función que devuelve un booleano.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6" cy="255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608"/>
                <a:gridCol w="1871706"/>
                <a:gridCol w="3743412"/>
              </a:tblGrid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Operación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Qué hace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filter(predicado)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transformación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Deja pasar sólo lo que cumple una condición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map(función)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transformación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Transforma cada elemento en otra cosa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flatMap(función)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transformación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Transforma y aplana colecciones anidadas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sorted(comparador)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transformación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Ordena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limit(n) / skip(n)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transformación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Toma o descarta los primeros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collect(...)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reducción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Convierte el flujo en una colección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count()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reducción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Cuenta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anyMatch(predicado)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reducción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¿Hay alguno que cumpla?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Aviso · las transformaciones son perezosas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No se ejecuta NADA hasta que llega una reducción.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Un flujo sin operación final no hace absolutamente nada.</a:t>
            </a:r>
          </a:p>
          <a:p>
            <a:pPr/>
            <a:r>
              <a:rPr sz="1300"/>
              <a:t>Ni filtra, ni transforma, ni recorre la colección.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 un error frecuente al empezar, y desconcertante: el código parece correcto, compila, se ejecuta… y no pasa nada.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11.3 · El problema real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Cuando una palabra no existe, devolver las diez más parecidas, ordenadas de más a menos.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827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  PALABRA BUSCADA: manana        IDIOMA: español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  Respuesta esperada:  mañana, manzana, manada, manzano,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Antes de programar: ¿cómo se mide el parecido?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La respuesta la dio Vladimir Levenshtein en 1965.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DISTANCIA DE LEVENSHTEIN entre dos palabras es el número mínimo de operaciones necesarias para convertir una en la otra: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Insertar un carácter.</a:t>
            </a:r>
          </a:p>
          <a:p>
            <a:pPr lvl="1"/>
            <a:r>
              <a:rPr sz="1150"/>
              <a:t>Borrar un carácter.</a:t>
            </a:r>
          </a:p>
          <a:p>
            <a:pPr lvl="1"/>
            <a:r>
              <a:rPr sz="1150"/>
              <a:t>Sustituir un carácter por otro.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Cuanto menor es la distancia, más parecidas son.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distancia, con ejemplos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1351787"/>
                <a:gridCol w="4055363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Par de palabras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Distancia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Por qué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manana → manana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Son la misma palabra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manana → mañana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Sustituir la n por ñ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manana → manzana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Insertar una 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manana → manzano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Insertar una z y sustituir la a final por 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procedimiento directo… y su coste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Calcular la distancia entre la palabra buscada y TODAS las del diccionario, ordenar de menor a mayor y quedarse con las diez primeras.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problema</a:t>
            </a:r>
          </a:p>
          <a:p>
            <a:pPr lvl="1"/>
            <a:r>
              <a:rPr sz="1150"/>
              <a:t>Calcular una distancia de Levenshtein no es una operación barata.</a:t>
            </a:r>
          </a:p>
          <a:p>
            <a:pPr lvl="1"/>
            <a:r>
              <a:rPr sz="1150"/>
              <a:t>Y ordenar decenas de miles de elementos, tampoco.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Aquí entra una optimización que se razonó ANTES de programar, y que es un buen ejemplo de cómo pensar un algoritmo.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La distancia entre dos palabras es,
como mínimo, la diferencia
entre sus longitudes.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De ahí se deduce el gran ahorro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Para pasar de “Mar” a “Margarita” hay que añadir seis caracteres: su distancia es AL MENOS 6.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Si dos palabras difieren mucho en longitud, no hace falta ni calcular la distancia: se descartan directamente.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Y una palabra descartada no sólo ahorra el cálculo:</a:t>
            </a:r>
          </a:p>
          <a:p>
            <a:pPr/>
            <a:r>
              <a:rPr sz="1300" b="1"/>
              <a:t>TAMBIÉN AHORRA ORDENARLA DESPUÉS.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secuencia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8435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COLECCIÓN 1   todas las palabras del diccionario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│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├── map      quedarme sólo con el texto de cada palabra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├── filter   descartar las de longitud muy distinta   ← el gran ahorro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├── map      convertir cada palabra en (palabra + distancia)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├── filter   descartar las de distancia demasiado grande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├── sorted   ordenar por distancia, de menor a mayor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├── map      quedarme sólo con la palabra, tirar la distancia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├── limit    las 10 primeras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└── collect  convertirlo en una 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la traducción literal de ese diagrama a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82765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900">
                <a:solidFill>
                  <a:srgbClr val="1C1E3B"/>
                </a:solidFill>
                <a:latin typeface="Menlo"/>
              </a:rPr>
              <a:t>return palabrasDelDiccionario.stream()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1C1E3B"/>
                </a:solidFill>
                <a:latin typeface="Menlo"/>
              </a:rPr>
              <a:t>    .map(   palabra -&gt; palabra.getPalabra())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1C1E3B"/>
                </a:solidFill>
                <a:latin typeface="Menlo"/>
              </a:rPr>
              <a:t>    .filter(palabra -&gt; Math.abs(palabra.length() - palabraObjetivo.length())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1C1E3B"/>
                </a:solidFill>
                <a:latin typeface="Menlo"/>
              </a:rPr>
              <a:t>                                          &lt;= DISTANCIA_MAXIMA_ADMISIBLE)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1C1E3B"/>
                </a:solidFill>
                <a:latin typeface="Menlo"/>
              </a:rPr>
              <a:t>    .map(   palabra -&gt; new PalabraPuntuada(palabra,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1C1E3B"/>
                </a:solidFill>
                <a:latin typeface="Menlo"/>
              </a:rPr>
              <a:t>                DistanciaLevensthein.distance(palabraObjetivo, palabra)))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1C1E3B"/>
                </a:solidFill>
                <a:latin typeface="Menlo"/>
              </a:rPr>
              <a:t>    .filter(puntuada -&gt; puntuada.getDistancia() &lt;= DISTANCIA_MAXIMA_ADMISIBLE)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1C1E3B"/>
                </a:solidFill>
                <a:latin typeface="Menlo"/>
              </a:rPr>
              <a:t>    .sorted(Comparator.comparingInt(PalabraPuntuada::getDistancia))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1C1E3B"/>
                </a:solidFill>
                <a:latin typeface="Menlo"/>
              </a:rPr>
              <a:t>    .map(   puntuada -&gt; puntuada.getPalabra())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1C1E3B"/>
                </a:solidFill>
                <a:latin typeface="Menlo"/>
              </a:rPr>
              <a:t>    .limit(10)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1C1E3B"/>
                </a:solidFill>
                <a:latin typeface="Menlo"/>
              </a:rPr>
              <a:t>    .collect(Collectors.toList());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Frente a la versión imperativa</a:t>
            </a:r>
          </a:p>
          <a:p>
            <a:pPr lvl="1"/>
            <a:r>
              <a:rPr sz="1100"/>
              <a:t>Serían páginas de código con bucles, ifs y listas auxiliares.</a:t>
            </a:r>
          </a:p>
          <a:p>
            <a:pPr lvl="1"/>
            <a:r>
              <a:rPr sz="1100"/>
              <a:t>Más difíciles de leer y de mantener.</a:t>
            </a:r>
          </a:p>
          <a:p>
            <a:pPr lvl="1"/>
            <a:r>
              <a:rPr sz="1100"/>
              <a:t>Y la versión con streams SE LEE EN EL MISMO ORDEN en que ocurren las cosas.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Y además puede ir más rápido</a:t>
            </a:r>
          </a:p>
          <a:p>
            <a:pPr lvl="1"/>
            <a:r>
              <a:rPr sz="1100"/>
              <a:t>Cambiar .stream() por .parallelStream() reparte el trabajo entre los núcleos disponibles sin tocar una línea más.</a:t>
            </a:r>
          </a:p>
          <a:p>
            <a:pPr lvl="1"/>
            <a:r>
              <a:rPr sz="1100"/>
              <a:t>No siempre compensa —hay un coste de coordinación— pero para colecciones grandes es exactamente el caso en que sí.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Dos observaciones sobre ese código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11.4 · Un detalle de diseño pequeño pero significativo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Dar nombre al número evita el llamado NÚMERO MÁGICO.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46240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1C1E3B"/>
                </a:solidFill>
                <a:latin typeface="Menlo"/>
              </a:rPr>
              <a:t>public static final int DISTANCIA_MAXIMA_ADMISIBLE = 2;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236343"/>
            <a:ext cx="8110727" cy="238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Un 2 suelto en medio del código no dice nada.</a:t>
            </a:r>
          </a:p>
          <a:p>
            <a:r>
              <a:rPr sz="1150"/>
              <a:t>La constante explica por qué está ahí y permite cambiarlo en un solo sitio.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stack de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11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Aunque en el código actual esa constante hace dos trabajos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Se usa para el filtro de LONGITUD y para el filtro de DISTANCIA.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Funciona, pero son dos conceptos diferentes que podrían querer valores distintos.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 un buen candidato a separarse en dos constantes:</a:t>
            </a:r>
          </a:p>
          <a:p>
            <a:pPr lvl="1"/>
            <a:r>
              <a:rPr sz="1150" b="1"/>
              <a:t>DIFERENCIA_MAXIMA_DE_LONGITUD</a:t>
            </a:r>
          </a:p>
          <a:p>
            <a:pPr lvl="1"/>
            <a:r>
              <a:rPr sz="1150" b="1"/>
              <a:t>DISTANCIA_MAXIMA_ADMISIBLE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Con una condición: la de longitud debe ser MAYOR O IGUAL que la de distancia. Si no, se descartarían por longitud palabras cuya distancia sería aceptable.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del capítulo 11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stack de hoy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/>
              <a:t>11.1 · Reescribe palabrasSimilares() con programación imperativa. Compara el número de líneas y decide cuál es más fácil de leer dentro de seis meses.</a:t>
            </a:r>
          </a:p>
          <a:p>
            <a:pPr/>
            <a:r>
              <a:rPr sz="1150"/>
              <a:t>11.2 · Escribe con streams: cuántas palabras empiezan por “a”; la palabra más larga; todos los significados sin duplicados (pista: flatMap).</a:t>
            </a:r>
          </a:p>
          <a:p>
            <a:pPr/>
            <a:r>
              <a:rPr sz="1150"/>
              <a:t>11.3 · Calcula a mano la distancia entre casa/caso, casa/causa y melón/manzana. ¿Cuáles llegarían a calcularse con el filtro de longitud?</a:t>
            </a:r>
          </a:p>
          <a:p>
            <a:pPr/>
            <a:r>
              <a:rPr sz="1150"/>
              <a:t>11.4 · Estima qué porcentaje del trabajo ahorra el filtro de longitud para una palabra de seis letras.</a:t>
            </a:r>
          </a:p>
          <a:p>
            <a:pPr/>
            <a:r>
              <a:rPr sz="1150"/>
              <a:t>11.5 · Separa la constante en dos y razona qué valor darías a cada una.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Soluciones comentadas en el apéndice D del manual.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12 · Inteligencia artificial aplicada al desarrollo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Modelo y herramienta no son lo mismo</a:t>
            </a:r>
          </a:p>
          <a:p>
            <a:pPr/>
            <a:r>
              <a:rPr sz="900"/>
              <a:t>Del prompt al contexto</a:t>
            </a:r>
          </a:p>
          <a:p>
            <a:pPr/>
            <a:r>
              <a:rPr sz="900"/>
              <a:t>Agentes</a:t>
            </a:r>
          </a:p>
          <a:p>
            <a:pPr/>
            <a:r>
              <a:rPr sz="900"/>
              <a:t>Cómo se usó la IA en este curso</a:t>
            </a:r>
          </a:p>
          <a:p>
            <a:pPr/>
            <a:r>
              <a:rPr sz="900"/>
              <a:t>Qué conviene no delegar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Una advertencia antes de empezar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Éste es el contenido que más deprisa envejece de todo el curso.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Así que conviene separar dos cosas</a:t>
            </a:r>
          </a:p>
          <a:p>
            <a:pPr lvl="1"/>
            <a:r>
              <a:rPr sz="1150"/>
              <a:t>Lo ESTRUCTURAL · cómo funcionan estas herramientas y qué implica usarlas.</a:t>
            </a:r>
          </a:p>
          <a:p>
            <a:pPr lvl="1"/>
            <a:r>
              <a:rPr sz="1150"/>
              <a:t>Lo COYUNTURAL · nombres de productos, versiones y precios.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Lo primero seguirá siendo válido dentro de unos años. Lo segundo, no.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ChatGPT no es una
inteligencia artificial.
Es un chat.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La herramienta</a:t>
            </a:r>
          </a:p>
          <a:p>
            <a:pPr lvl="1"/>
            <a:r>
              <a:rPr sz="1100"/>
              <a:t>ChatGPT, Copilot, Gemini, Claude…</a:t>
            </a:r>
          </a:p>
          <a:p>
            <a:pPr lvl="1"/>
            <a:r>
              <a:rPr sz="1100"/>
              <a:t>Son herramientas de conversación o de desarrollo.</a:t>
            </a:r>
          </a:p>
          <a:p>
            <a:pPr lvl="1"/>
            <a:r>
              <a:rPr sz="1100"/>
              <a:t>Usan una inteligencia artificial para responder.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El modelo</a:t>
            </a:r>
          </a:p>
          <a:p>
            <a:pPr lvl="1"/>
            <a:r>
              <a:rPr sz="1100"/>
              <a:t>A esas inteligencias artificiales las llamamos MODELOS.</a:t>
            </a:r>
          </a:p>
          <a:p>
            <a:pPr lvl="1"/>
            <a:r>
              <a:rPr sz="1100"/>
              <a:t>Es lo que realmente hace el trabajo de procesar el lenguaje y generar la respuesta.</a:t>
            </a:r>
          </a:p>
          <a:p>
            <a:pPr lvl="1"/>
            <a:r>
              <a:rPr sz="1100"/>
              <a:t>La prueba: muchas herramientas PERMITEN ELEGIR el modelo.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12.1 · La confusión más extendida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familias de modelos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sz="1150"/>
              <a:t>GPT · OpenAI</a:t>
            </a:r>
          </a:p>
          <a:p>
            <a:pPr lvl="1"/>
            <a:r>
              <a:rPr sz="1150"/>
              <a:t>Gemini · Google</a:t>
            </a:r>
          </a:p>
          <a:p>
            <a:pPr lvl="1"/>
            <a:r>
              <a:rPr sz="1150"/>
              <a:t>Claude · Anthropic</a:t>
            </a:r>
          </a:p>
          <a:p>
            <a:pPr lvl="1"/>
            <a:r>
              <a:rPr sz="1150"/>
              <a:t>Llama · Meta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Cada una con varias versiones y tamaños</a:t>
            </a:r>
          </a:p>
          <a:p>
            <a:pPr lvl="1"/>
            <a:r>
              <a:rPr sz="1150"/>
              <a:t>Los modelos grandes razonan mejor y cuestan más.</a:t>
            </a:r>
          </a:p>
          <a:p>
            <a:pPr lvl="1"/>
            <a:r>
              <a:rPr sz="1150"/>
              <a:t>Los pequeños son rápidos y baratos.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Los nombres y números de versión concretos cambian cada pocos meses. Elegir el modelo adecuado para cada tarea es parte del oficio.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12.2 · La forma inicial de trabajar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46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C1E3B"/>
                </a:solidFill>
                <a:latin typeface="Menlo"/>
              </a:rPr>
              <a:t>   HUMANO ──pregunta──▶ Chat ──▶ Modelo ──respuesta de texto──▶ HUMANO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726692"/>
            <a:ext cx="8110727" cy="2891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Se empezó usando estas herramientas como una alternativa al buscador. Y para eso funcionan bien.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IA en el desarrollo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12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Pero en desarrollo de software la cosa cambió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684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HUMANO ──orden──▶ Herramienta integrada en el entorno de desarrollo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                  │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                  ├──▶ Modelo ──▶ respuesta de texto ──▶ HUMANO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                  │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                  └──▶ Ejecuta programas: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                         · escribe código en el proyecto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                         · ejecuta las pruebas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                         · arranca la aplicación y comprueba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                              · lee ficheros, busca en el repositorio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964942"/>
            <a:ext cx="8110727" cy="165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Eso es lo que llamamos un AGENTE. Por debajo sigue habiendo un modelo, pero hay una diferencia decisiva en cómo le llega la información.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IA en el desarrollo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12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Cuando se trabaja con un agente,
el prompt vale muy poco.
Casi todo llega por el CONTEXTO.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Qué es el contexto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sz="1150"/>
              <a:t>El código del proyecto.</a:t>
            </a:r>
          </a:p>
          <a:p>
            <a:pPr lvl="1"/>
            <a:r>
              <a:rPr sz="1150"/>
              <a:t>La estructura de carpetas.</a:t>
            </a:r>
          </a:p>
          <a:p>
            <a:pPr lvl="1"/>
            <a:r>
              <a:rPr sz="1150"/>
              <a:t>Los ficheros de configuración.</a:t>
            </a:r>
          </a:p>
          <a:p>
            <a:pPr lvl="1"/>
            <a:r>
              <a:rPr sz="1150"/>
              <a:t>El historial del repositorio.</a:t>
            </a:r>
          </a:p>
          <a:p>
            <a:pPr lvl="1"/>
            <a:r>
              <a:rPr sz="1150"/>
              <a:t>La salida de los comandos que el agente ha ejecutado.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Un agente que ha leído treinta ficheros del proyecto antes de proponer un cambio toma decisiones muy distintas de un chat al que se le pega una función suelta.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Lo que rinde poco</a:t>
            </a:r>
          </a:p>
          <a:p>
            <a:pPr lvl="1"/>
            <a:r>
              <a:rPr sz="1100"/>
              <a:t>Dedicar mucho esfuerzo a redactar el prompt perfecto.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Lo que rinde mucho</a:t>
            </a:r>
          </a:p>
          <a:p>
            <a:pPr lvl="1"/>
            <a:r>
              <a:rPr sz="1100"/>
              <a:t>Asegurarse de que el agente tiene acceso al CONTEXTO correcto.</a:t>
            </a:r>
          </a:p>
          <a:p>
            <a:pPr lvl="1"/>
            <a:r>
              <a:rPr sz="1100"/>
              <a:t>El proyecto ordenado.</a:t>
            </a:r>
          </a:p>
          <a:p>
            <a:pPr lvl="1"/>
            <a:r>
              <a:rPr sz="1100"/>
              <a:t>Las convenciones escritas.</a:t>
            </a:r>
          </a:p>
          <a:p>
            <a:pPr lvl="1"/>
            <a:r>
              <a:rPr sz="1100"/>
              <a:t>La documentación al día.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La consecuencia práctica es contraintuitiva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Un proyecto bien estructurado
también es más fácil de entender
para un agente.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eso cierra el círculo con el resto del curso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La modularidad, los nombres claros y las interfaces explícitas rinden DOS VECES: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Para las personas que mantienen el sistema.</a:t>
            </a:r>
          </a:p>
          <a:p>
            <a:pPr lvl="1"/>
            <a:r>
              <a:rPr sz="1150"/>
              <a:t>Y para las herramientas que ahora trabajan sobre él.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 que hace mantenible un sistema es exactamente lo mismo que lo hace comprensible para una máquina.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GitHub Copilot</a:t>
            </a:r>
          </a:p>
          <a:p>
            <a:pPr lvl="1"/>
            <a:r>
              <a:rPr sz="1100"/>
              <a:t>Integrado en Visual Studio Code. Lo fabrica Microsoft.</a:t>
            </a:r>
          </a:p>
          <a:p>
            <a:pPr lvl="1"/>
            <a:r>
              <a:rPr sz="1100"/>
              <a:t>Requiere una cuenta de GitHub, que es gratuita.</a:t>
            </a:r>
          </a:p>
          <a:p>
            <a:pPr lvl="1"/>
            <a:r>
              <a:rPr sz="1100"/>
              <a:t>Sin pagar: modelos básicos y pocas peticiones al mes.</a:t>
            </a:r>
          </a:p>
          <a:p>
            <a:pPr lvl="1"/>
            <a:r>
              <a:rPr sz="1100"/>
              <a:t>Las suscripciones dan acceso a modelos más capaces y a más volumen.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Claude · Anthropic</a:t>
            </a:r>
          </a:p>
          <a:p>
            <a:pPr lvl="1"/>
            <a:r>
              <a:rPr sz="1100"/>
              <a:t>Anthropic desarrolla además sus propios modelos.</a:t>
            </a:r>
          </a:p>
          <a:p>
            <a:pPr lvl="1"/>
            <a:r>
              <a:rPr sz="1100"/>
              <a:t>Teniendo Copilot se pueden usar modelos de Anthropic dentro de VS Code.</a:t>
            </a:r>
          </a:p>
          <a:p>
            <a:pPr lvl="1"/>
            <a:r>
              <a:rPr sz="1100"/>
              <a:t>Lo que cambia es la herramienta que los envuelve.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12.3 · Las dos herramientas que vimos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Con las dos se pueden hacer muchas cosas.
Claude es más autónoma: se le encargan
trabajos de mayor envergadura.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Sobre los precios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Cambian constantemente y no tiene sentido fijarlos.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 que sí conviene retener es el orden de magnitud y quién lo paga</a:t>
            </a:r>
          </a:p>
          <a:p>
            <a:pPr lvl="1"/>
            <a:r>
              <a:rPr sz="1150"/>
              <a:t>Para un PARTICULAR estas herramientas son caras.</a:t>
            </a:r>
          </a:p>
          <a:p>
            <a:pPr lvl="1"/>
            <a:r>
              <a:rPr sz="1150"/>
              <a:t>Para una EMPRESA, comparadas con el coste por hora de un desarrollador, salen baratas.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Una suscripción que a una persona le parece un gasto considerable se amortiza en la empresa con unas pocas horas ahorradas al mes.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12.4 · Cómo se usó la IA en este curso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La sesión monográfica no fue teórica: se construyeron DOS interfaces de usuario completas delante de los alumnos.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el contraste entre las dos es la parte interesante.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Cómo se hizo</a:t>
            </a:r>
          </a:p>
          <a:p>
            <a:pPr lvl="1"/>
            <a:r>
              <a:rPr sz="1100"/>
              <a:t>Se generó con Copilot SIN darle apenas indicaciones.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Qué salió</a:t>
            </a:r>
          </a:p>
          <a:p>
            <a:pPr lvl="1"/>
            <a:r>
              <a:rPr sz="1100"/>
              <a:t>Separó el DTO del modelo de dominio.</a:t>
            </a:r>
          </a:p>
          <a:p>
            <a:pPr lvl="1"/>
            <a:r>
              <a:rPr sz="1100"/>
              <a:t>Definió un contrato abstracto para el suministrador de diccionarios.</a:t>
            </a:r>
          </a:p>
          <a:p>
            <a:pPr lvl="1"/>
            <a:r>
              <a:rPr sz="1100"/>
              <a:t>Configuró la inyección de dependencias de Angular para elegir la implementación.</a:t>
            </a:r>
          </a:p>
          <a:p>
            <a:pPr lvl="1"/>
            <a:r>
              <a:rPr sz="1100"/>
              <a:t>Es decir: aplicó por su cuenta los mismos principios del curso.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La aplicación web (Angular)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Acto 1</a:t>
            </a:r>
          </a:p>
          <a:p>
            <a:pPr lvl="1"/>
            <a:r>
              <a:rPr sz="1100"/>
              <a:t>Implementó al pie de la letra el contrato InterfazDeUsuario que ya existía.</a:t>
            </a:r>
          </a:p>
          <a:p>
            <a:pPr lvl="1"/>
            <a:r>
              <a:rPr sz="1100"/>
              <a:t>Sirvió para comprobar que el diseño del primer día funcionaba: cambiar la interfaz de todo el sistema costó UNA LÍNEA.</a:t>
            </a:r>
          </a:p>
          <a:p>
            <a:pPr lvl="1"/>
            <a:r>
              <a:rPr sz="1100"/>
              <a:t>Pero el resultado era inservible: sólo permitía una búsqueda.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Acto 2</a:t>
            </a:r>
          </a:p>
          <a:p>
            <a:pPr lvl="1"/>
            <a:r>
              <a:rPr sz="1100"/>
              <a:t>Diagnosticó por qué.</a:t>
            </a:r>
          </a:p>
          <a:p>
            <a:pPr lvl="1"/>
            <a:r>
              <a:rPr sz="1100"/>
              <a:t>Y construyó la aplicación de verdad consumiendo directamente la fachada de negocio.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La aplicación de escritorio (JavaFX), en dos actos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Angular, sin que nadie se lo indicara,
había tomado exactamente
la misma decisión que el Acto 2.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El hallazgo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sz="1150"/>
              <a:t>Dos herramientas distintas.</a:t>
            </a:r>
          </a:p>
          <a:p>
            <a:pPr lvl="1"/>
            <a:r>
              <a:rPr sz="1150"/>
              <a:t>Dos lenguajes distintos.</a:t>
            </a:r>
          </a:p>
          <a:p>
            <a:pPr lvl="1"/>
            <a:r>
              <a:rPr sz="1150"/>
              <a:t>La misma conclusión sobre el diseño.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De las dos abstracciones que se diseñaron el primer día, la que ha sobrevivido a tres clientes —consola, web y escritorio— es la de NEGOCIO, no la de interfaz de usuario.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Ése es un resultado que no estaba planificado: salió de leer el código.</a:t>
            </a:r>
          </a:p>
          <a:p>
            <a:pPr/>
            <a:r>
              <a:rPr sz="1300"/>
              <a:t>Y es un buen ejemplo de para qué sirven estas herramientas: permiten PROBAR UNA HIPÓTESIS DE DISEÑO EN UNA TARDE, en lugar de en una semana.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El trabajo hoy no es escribir código.
Es entender qué componentes
necesita el sistema.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formulación completa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El trabajo es entender qué componentes necesita el sistema, definir sus especificaciones y decidir cómo encajan.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Después se le pide a la IA que escriba cada pieza, y se prueba y se integra.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De ahí se derivan cuatro cosas que siguen siendo responsabilidad de la persona.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 b="1"/>
              <a:t>El diseño</a:t>
            </a:r>
          </a:p>
          <a:p>
            <a:pPr lvl="1"/>
            <a:r>
              <a:rPr sz="1000"/>
              <a:t>Decidir qué abstracciones existen y dónde están las fronteras.</a:t>
            </a:r>
          </a:p>
          <a:p>
            <a:pPr lvl="1"/>
            <a:r>
              <a:rPr sz="1000"/>
              <a:t>Un agente rellena bien un hueco bien definido; no decide qué huecos debe haber.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150" b="1"/>
              <a:t>La verificación</a:t>
            </a:r>
          </a:p>
          <a:p>
            <a:pPr lvl="1"/>
            <a:r>
              <a:rPr sz="1000"/>
              <a:t>Un modelo produce con la misma confianza código correcto y código plausible pero equivocado.</a:t>
            </a:r>
          </a:p>
          <a:p>
            <a:pPr lvl="1"/>
            <a:r>
              <a:rPr sz="1000"/>
              <a:t>La diferencia sólo se ve ejecutándolo.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pPr/>
            <a:r>
              <a:rPr sz="1150" b="1"/>
              <a:t>El criterio sobre el contexto</a:t>
            </a:r>
          </a:p>
          <a:p>
            <a:pPr lvl="1"/>
            <a:r>
              <a:rPr sz="1000"/>
              <a:t>Saber qué información necesita el agente y qué le sobra.</a:t>
            </a:r>
          </a:p>
          <a:p>
            <a:pPr lvl="1"/>
            <a:r>
              <a:rPr sz="1000"/>
              <a:t>Y qué NO debe salir: código propietario, datos de clientes, credenciales.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 wrap="square"/>
          <a:lstStyle/>
          <a:p>
            <a:pPr/>
            <a:r>
              <a:rPr sz="1150" b="1"/>
              <a:t>Entender lo que se acepta</a:t>
            </a:r>
          </a:p>
          <a:p>
            <a:pPr lvl="1"/>
            <a:r>
              <a:rPr sz="1000"/>
              <a:t>Quedarse con la solución y no con el porqué deja indefenso ante el siguiente error.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idx="6"/>
          </p:nvPr>
        </p:nvSpPr>
        <p:spPr/>
        <p:txBody>
          <a:bodyPr wrap="square"/>
          <a:lstStyle/>
          <a:p>
            <a:pPr/>
            <a:r>
              <a:rPr sz="2300"/>
              <a:t>Lo que no se delega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Un ejemplo real de esto último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Ocurrió en clase con el error de JavaFX sobre componentes del runtime que faltaban.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mensaje era FALSO: los componentes estaban ahí.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Entender la causa —la frontera entre el classpath y el sistema de módulos de Java 9— vale mucho más que la línea que lo arregla.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Porque el día que el error cambie un poco, la línea ya no servirá y la comprensión sí.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una advertencia sobre el riesgo profesional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La parte del trabajo que estas herramientas automatizan bien es precisamente la que tradicionalmente SE APRENDÍA HACIENDO.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Quien delega desde el principio la escritura de código, sin haber pasado por la fase de escribirlo, corre el riesgo de saber PEDIR sin saber JUZGAR.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juzgar es lo único que no se puede delegar.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del capítulo 12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IA en el desarrollo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/>
              <a:t>12.1 · Pide a un agente las pruebas de una clase sin cobertura. Revísalas: ¿cubren los casos límite? ¿Hay alguna que pase siempre?</a:t>
            </a:r>
          </a:p>
          <a:p>
            <a:pPr/>
            <a:r>
              <a:rPr sz="1150"/>
              <a:t>12.2 · Formula la misma petición pegando una clase en un chat y pidiéndosela a un agente con acceso al proyecto. Compara en términos de contexto.</a:t>
            </a:r>
          </a:p>
          <a:p>
            <a:pPr/>
            <a:r>
              <a:rPr sz="1150"/>
              <a:t>12.3 · Un compañero propone subir todo el repositorio a una herramienta externa. ¿Qué preguntarías antes de aceptar? ¿Cuándo te negarías?</a:t>
            </a:r>
          </a:p>
          <a:p>
            <a:pPr/>
            <a:r>
              <a:rPr sz="1150"/>
              <a:t>12.4 · ¿Por qué fue correcto que Angular no implementara InterfazDeUsuario?</a:t>
            </a:r>
          </a:p>
          <a:p>
            <a:pPr/>
            <a:r>
              <a:rPr sz="1150"/>
              <a:t>12.5 · Busca en el código generado una decisión que NO compartas y argumenta qué habrías hecho distinto.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Orientación de las respuestas en el apéndice D del manual.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Parte II · El proyecto, paso a paso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V1 · Aplicación monolítica de consola</a:t>
            </a:r>
          </a:p>
          <a:p>
            <a:pPr/>
            <a:r>
              <a:rPr sz="900"/>
              <a:t>V2 · Modularización y cliente-servidor</a:t>
            </a:r>
          </a:p>
          <a:p>
            <a:pPr/>
            <a:r>
              <a:rPr sz="900"/>
              <a:t>V3 · Persistencia en base de datos</a:t>
            </a:r>
          </a:p>
          <a:p>
            <a:pPr/>
            <a:r>
              <a:rPr sz="900"/>
              <a:t>V4 · Nuevas funcionalidades y errores</a:t>
            </a:r>
          </a:p>
          <a:p>
            <a:pPr/>
            <a:r>
              <a:rPr sz="900"/>
              <a:t>V5 · Tres interfaces de usuario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Esta parte no introduce conceptos nuevos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parte II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Recorre cómo se aplicaron.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Cada capítulo responde siempre a las mismas cuatro preguntas</a:t>
            </a:r>
          </a:p>
          <a:p>
            <a:pPr lvl="1"/>
            <a:r>
              <a:rPr sz="1150"/>
              <a:t>Qué problema había.</a:t>
            </a:r>
          </a:p>
          <a:p>
            <a:pPr lvl="1"/>
            <a:r>
              <a:rPr sz="1150"/>
              <a:t>Qué se decidió.</a:t>
            </a:r>
          </a:p>
          <a:p>
            <a:pPr lvl="1"/>
            <a:r>
              <a:rPr sz="1150"/>
              <a:t>Qué se construyó.</a:t>
            </a:r>
          </a:p>
          <a:p>
            <a:pPr lvl="1"/>
            <a:r>
              <a:rPr sz="1150"/>
              <a:t>Y CUÁNTO COSTÓ.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 última es la importante. Todo el curso sostiene que un buen diseño abarata los cambios futuros; aquí esa afirmación se puede comprobar con números.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13 · Versión 1 · Aplicación monolítica de consola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El encargo</a:t>
            </a:r>
          </a:p>
          <a:p>
            <a:pPr/>
            <a:r>
              <a:rPr sz="900"/>
              <a:t>Identificar los componentes</a:t>
            </a:r>
          </a:p>
          <a:p>
            <a:pPr/>
            <a:r>
              <a:rPr sz="900"/>
              <a:t>El algoritmo</a:t>
            </a:r>
          </a:p>
          <a:p>
            <a:pPr/>
            <a:r>
              <a:rPr sz="900"/>
              <a:t>Lo que quedó bien y lo que quedó mal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13.1 · El encargo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 programa ejecutable desde una terminal que busque una palabra en un diccionario.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25615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c:\&gt; buscarPalabra "melón" "es"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Aplicación de Diccionarios v1.1.0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La palabra melón existe en el diccionario de español, y significa: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- Fruto del melonero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- Persona con pocas luces: "Eres un melón!"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Gracias por usar nuestra aplicación de diccionarios.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030093"/>
            <a:ext cx="8110727" cy="1587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Con tres casos más que atender: palabra que no existe, idioma que no se tiene, y parámetros insuficientes.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13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solución más simple se descartó desde el principio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Sería un único fichero con dos diccionarios dentro.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no era una suposición que fuera a evolucionar: SE SABÍA</a:t>
            </a:r>
          </a:p>
          <a:p>
            <a:pPr lvl="1"/>
            <a:r>
              <a:rPr sz="1150"/>
              <a:t>Que los diccionarios pasarían de ficheros a una base de datos.</a:t>
            </a:r>
          </a:p>
          <a:p>
            <a:pPr lvl="1"/>
            <a:r>
              <a:rPr sz="1150"/>
              <a:t>Que la interfaz de terminal acabaría siendo web o móvil.</a:t>
            </a:r>
          </a:p>
          <a:p>
            <a:pPr lvl="1"/>
            <a:r>
              <a:rPr sz="1150"/>
              <a:t>Que llegarían idiomas nuevos.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13.2 · El primer trabajo no fue escribir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Fue decidir de qué piezas se compone el sistema y cuál es la responsabilidad de cada una.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6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5407151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Componente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Diccionario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Saber si una palabra existe y devolver sus significados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SuministradorDeDiccionarios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Saber qué diccionarios hay y suministrarlos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InterfazDeUsuario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Interactuar con el usuario: pedir datos y mostrar resultados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Aplicacion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Coordinar a los demás y ejecutar el algoritmo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13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Los tres primeros se definieron como INTERFACES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Por la razón del capítulo 3: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Un diccionario puede estar en un fichero, en una base de datos o al otro lado de una red, y quien lo usa no debería enterarse.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Esa decisión, tomada el primer día, es la que ha permitido todo lo demás.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13.3 · El algoritmo, escrito antes de programarlo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23674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Al arrancar: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· Mostrar el mensaje de bienvenida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· Preguntar qué palabra quiere buscar el usuario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· Si no hay palabra  → mostrar ayuda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· Si hay palabra: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· Preguntar qué idioma quiere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· Si no hay idioma → mostrar ayuda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· Si hay idioma: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    · ¿Tiene el suministrador diccionario de ese idioma?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      · No → avisar de idioma desconocido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      · Sí → ¿existe la palabra?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          · No → avisar de palabra desconocida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                  · Sí → pedir los significados y mostrarlos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  · Mostrar el mensaje de despedida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13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Ese pseudocódigo es, línea por línea,
el que ejecuta el cliente de consola hoy,
cinco versiones después.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13.4 · El formato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Ficheros de texto, una línea por palabra, significados separados por barras.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57353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abanico=Herramienta para mover el aire.|Conjunto de opciones entre las que elegir.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melón=Fruto del melonero|Persona con pocas luces: "Eres un melón!"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347468"/>
            <a:ext cx="8110727" cy="2270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Una decisión pequeña con una justificación importante: ese formato lo puede mantener un LINGÜISTA, que es quien va a escribir el contenido, sin saber programar.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13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proyecto · V1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Lo que quedó bien</a:t>
            </a:r>
          </a:p>
          <a:p>
            <a:pPr lvl="1"/>
            <a:r>
              <a:rPr sz="1100"/>
              <a:t>Las abstracciones.</a:t>
            </a:r>
          </a:p>
          <a:p>
            <a:pPr lvl="1"/>
            <a:r>
              <a:rPr sz="1100"/>
              <a:t>Diccionario y SuministradorDeDiccionarios se definieron aquí y siguen intactas cinco versiones después.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Lo que quedó mal</a:t>
            </a:r>
          </a:p>
          <a:p>
            <a:pPr lvl="1"/>
            <a:r>
              <a:rPr sz="1100"/>
              <a:t>Todo lo estructural.</a:t>
            </a:r>
          </a:p>
          <a:p>
            <a:pPr lvl="1"/>
            <a:r>
              <a:rPr sz="1100"/>
              <a:t>Diez ficheros .java sueltos en una carpeta, sin paquetes ni módulos.</a:t>
            </a:r>
          </a:p>
          <a:p>
            <a:pPr lvl="1"/>
            <a:r>
              <a:rPr sz="1100"/>
              <a:t>Los diccionarios mezclados con el código.</a:t>
            </a:r>
          </a:p>
          <a:p>
            <a:pPr lvl="1"/>
            <a:r>
              <a:rPr sz="1100"/>
              <a:t>Y la aplicación instalada entera en el ordenador de cada usuario.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13.5 · El balance de la V1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Diez ficheros no parecen muchos.
Pero en un sistema real se acaba
con cientos.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14 · Versión 2 · Modularización y cliente-servidor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El diagnóstico</a:t>
            </a:r>
          </a:p>
          <a:p>
            <a:pPr/>
            <a:r>
              <a:rPr sz="900"/>
              <a:t>Primera decisión: modularizar</a:t>
            </a:r>
          </a:p>
          <a:p>
            <a:pPr/>
            <a:r>
              <a:rPr sz="900"/>
              <a:t>Segunda decisión: cliente-servidor</a:t>
            </a:r>
          </a:p>
          <a:p>
            <a:pPr/>
            <a:r>
              <a:rPr sz="900"/>
              <a:t>El contrato antes que el código</a:t>
            </a:r>
          </a:p>
          <a:p>
            <a:pPr/>
            <a:r>
              <a:rPr sz="900"/>
              <a:t>El balance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14.1 · El diagnóstico, con el análisis por implicado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6083045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Implicado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Consecuencia de corregir UNA palabra en la V1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Desarrollo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Reempaquetar y redistribuir la aplicación entera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Usuario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Reinstalar. Y el usuario sabe de su negocio, no de instalar software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Operaciones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Publicar y avisar, sin saber qué versión tiene cada uno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Soporte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No puede reproducir una incidencia sin conocer la versión del cliente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Negocio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Dos usuarios pueden obtener respuestas distintas a la misma consulta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14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La última fila
cerró la discusión.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14.2 · Primera decisión · modularizar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Antes de cambiar la arquitectura se reorganizó el proyecto SIN TOCAR FUNCIONALIDAD.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A eso se le llama REFACTORIZAR: cambiar la estructura del código conservando exactamente su comportamiento.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 importante hacerlo en un paso separado: si se cambian a la vez la estructura y el comportamiento, cuando algo falle no se sabrá cuál de los dos lo rompió.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De diez ficheros sueltos a un proyecto multimódulo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98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5407151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Módulo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Contenido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diccionarios-api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Los contratos: Diccionario, SuministradorDeDiccionarios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ui-api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contrato InterfazDeUsuario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diccionarios-en-ficheros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implementación que lee ficheros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ui-consola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implementación de terminal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diccionario-es, -en, -elfico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Los datos, un módulo por idioma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aplicacion-completa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main, las factorías y la orquestación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14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¿Un módulo por idioma no es excesivo?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Tiene una razón concreta.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Cada diccionario tiene su propio ciclo de vida y su propia versión.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Añadir palabras al diccionario élfico es un cambio SUYO, no del sistema.</a:t>
            </a:r>
          </a:p>
          <a:p>
            <a:pPr/>
            <a:r>
              <a:rPr sz="1300"/>
              <a:t>Por eso hoy va por la 1.1.0 mientras el resto sigue en la 1.0.0.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Y quien lo consuma sabe, sólo por el número, que puede actualizar sin miedo.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14.3 · Segunda decisión · cliente-servidor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367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ANTES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Ordenador del usuario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Aplicación ──Java──▶ SuministradorDeDiccionariosEnFicheros ──▶ ficheros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AHORA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Ordenador del usuario                        Servidor central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  Aplicación ──▶ …EnServicioWeb ──HTTP──▶ Controlador REST ──▶ …EnFicheros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14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proyecto · V2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Lo que se resuelve</a:t>
            </a:r>
          </a:p>
          <a:p>
            <a:pPr lvl="1"/>
            <a:r>
              <a:rPr sz="1100"/>
              <a:t>Corregir una palabra pasa a ser un despliegue en un ÚNICO sitio.</a:t>
            </a:r>
          </a:p>
          <a:p>
            <a:pPr lvl="1"/>
            <a:r>
              <a:rPr sz="1100"/>
              <a:t>Del que se benefician todos los usuarios a la vez, sin reinstalar nada.</a:t>
            </a:r>
          </a:p>
          <a:p>
            <a:pPr lvl="1"/>
            <a:r>
              <a:rPr sz="1100"/>
              <a:t>Y desaparece la posibilidad de que dos usuarios obtengan respuestas distintas.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Lo que NO se resuelve todavía</a:t>
            </a:r>
          </a:p>
          <a:p>
            <a:pPr lvl="1"/>
            <a:r>
              <a:rPr sz="1100"/>
              <a:t>Un cambio en la interfaz de usuario sigue obligando a distribuir una versión nueva del cliente.</a:t>
            </a:r>
          </a:p>
          <a:p>
            <a:pPr lvl="1"/>
            <a:r>
              <a:rPr sz="1100"/>
              <a:t>Para eso habrá que esperar a la V5.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Qué se gana y qué no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14.4 · El contrato antes que el código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Antes de programar el servidor se definió el API REST: las rutas, los códigos de estado y los cuerpos de respuesta.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Ese documento es lo que permite que el equipo del servidor y el del cliente trabajen EN PARALELO.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Está desarrollado en el capítulo 7.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proyecto · V2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El servidor</a:t>
            </a:r>
          </a:p>
          <a:p>
            <a:pPr lvl="1"/>
            <a:r>
              <a:rPr sz="1100"/>
              <a:t>Sorprendentemente poco código:</a:t>
            </a:r>
          </a:p>
          <a:p>
            <a:pPr lvl="1"/>
            <a:r>
              <a:rPr sz="1100"/>
              <a:t>Una clase de arranque con un main de una línea.</a:t>
            </a:r>
          </a:p>
          <a:p>
            <a:pPr lvl="1"/>
            <a:r>
              <a:rPr sz="1100"/>
              <a:t>Un controlador REST con dos métodos.</a:t>
            </a:r>
          </a:p>
          <a:p>
            <a:pPr lvl="1"/>
            <a:r>
              <a:rPr sz="1100"/>
              <a:t>Un DTO y una clase de configuración.</a:t>
            </a:r>
          </a:p>
          <a:p>
            <a:pPr lvl="1"/>
            <a:r>
              <a:rPr sz="1100"/>
              <a:t>Todo lo demás —Tomcat, el enrutamiento, el JSON— lo aporta el framework.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El cliente nuevo</a:t>
            </a:r>
          </a:p>
          <a:p>
            <a:pPr lvl="1"/>
            <a:r>
              <a:rPr sz="1100"/>
              <a:t>Un módulo diccionarios-en-servicio-web.</a:t>
            </a:r>
          </a:p>
          <a:p>
            <a:pPr lvl="1"/>
            <a:r>
              <a:rPr sz="1100"/>
              <a:t>Tres clases que implementan las interfaces DE SIEMPRE…</a:t>
            </a:r>
          </a:p>
          <a:p>
            <a:pPr lvl="1"/>
            <a:r>
              <a:rPr sz="1100"/>
              <a:t>…pero hablando HTTP por dentro.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14.5 · Lo que se construyó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el cambio en el cliente antiguo fue 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Del cliente antiguo se reutilizó TODO: la interfaz de usuario, la lógica de la aplicación, los contratos y los diccionarios.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58940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//return new SuministradorDeDiccionariosEnFicheros("diccionarios");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return new SuministradorDeDiccionariosEnServicioWeb("http://localhost:8080");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14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14.6 · El balance de la V2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5363"/>
                <a:gridCol w="4055363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Concepto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Cantidad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Módulos nuevos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2 (servicio-web, diccionarios-en-servicio-web)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Módulos reutilizados sin tocar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Líneas modificadas en código existente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1E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14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¿Qué probabilidad hay de haber roto
algo que ya funcionaba? Ninguna.
Sólo se han añadido proyectos.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el coste, dicho con honestidad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El desarrollo fue más complejo y llevó más tiempo.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Tampoco mucho más —son cuatro ficheros con poco código— pero más.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La apuesta es que ese sobrecoste se recupera durante los años de mantenimiento.</a:t>
            </a:r>
          </a:p>
          <a:p>
            <a:pPr/>
            <a:r>
              <a:rPr sz="1300"/>
              <a:t>Las dos versiones siguientes permiten comprobar si la apuesta era buena.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Un detalle que suele pasar desapercibido: la aplicación monolítica anterior SEGUIRÍA FUNCIONANDO si se quisiera. Las dos arquitecturas conviven sobre la misma base.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15 · Versión 3 · Persistencia en base de datos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Por qué cambiar</a:t>
            </a:r>
          </a:p>
          <a:p>
            <a:pPr/>
            <a:r>
              <a:rPr sz="900"/>
              <a:t>Lo que se construyó</a:t>
            </a:r>
          </a:p>
          <a:p>
            <a:pPr/>
            <a:r>
              <a:rPr sz="900"/>
              <a:t>El cambio en el sistema existente</a:t>
            </a:r>
          </a:p>
          <a:p>
            <a:pPr/>
            <a:r>
              <a:rPr sz="900"/>
              <a:t>La lección de rendimiento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proyecto · V3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El techo de los ficheros de texto</a:t>
            </a:r>
          </a:p>
          <a:p>
            <a:pPr lvl="1"/>
            <a:r>
              <a:rPr sz="1100"/>
              <a:t>No hay forma razonable de consultar, actualizar o indexar cientos de miles de palabras en un fichero plano.</a:t>
            </a:r>
          </a:p>
          <a:p>
            <a:pPr lvl="1"/>
            <a:r>
              <a:rPr sz="1100"/>
              <a:t>Ni de que varias personas trabajen sobre él a la vez.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Y una buena noticia</a:t>
            </a:r>
          </a:p>
          <a:p>
            <a:pPr lvl="1"/>
            <a:r>
              <a:rPr sz="1100"/>
              <a:t>El cambio afecta SÓLO al servidor.</a:t>
            </a:r>
          </a:p>
          <a:p>
            <a:pPr lvl="1"/>
            <a:r>
              <a:rPr sz="1100"/>
              <a:t>El cliente no se entera, porque nunca supo de dónde salían los datos.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15.1 · Por qué cambiar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15.2 · Un único módulo nuevo, con cuatro tipos de pieza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706"/>
                <a:gridCol w="3119510"/>
                <a:gridCol w="3119510"/>
              </a:tblGrid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Pieza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Ficheros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Función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Entidades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Idioma, Palabra, Significado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El mapeo objeto-relacional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Repositorios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IdiomaRepository, PalabraRepository…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El acceso a datos. **Sólo interfaces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Implementación del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DiccionarioEnBBDD, Suministrador…EnBBDD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Los contratos de siempre, hablando con la BBDD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Carga inicial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CargadorDeDatos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Vuelca los ficheros en la BBDD al arrancar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15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Las clases del API implementan
EXACTAMENTE las mismas interfaces.
Es la tercera implementación.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15.3 · El cambio en el sistema existente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Sustituir un origen de datos por otro consistió en cambiar UNA dependencia.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25615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&lt;dependency&gt;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&lt;groupId&gt;com.curso&lt;/groupId&gt;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&lt;!--&lt;artifactId&gt;diccionarios-en-ficheros&lt;/artifactId&gt;--&gt;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&lt;artifactId&gt;diccionarios-en-bbdd&lt;/artifactId&gt;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&lt;version&gt;1.0.0&lt;/version&gt;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&lt;/dependency&gt;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15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añadir tres anotaciones a la clase de arranque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Porque los componentes nuevos viven en un paquete que Spring no exploraba.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708469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@SpringBootApplication(scanBasePackages = {"com.curso.diccionarios"})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@EnableJpaRepositories(basePackages = {"com.curso.diccionarios.bbdd.repositorios"})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1C1E3B"/>
                </a:solidFill>
                <a:latin typeface="Menlo"/>
              </a:rPr>
              <a:t>@EntityScan(basePackages = {"com.curso.diccionarios.bbdd.entidades"})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482405"/>
            <a:ext cx="8110727" cy="2135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Nada más. Ni el controlador REST, ni el cliente, ni la interfaz de usuario, ni los contratos se tocaron.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15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15.4 · La lección de rendimiento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Al cargar el diccionario grande —646.612 entradas entonces— la carga inicial tardaba unos 130 segundos.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El diagnóstico: cada save() provocaba su propia confirmación de escritura.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Una anotación, @Transactional, agrupó todas las inserciones en una sola transacción. El tiempo bajó a unos 65 segundos.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Primero se midió.
Después se diagnosticó.
Y sólo entonces se cambió el código.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Optimizar sin medir es adivinar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El orden importa, y es el error más común al enfrentarse a un problema de rendimiento.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Lo habitual es empezar por donde uno SOSPECHA que está el problema.</a:t>
            </a:r>
          </a:p>
          <a:p>
            <a:pPr/>
            <a:r>
              <a:rPr sz="1300"/>
              <a:t>Y lo habitual también es que la sospecha sea incorrecta.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Aquí el cuello de botella no estaba en insertar, ni en leer los ficheros, ni en el mapeo objeto-relacional. Estaba en CONFIRMAR cada inserción por separado.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16 · Versión 4 · Nuevas funcionalidades y gestión de errores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Listar los idiomas disponibles</a:t>
            </a:r>
          </a:p>
          <a:p>
            <a:pPr/>
            <a:r>
              <a:rPr sz="900"/>
              <a:t>Búsquedas sin distinguir mayúsculas</a:t>
            </a:r>
          </a:p>
          <a:p>
            <a:pPr/>
            <a:r>
              <a:rPr sz="900"/>
              <a:t>Devolver un error 500</a:t>
            </a:r>
          </a:p>
          <a:p>
            <a:pPr/>
            <a:r>
              <a:rPr sz="900"/>
              <a:t>Sugerir palabras parecidas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Esta versión no cambia la arquitectura: añade funcionalidad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Y es la que más decisiones de diseño interesantes contiene…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…porque en tres de los cuatro casos había MÁS DE UN SITIO donde poner el cambio.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Y elegir mal habría funcionado igual de bien… hasta el siguiente cambio.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proyecto · V4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Qué se pedía</a:t>
            </a:r>
          </a:p>
          <a:p>
            <a:pPr lvl="1"/>
            <a:r>
              <a:rPr sz="1100"/>
              <a:t>Un endpoint que devolviera los códigos de los idiomas del servidor.</a:t>
            </a:r>
          </a:p>
          <a:p>
            <a:pPr lvl="1"/>
            <a:r>
              <a:rPr sz="1100" b="1"/>
              <a:t>GET /diccionarios → ["EN","ELFICO","ES"]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El problema</a:t>
            </a:r>
          </a:p>
          <a:p>
            <a:pPr lvl="1"/>
            <a:r>
              <a:rPr sz="1100"/>
              <a:t>Añadir dameIdiomas() a la interfaz dejaba sin compilar a los TRES módulos que ya la implementaban.</a:t>
            </a:r>
          </a:p>
          <a:p>
            <a:pPr/>
            <a:r>
              <a:rPr sz="1250"/>
              <a:t/>
            </a:r>
          </a:p>
          <a:p>
            <a:pPr/>
            <a:r>
              <a:rPr sz="1250" b="1"/>
              <a:t>La decisión</a:t>
            </a:r>
          </a:p>
          <a:p>
            <a:pPr lvl="1"/>
            <a:r>
              <a:rPr sz="1100"/>
              <a:t>Declararlo como método default, para que sólo lo implemente quien lo necesite.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16.1 · Listar los idiomas disponibles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Esa decisión se cobró sola
dos sesiones más tarde,
cuando llegó la interfaz de escritorio.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16.2 · Búsquedas sin distinguir mayúsculas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Qué se pedía: que melón, Melón y MELÓN den el mismo resultado.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aquí hubo una discusión de diseño real, con dos alternativas.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Alternativa A · resolverlo en el repositorio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Se le puede pedir a Spring que genere la consulta ignorando mayúsculas.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605282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Optional&lt;Palabra&gt; findByPalabraIgnoreCaseAndIdioma_CodigoIgnoreCase(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1C1E3B"/>
                </a:solidFill>
                <a:latin typeface="Menlo"/>
              </a:rPr>
              <a:t>        String palabra, String codigo);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379218"/>
            <a:ext cx="8110727" cy="2238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Funciona y es poco código. Y SE DESCARTÓ.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16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Esa funcionalidad debe ser
independiente de dónde se almacenen
los diccionarios.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Alternativa B · normalizar en la frontera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Da igual cómo vengan: se guardan siempre en mayúsculas, y se convierte cualquier término que llegue del usuario antes de buscarlo.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645920"/>
            <a:ext cx="8110727" cy="1256157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public class NormalizadorDeTerminos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public static String normalizar(String termino) {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if (termino == null) return null;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    return termino.trim().toUpperCase();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030093"/>
            <a:ext cx="8110727" cy="1587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/>
              <a:t>La regla de decisión es generalizable: UNA REGLA DE NEGOCIO NO DEBE VIVIR EN LA CAPA DE INFRAESTRUCTURA, porque la infraestructura es precisamente lo que está pensado para poder cambiar.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16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Toda decisión tiene efectos secundarios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Y ésta también.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Las palabras se almacenan en mayúsculas, así que las sugerencias que devuelve el servidor llegan como MAÑANA.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Las interfaces gráficas lo corrigen al presentarlas.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 una consecuencia asumida, no un descuido. Pero conviene conocerla, porque un cliente nuevo podría no esperarla.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proyecto · V4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Escrito a mano</a:t>
            </a:r>
          </a:p>
          <a:p>
            <a:pPr lvl="1"/>
            <a:r>
              <a:rPr sz="1100"/>
              <a:t>Habría que envolver cada método del controlador en un try/catch.</a:t>
            </a:r>
          </a:p>
          <a:p>
            <a:pPr lvl="1"/>
            <a:r>
              <a:rPr sz="1100"/>
              <a:t>Repitiendo el mismo bloque cuatro veces.</a:t>
            </a:r>
          </a:p>
          <a:p>
            <a:pPr lvl="1"/>
            <a:r>
              <a:rPr sz="1100"/>
              <a:t>Y ensuciando el controlador con código que no tiene que ver con su trabajo.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La decisión</a:t>
            </a:r>
          </a:p>
          <a:p>
            <a:pPr lvl="1"/>
            <a:r>
              <a:rPr sz="1100"/>
              <a:t>Aplicar programación orientada a aspectos con @RestControllerAdvice.</a:t>
            </a:r>
          </a:p>
          <a:p>
            <a:pPr lvl="1"/>
            <a:r>
              <a:rPr sz="1100"/>
              <a:t>Spring construye el proxy y el controlador NO SE MODIFICA.</a:t>
            </a:r>
          </a:p>
          <a:p>
            <a:pPr lvl="1"/>
            <a:r>
              <a:rPr sz="1100"/>
              <a:t>En él sólo vive el happy path.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16.3 · Devolver un error 500 cuando algo falla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16.4 · Sugerir palabras parecidas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Qué se pedía: si la palabra no existe, devolver las diez más parecidas.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Es la funcionalidad más ambiciosa de la versión, y está desarrollada por completo en el capítulo 11:</a:t>
            </a:r>
          </a:p>
          <a:p>
            <a:pPr/>
            <a:r>
              <a:rPr sz="1300"/>
              <a:t/>
            </a:r>
          </a:p>
          <a:p>
            <a:pPr lvl="1"/>
            <a:r>
              <a:rPr sz="1150"/>
              <a:t>La distancia de Levenshtein como medida.</a:t>
            </a:r>
          </a:p>
          <a:p>
            <a:pPr lvl="1"/>
            <a:r>
              <a:rPr sz="1150"/>
              <a:t>El filtro por longitud como optimización previa.</a:t>
            </a:r>
          </a:p>
          <a:p>
            <a:pPr lvl="1"/>
            <a:r>
              <a:rPr sz="1150"/>
              <a:t>Y la programación funcional con streams como forma de expresarlo.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Con esta funcionalidad el sistema deja de ser sólo un diccionario y se convierte en la base de un corrector ortográfico.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17 · Versión 5 · Tres interfaces de usuario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La interfaz web (Angular)</a:t>
            </a:r>
          </a:p>
          <a:p>
            <a:pPr/>
            <a:r>
              <a:rPr sz="900"/>
              <a:t>La interfaz de escritorio (JavaFX), en dos actos</a:t>
            </a:r>
          </a:p>
          <a:p>
            <a:pPr/>
            <a:r>
              <a:rPr sz="900"/>
              <a:t>El hallazgo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 última versión no toca el servidor en absoluto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Añade dos formas nuevas de usar el sistema.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Y, de paso, somete el diseño original a su prueba más dura.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17.1 · La interfaz web reproduce las mismas ideas en TypeScript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Vive fuera del proyecto Maven y se compila con sus propias herramientas.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1207" y="1627632"/>
          <a:ext cx="8110726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5363"/>
                <a:gridCol w="4055363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Pieza en Angular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Equivalente en el proyecto Java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SuministradorDeDiccionarios (clase abstracta)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módulo diccionarios-api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SuministradorDeDiccionariosHttp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diccionarios-en-servicio-web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RespuestaPalabraDto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DTO RespuestaPalabra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ResultadoBusqueda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El modelo de dominio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configuración de proveedores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La factoría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17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Y esa correspondencia
no se pidió: la aplicación
llegó a ella por su cuenta.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17.2 · La interfaz de escritorio · Acto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Se escribió la implementación de InterfazDeUsuario al pie de la letra y se cambió una línea en la factoría.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Funcionó: el sistema entero pasó a tener interfaz gráfica sin tocar Aplicacion, ni los contratos, ni el servidor.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el resultado era INSERVIBLE.</a:t>
            </a:r>
          </a:p>
          <a:p>
            <a:pPr/>
            <a:r>
              <a:rPr sz="1300"/>
              <a:t>La aplicación abría una ventana, permitía una búsqueda y se quedaba muerta.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causas · todas del contrato, ninguna de JavaFX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recuperarLaPalabraSolicitadaPorElUsuario() es una pregunta que se hace UNA VEZ.</a:t>
            </a:r>
          </a:p>
          <a:p>
            <a:pPr lvl="1"/>
            <a:r>
              <a:rPr sz="1150"/>
              <a:t>Está pensada para leer argumentos de línea de comandos. Implementarla con una ventana obliga a CONGELAR el programa hasta que el usuario pulse un botón.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Aplicacion.main() es un guion que se ejecuta de arriba abajo y termina.</a:t>
            </a:r>
          </a:p>
          <a:p>
            <a:pPr lvl="1"/>
            <a:r>
              <a:rPr sz="1150"/>
              <a:t>En una terminal está bien; en escritorio el usuario espera seguir usando la ventana.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contrato no tiene forma de preguntar qué idiomas hay.</a:t>
            </a:r>
          </a:p>
          <a:p>
            <a:pPr lvl="1"/>
            <a:r>
              <a:rPr sz="1150"/>
              <a:t>Por eso el idioma había que escribirlo a mano en lugar de elegirlo en un desplegable.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Con los campos vacíos se muestra la ayuda sobre argumentos de línea de comandos… en una ventana gráfica.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El contrato no describe
“una interfaz de usuario”.
Describe una DE CONSOLA.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Es una abstracción con la forma de su primera implementación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Y ésa es la lección que deja el Acto 1.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Cuando se extrae una abstracción a partir de UN SOLO caso de uso, esa abstracción tiende a heredar la forma de ese caso.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Sólo el segundo caso revela cuáles de sus supuestos eran ESENCIALES y cuáles ACCIDENTALES.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800"/>
              <a:t>El proyecto · V5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Manual · cap. 17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50" b="1"/>
              <a:t>En escritorio manda el usuario</a:t>
            </a:r>
          </a:p>
          <a:p>
            <a:pPr lvl="1"/>
            <a:r>
              <a:rPr sz="1100"/>
              <a:t>Busca, mira, pulsa una sugerencia, cambia de idioma, vuelve a buscar.</a:t>
            </a:r>
          </a:p>
          <a:p>
            <a:pPr lvl="1"/>
            <a:r>
              <a:rPr sz="1100"/>
              <a:t>El flujo se invierte.</a:t>
            </a:r>
          </a:p>
          <a:p>
            <a:pPr lvl="1"/>
            <a:r>
              <a:rPr sz="1100"/>
              <a:t>Es la Inversión de Control del capítulo 9 vista desde el otro lado.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rPr sz="1250" b="1"/>
              <a:t>La aplicación definitiva</a:t>
            </a:r>
          </a:p>
          <a:p>
            <a:pPr lvl="1"/>
            <a:r>
              <a:rPr sz="1100"/>
              <a:t>NO implementa InterfazDeUsuario.</a:t>
            </a:r>
          </a:p>
          <a:p>
            <a:pPr lvl="1"/>
            <a:r>
              <a:rPr sz="1100"/>
              <a:t>Consume directamente SuministradorDeDiccionarios.</a:t>
            </a:r>
          </a:p>
          <a:p>
            <a:pPr lvl="1"/>
            <a:r>
              <a:rPr sz="1100"/>
              <a:t>Con selector de idioma, sugerencias pulsables y trabajo en segundo plano para que la ventana no se congele.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idx="4"/>
          </p:nvPr>
        </p:nvSpPr>
        <p:spPr/>
        <p:txBody>
          <a:bodyPr wrap="square"/>
          <a:lstStyle/>
          <a:p>
            <a:pPr/>
            <a:r>
              <a:rPr sz="2300"/>
              <a:t>17.3 · Acto 2 · invertir el control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17.4 · El hallazgo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Las dos interfaces nuevas se construyeron por separado, con herramientas distintas y en lenguajes distintos.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las dos tomaron la misma decisión: IGNORAR el contrato de interfaz de usuario y consumir el de negocio.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De las dos abstracciones
del primer día, la que ha sobrevivido
es la de NEGOCIO.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Por qué no es un fracaso del diseño original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V5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InterfazDeUsuario cumplió su función durante cuatro versiones.</a:t>
            </a:r>
          </a:p>
          <a:p>
            <a:pPr/>
            <a:r>
              <a:rPr sz="1300"/>
              <a:t>Y permitió sustituir la implementación de consola por una gráfica en una línea.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Lo que ocurre es que una abstracción sólo se valida cuando aparece el SEGUNDO caso de uso.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Antes de eso, no se está diseñando una abstracción: se está describiendo una implementación.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18 · Balance de la evolución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Lo que costó cada salto</a:t>
            </a:r>
          </a:p>
          <a:p>
            <a:pPr/>
            <a:r>
              <a:rPr sz="900"/>
              <a:t>Lo que se reutilizó</a:t>
            </a:r>
          </a:p>
          <a:p>
            <a:pPr/>
            <a:r>
              <a:rPr sz="900"/>
              <a:t>Lo que no está bien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18.1 · Lo que costó cada salto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5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6688"/>
                <a:gridCol w="1738012"/>
                <a:gridCol w="3476025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Salto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Módulos nuevos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Cambios en lo existente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V1 → V2 (cliente-servidor)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1 línea en una factoría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V2 → V3 (base de datos)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1 dependencia + 3 anotaciones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V3 → V4 (funcionalidades)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Métodos añadidos; ninguna firma modificada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V4 → V5 (escritorio)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1 línea en una factoría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V4 → V5 (web)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proyecto aparte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1E3B"/>
                          </a:solidFill>
                        </a:rPr>
                        <a:t>ninguno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18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121 líneas añadidas y 2 borradas
en todo el sistema.
Y una era una línea en blanco.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18.2 · Lo que se reutilizó sin modificarlo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Balance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sz="1150"/>
              <a:t>diccionarios-api · los contratos de negocio</a:t>
            </a:r>
          </a:p>
          <a:p>
            <a:pPr lvl="1"/>
            <a:r>
              <a:rPr sz="1150"/>
              <a:t>ui-api · el contrato de interfaz de usuario</a:t>
            </a:r>
          </a:p>
          <a:p>
            <a:pPr lvl="1"/>
            <a:r>
              <a:rPr sz="1150"/>
              <a:t>ui-consola · la implementación de terminal</a:t>
            </a:r>
          </a:p>
          <a:p>
            <a:pPr lvl="1"/>
            <a:r>
              <a:rPr sz="1150"/>
              <a:t>Los tres módulos de diccionarios</a:t>
            </a:r>
          </a:p>
          <a:p>
            <a:pPr lvl="1"/>
            <a:r>
              <a:rPr sz="1150"/>
              <a:t>La lógica de Aplicacion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algoritmo que se escribió en pseudocódigo en la primera sesión sigue siendo, línea por línea, el que ejecuta el cliente de consola hoy.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Que un cambio grande en el sistema
se traduzca en un impacto pequeño
en el código que ya existe.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18.3 · Lo que no está bien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Balance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Un balance honesto tiene que incluir la deuda.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Y que esta lista exista y esté escrita es parte del trabajo: la deuda técnica no desaparece por no documentarla, sólo se vuelve invisible.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Que es peor.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limitaciones conocidas del sistema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5407151"/>
              </a:tblGrid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Problema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En qué consiste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ES.GRANDE es un idioma fantasma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El código de idioma se deduce del nombre del fichero, así que es.grande.txt se carga como un idioma distinto de 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Tres viajes por la red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El cliente de consola abre una petición por cada operación. Cuando la palabra no existe, el servidor calcula Levenshtein dos veces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palabrasSimilares carga todo en memoria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Con H2 se aguanta; contra una base de datos real,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Faltan pruebas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Sólo diccionarios-en-ficheros tiene pruebas. Es la deuda más grave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El contrato no coincide con el código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Se documentó {} para idioma inexistente y devuelve los cuatro campos a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El proyecto ·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cap. 18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Y algunas más, menores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Balance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sz="1150"/>
              <a:t>H2 1.4.200 es de 2019 y arrastra vulnerabilidades conocidas.</a:t>
            </a:r>
          </a:p>
          <a:p>
            <a:pPr lvl="1"/>
            <a:r>
              <a:rPr sz="1150"/>
              <a:t>CORS está sin resolver para producción.</a:t>
            </a:r>
          </a:p>
          <a:p>
            <a:pPr lvl="1"/>
            <a:r>
              <a:rPr sz="1150"/>
              <a:t>La versión que imprime la aplicación (v1.1.0) no coincide con la de los pom.xml (1.0.0).</a:t>
            </a:r>
          </a:p>
          <a:p>
            <a:pPr lvl="1"/>
            <a:r>
              <a:rPr sz="1150"/>
              <a:t>Elegir interfaz de usuario obliga a recompilar, porque la decisión vive en una factoría en lugar de en una propiedad de configuración.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Cada una de ellas es un ejercicio propuesto en el manual.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Ejercicios de la Parte 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El proyecto · Balance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cap. 18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150"/>
              <a:t>II.1 · Describe el escenario “añadir el idioma alemán” en la V1 y en la V5. Cuenta personas implicadas y despliegues en cada caso.</a:t>
            </a:r>
          </a:p>
          <a:p>
            <a:pPr/>
            <a:r>
              <a:rPr sz="1150"/>
              <a:t>II.2 · Resuelve el problema del idioma fantasma ES.GRANDE. Propón dos soluciones —una tocando ficheros y otra tocando código— y decide.</a:t>
            </a:r>
          </a:p>
          <a:p>
            <a:pPr/>
            <a:r>
              <a:rPr sz="1150"/>
              <a:t>II.3 · Elimina los tres viajes por la red del cliente de consola. ¿Se puede hacer sin romper a los otros dos clientes?</a:t>
            </a:r>
          </a:p>
          <a:p>
            <a:pPr/>
            <a:r>
              <a:rPr sz="1150"/>
              <a:t>II.4 · Diseña la V6: los diccionarios pasan a un servicio externo que cobra por consulta. ¿Dónde pondrías la caché?</a:t>
            </a:r>
          </a:p>
          <a:p>
            <a:pPr/>
            <a:r>
              <a:rPr sz="1150"/>
              <a:t>II.5 · Ordena las cinco primeras tareas para saldar la deuda técnica, por relación entre riesgo evitado y esfuerzo.</a:t>
            </a:r>
          </a:p>
          <a:p>
            <a:pPr/>
            <a:r>
              <a:rPr sz="1150"/>
              <a:t/>
            </a:r>
          </a:p>
          <a:p>
            <a:pPr/>
            <a:r>
              <a:rPr sz="1150"/>
              <a:t>Soluciones comentadas en el apéndice D del manual.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1800"/>
              <a:t>Apéndices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900"/>
              <a:t>El temario oficial, punto por punto</a:t>
            </a:r>
          </a:p>
          <a:p>
            <a:pPr/>
            <a:r>
              <a:rPr sz="900"/>
              <a:t>Glosario de términos</a:t>
            </a:r>
          </a:p>
          <a:p>
            <a:pPr/>
            <a:r>
              <a:rPr sz="900"/>
              <a:t>Comandos y referencia rápida</a:t>
            </a:r>
          </a:p>
          <a:p>
            <a:pPr/>
            <a:r>
              <a:rPr sz="900"/>
              <a:t>Correcciones respecto a las notas de clase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 · El temario oficial y dónde se estudia (1 de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9510"/>
                <a:gridCol w="1247804"/>
                <a:gridCol w="3743412"/>
              </a:tblGrid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Punto del temario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Capítulo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Ejemplo en el proyecto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2** · El modelo de factorías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SuministradorDeDiccionariosFactory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4.4** · Principios de diseño OO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diccionarios-api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4.5** · Patrones de diseño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Factoría, Singleton, Adapter, Proxy, Strategy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4.6** · Bloques arquitectónicos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 y 14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El pom.xml padre y los doce módulos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5.1** · Capa de integración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 y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Repositorios, entidades, CargadorDeDatos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5.2** · Presentation-to-business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DTO y Business Delegate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5.3** · Intra-business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 y 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Fachada e inyección de dependencias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Apéndices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apéndices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A · El temario oficial y dónde se estudia (2 de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255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9510"/>
                <a:gridCol w="1247804"/>
                <a:gridCol w="3743412"/>
              </a:tblGrid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Punto del temario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Capítulo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Ejemplo en el proyecto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5.4 y 5.5** · Capas de presentación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 y 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Front Controller, controlador 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5.6** · Antipatrones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La carpeta diccionarios/ (V1)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6.1** · Guías y heurísticas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Escenarios de cambio e impacto por implicado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6.2** · Proceso de desarrollo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2 y 5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Maven, ciclo de vida, JUnit, cobertura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6.3** · Local frente a distribuido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Las tres versiones del sistema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7.3-7.5** · Servidores y Jakarta EE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9 y 10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Tomcat embebido, JPA e Hibernate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7.7 y 7.8** · Diseño y capas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15 y 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El modelo E-R y la arquitectura final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Tecnologías obsoletas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RMI, CORBA, JNDI, SOAP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Apéndices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apéndices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B · Glosario (1 de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3118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6083045"/>
              </a:tblGrid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Término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Definición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Bytecode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Lenguaje de bajo nivel al que compila Java. Lo ejecuta la máquina virtual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Classpath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Rutas donde la JVM busca las clases y los recursos de un programa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Cobertura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Porcentaje de líneas que las pruebas llegan a ejecutar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Commit** (BBDD)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Confirmación de que unos cambios quedan escritos de forma duradera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Contexto** (IA)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Toda la información que un agente tiene además de la pregunta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DAO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Patrón que aísla el acceso a datos del resto de la aplicación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Dependencia transitiva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Dependencia de una dependencia. Maven las resuelve sola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DTO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Objeto sin lógica cuyo cometido es transportar datos por una frontera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Endpoint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Cada una de las rutas que expone un servicio web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Entidad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Clase Java cuyos objetos se guardan en una tabla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Apéndices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apéndices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B · Glosario (2 de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3118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6083045"/>
              </a:tblGrid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Término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Definición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Librerías que además imponen una forma de construir el programa. Es él quien llama a nuestro código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Garbage collector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Proceso que libera la memoria de los objetos ya no referenciados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Happy 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El camino que sigue la ejecución cuando todo va bien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Hibernate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Implementación concreta del estándar JPA. Traduce objetos a tablas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IoC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El flujo de la aplicación lo decide el framework, no el programador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Jakarta EE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Nombre actual de J2EE. Sus paquetes empiezan por jakarta.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JPA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El ESTÁNDAR de persistencia. Define las anotaciones y el comportamiento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JVM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Programa que ejecuta el bytecode. Específica de cada SO y procesador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Lambda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Función anónima. En Java se escribe con el operador -&gt;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LCC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Coste total de un producto a lo largo de toda su vida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Apéndices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apéndices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B · Glosario (3 de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6083045"/>
              </a:tblGrid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Término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Definición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Versión de Java con mantenimiento prolongado: 8, 11, 17, 21, 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Map-reduce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Transformar una colección con operaciones encadenadas y reducirla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Módulo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Subproyecto con su pom.xml. Unidad de reutilización, versionado y despliegue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ORM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Librería que traduce entre objetos y tablas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POJO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Clase Java sencilla, sin lógica ni dependencias de ningún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Proxy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Objeto intermediario que implementa la misma interfaz que otro y lo envuelve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Refactorizar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Cambiar la estructura del código conservando su comportamiento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REST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Restricciones sobre HTTP: la URL identifica un recurso, el verbo dice qué hacer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Serializar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Convertir un objeto en bytes o texto para enviarlo por la 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Test double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Sustituto controlado de una dependencia real, usado en pruebas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E3B"/>
                          </a:solidFill>
                        </a:rPr>
                        <a:t>Versionado semántico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MAYOR.MENOR.PARCHE: indica si actualizar es seguro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Apéndices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apéndices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 · Arrancar el proyecto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843531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# 1 · Compilar e instalar todos los módulos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mvn clean install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# 2 · Arrancar el servidor (puerto 8080). Déjalo en su propia terminal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mvn -pl servicio-web spring-boot:run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# 3 · En OTRA terminal, el cliente que quieras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mvn -pl aplicacion-completa exec:java -Dexec.args="casa es"   # consola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mvn -pl aplicacion-completa exec:exec@acto2                   # escritorio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1C1E3B"/>
                </a:solidFill>
                <a:latin typeface="Menlo"/>
              </a:rPr>
              <a:t>cd ui-web &amp;&amp; npm install &amp;&amp; npm start                         # web (4200)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Apéndices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apéndices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 · Probar el API con curl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170432"/>
            <a:ext cx="8110727" cy="1089469"/>
          </a:xfrm>
          <a:prstGeom prst="rect">
            <a:avLst/>
          </a:prstGeom>
          <a:solidFill>
            <a:srgbClr val="F2F3F6"/>
          </a:solidFill>
          <a:ln w="19050">
            <a:solidFill>
              <a:srgbClr val="F5C200"/>
            </a:solidFill>
          </a:ln>
        </p:spPr>
        <p:txBody>
          <a:bodyPr wrap="none" lIns="164592" rIns="164592" tIns="109728" bIns="109728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curl http://localhost:8080/diccionarios/test        # prueba de vida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curl http://localhost:8080/diccionarios             # lista de idiomas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curl -i http://localhost:8080/diccionarios/es       # -i muestra el estado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curl http://localhost:8080/diccionarios/es/casa     # significados</a:t>
            </a: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1C1E3B"/>
                </a:solidFill>
                <a:latin typeface="Menlo"/>
              </a:rPr>
              <a:t>curl -i http://localhost:8080/diccionarios/es/manana  # 404 con sugerencias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Apéndices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apéndices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 · Anotaciones de Spring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3118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5407151"/>
              </a:tblGrid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Anotación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Qué hace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@SpringBootApplication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Arranque y búsqueda automática de componentes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scanBasePackages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Amplía dónde buscar componentes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@Component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Registra la clase como componente (singleton)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@Configuration + @Bean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Construcción explícita de un componente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@RestController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Componente que define rutas HTTP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@GetMapping("/ruta")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Asocia el método a una ruta y al verbo GET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@PathVariable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Extrae una parte variable de la URL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@RestControllerAdvice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Tratamiento centralizado de excepciones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@Value("${prop:defecto}")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Inyecta una propiedad de configuración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@Transactional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Agrupa las operaciones en una sola transacción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Apéndices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apéndices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 · Anotaciones de JPA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9469"/>
                <a:gridCol w="4731257"/>
              </a:tblGrid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Anotación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Qué indica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@Entity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La clase se persiste en la base de datos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@Table(name=…)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En qué tabla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Clave primaria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@GeneratedValue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El valor lo genera la base de datos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@Column(name=, nullable=, unique=)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Nombre y restricciones de la columna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@ManyToOne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Muchos de estos pertenecen a uno de aquellos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@OneToMany(mappedBy=, cascade=)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Uno de estos tiene muchos de aquellos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@EnableJpaRepositories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Dónde están los repositorios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@EntityScan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E3B"/>
                          </a:solidFill>
                        </a:rPr>
                        <a:t>Dónde están las entidades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Apéndices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apéndices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C · Códigos de estado HTTP más frecuentes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255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575"/>
                <a:gridCol w="5407151"/>
              </a:tblGrid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Significado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200 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Todo bien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201 Created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Se ha creado un recurso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204 No 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Todo bien, sin cuerpo que devolver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400 Bad Request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El cliente ha mandado algo que no se entiende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401 / 403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Falta autenticación · autenticado pero sin permiso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404 Not Found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No existe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500 Internal Server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Fallo del servidor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C1E3B"/>
                          </a:solidFill>
                        </a:rPr>
                        <a:t>503 Service Unavailable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C1E3B"/>
                          </a:solidFill>
                        </a:rPr>
                        <a:t>El servidor no puede atender ahora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Apéndices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apéndices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E · Correcciones respecto a las notas de clase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Apéndices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>Manual · apéndices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El manual se escribió a partir de las notas tomadas durante las sesiones.</a:t>
            </a:r>
          </a:p>
          <a:p>
            <a:pPr/>
            <a:r>
              <a:rPr sz="1300"/>
              <a:t>Son un material de trabajo excelente, pero se redactaron sobre la marcha y contienen algunos datos imprecisos.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Se recogen por una razón práctica: quien conserve sus apuntes debe saber dónde el manual dice otra cosa, y por qué.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Ninguna afecta a los razonamientos de fondo del curso. Son datos de contexto: nombres, fechas y cifras.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Las siete correcciones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1207" y="1170432"/>
          <a:ext cx="8110726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1"/>
                <a:gridCol w="6083045"/>
              </a:tblGrid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Asunto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Dato correcto</a:t>
                      </a:r>
                    </a:p>
                  </a:txBody>
                  <a:tcPr anchor="ctr">
                    <a:solidFill>
                      <a:srgbClr val="1C1E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1E3B"/>
                          </a:solidFill>
                        </a:rPr>
                        <a:t>Dijkstra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C1E3B"/>
                          </a:solidFill>
                        </a:rPr>
                        <a:t>Edsger W. (no Edgar). Premio Turing en 1972 (no 1971). El término SoC viene de un texto suyo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1E3B"/>
                          </a:solidFill>
                        </a:rPr>
                        <a:t>Kotlin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C1E3B"/>
                          </a:solidFill>
                        </a:rPr>
                        <a:t>Lo creó JetBrains por iniciativa propia en 2010. Google lo ADOPTÓ para Android en 2017; no se lo encargó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1E3B"/>
                          </a:solidFill>
                        </a:rPr>
                        <a:t>Node.js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C1E3B"/>
                          </a:solidFill>
                        </a:rPr>
                        <a:t>Lo creó Ryan Dahl en 2009 SOBRE el motor V8 de Google. No es un proyecto de Google ni salió de Chromium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1E3B"/>
                          </a:solidFill>
                        </a:rPr>
                        <a:t>Versiones de Java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C1E3B"/>
                          </a:solidFill>
                        </a:rPr>
                        <a:t>Java 1.0 es de enero de 1996; Java 5 de 2004; Java 10 y 11 ambas de 2018; Java 21 de 2023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1E3B"/>
                          </a:solidFill>
                        </a:rPr>
                        <a:t>Compra de Sun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C1E3B"/>
                          </a:solidFill>
                        </a:rPr>
                        <a:t>Anunciada en abril de 2009, completada en enero de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1E3B"/>
                          </a:solidFill>
                        </a:rPr>
                        <a:t>Licencia de Oracle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C1E3B"/>
                          </a:solidFill>
                        </a:rPr>
                        <a:t>La suscripción es de 2019 y por procesador/usuario. El desenlace vino de OpenJDK, no de una negociación con Google</a:t>
                      </a:r>
                    </a:p>
                  </a:txBody>
                  <a:tcPr anchor="ctr">
                    <a:solidFill>
                      <a:srgbClr val="F2F3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1E3B"/>
                          </a:solidFill>
                        </a:rPr>
                        <a:t>La Web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C1E3B"/>
                          </a:solidFill>
                        </a:rPr>
                        <a:t>Propuesta en 1989, primer sitio en 1991, dominio público en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1207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Apéndices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2696" y="48280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B6B"/>
                </a:solidFill>
              </a:rPr>
              <a:t>Manual · apéndices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/>
              <a:t>El trabajo ya no es escribir código:
es decidir qué componentes
hacen falta y cómo encajan.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300"/>
              <a:t>Para seguir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/>
            <a:r>
              <a:rPr sz="800"/>
              <a:t>Cierre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/>
            <a:r>
              <a:rPr sz="800"/>
              <a:t/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 b="1"/>
              <a:t>El manual del curso</a:t>
            </a:r>
          </a:p>
          <a:p>
            <a:pPr lvl="1"/>
            <a:r>
              <a:rPr sz="1150"/>
              <a:t>113 páginas · 12 capítulos de fundamentos · el proyecto paso a paso.</a:t>
            </a:r>
          </a:p>
          <a:p>
            <a:pPr lvl="1"/>
            <a:r>
              <a:rPr sz="1150"/>
              <a:t>Glosario, referencia de comandos y 65 ejercicios con solución.</a:t>
            </a:r>
          </a:p>
          <a:p>
            <a:pPr/>
            <a:r>
              <a:rPr sz="1300"/>
              <a:t/>
            </a:r>
          </a:p>
          <a:p>
            <a:pPr/>
            <a:r>
              <a:rPr sz="1300" b="1"/>
              <a:t>El repositorio</a:t>
            </a:r>
          </a:p>
          <a:p>
            <a:pPr lvl="1"/>
            <a:r>
              <a:rPr sz="1150"/>
              <a:t>Todo el código del proyecto, versión a versión.</a:t>
            </a:r>
          </a:p>
          <a:p>
            <a:pPr lvl="1"/>
            <a:r>
              <a:rPr sz="1150"/>
              <a:t>Comentado con el porqué de cada decisión.</a:t>
            </a:r>
          </a:p>
          <a:p>
            <a:pPr lvl="1"/>
            <a:r>
              <a:rPr sz="1150"/>
              <a:t>La primera versión se conserva sin tocar, como punto de comparación.</a:t>
            </a:r>
          </a:p>
          <a:p>
            <a:pPr/>
            <a:r>
              <a:rPr sz="1300"/>
              <a:t/>
            </a:r>
          </a:p>
          <a:p>
            <a:pPr/>
            <a:r>
              <a:rPr sz="1300"/>
              <a:t>Y una recomendación: el código está comentado a conciencia. Merece más la pena leerlo que leer sobre él.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1B1D39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